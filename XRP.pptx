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5"/>
  </p:notesMasterIdLst>
  <p:sldIdLst>
    <p:sldId id="256" r:id="rId2"/>
    <p:sldId id="448" r:id="rId3"/>
    <p:sldId id="447" r:id="rId4"/>
    <p:sldId id="439" r:id="rId5"/>
    <p:sldId id="267" r:id="rId6"/>
    <p:sldId id="265" r:id="rId7"/>
    <p:sldId id="269" r:id="rId8"/>
    <p:sldId id="266" r:id="rId9"/>
    <p:sldId id="268" r:id="rId10"/>
    <p:sldId id="270" r:id="rId11"/>
    <p:sldId id="307" r:id="rId12"/>
    <p:sldId id="308" r:id="rId13"/>
    <p:sldId id="309" r:id="rId14"/>
    <p:sldId id="271" r:id="rId15"/>
    <p:sldId id="310" r:id="rId16"/>
    <p:sldId id="272" r:id="rId17"/>
    <p:sldId id="441" r:id="rId18"/>
    <p:sldId id="442" r:id="rId19"/>
    <p:sldId id="443" r:id="rId20"/>
    <p:sldId id="444" r:id="rId21"/>
    <p:sldId id="274" r:id="rId22"/>
    <p:sldId id="314" r:id="rId23"/>
    <p:sldId id="315" r:id="rId24"/>
    <p:sldId id="440" r:id="rId25"/>
    <p:sldId id="321" r:id="rId26"/>
    <p:sldId id="280" r:id="rId27"/>
    <p:sldId id="319" r:id="rId28"/>
    <p:sldId id="320" r:id="rId29"/>
    <p:sldId id="322" r:id="rId30"/>
    <p:sldId id="323" r:id="rId31"/>
    <p:sldId id="325" r:id="rId32"/>
    <p:sldId id="324" r:id="rId33"/>
    <p:sldId id="326" r:id="rId34"/>
    <p:sldId id="328" r:id="rId35"/>
    <p:sldId id="327" r:id="rId36"/>
    <p:sldId id="282" r:id="rId37"/>
    <p:sldId id="329" r:id="rId38"/>
    <p:sldId id="330" r:id="rId39"/>
    <p:sldId id="289" r:id="rId40"/>
    <p:sldId id="288" r:id="rId41"/>
    <p:sldId id="286" r:id="rId42"/>
    <p:sldId id="287" r:id="rId43"/>
    <p:sldId id="331" r:id="rId44"/>
    <p:sldId id="332" r:id="rId45"/>
    <p:sldId id="333" r:id="rId46"/>
    <p:sldId id="334" r:id="rId47"/>
    <p:sldId id="335" r:id="rId48"/>
    <p:sldId id="337" r:id="rId49"/>
    <p:sldId id="347" r:id="rId50"/>
    <p:sldId id="353" r:id="rId51"/>
    <p:sldId id="358" r:id="rId52"/>
    <p:sldId id="355" r:id="rId53"/>
    <p:sldId id="348" r:id="rId54"/>
    <p:sldId id="356" r:id="rId55"/>
    <p:sldId id="361" r:id="rId56"/>
    <p:sldId id="336" r:id="rId57"/>
    <p:sldId id="374" r:id="rId58"/>
    <p:sldId id="359" r:id="rId59"/>
    <p:sldId id="350" r:id="rId60"/>
    <p:sldId id="349" r:id="rId61"/>
    <p:sldId id="362" r:id="rId62"/>
    <p:sldId id="363" r:id="rId63"/>
    <p:sldId id="364" r:id="rId64"/>
    <p:sldId id="368" r:id="rId65"/>
    <p:sldId id="351" r:id="rId66"/>
    <p:sldId id="366" r:id="rId67"/>
    <p:sldId id="365" r:id="rId68"/>
    <p:sldId id="367" r:id="rId69"/>
    <p:sldId id="369" r:id="rId70"/>
    <p:sldId id="370" r:id="rId71"/>
    <p:sldId id="371" r:id="rId72"/>
    <p:sldId id="375" r:id="rId73"/>
    <p:sldId id="376" r:id="rId74"/>
    <p:sldId id="377" r:id="rId75"/>
    <p:sldId id="392" r:id="rId76"/>
    <p:sldId id="380" r:id="rId77"/>
    <p:sldId id="360" r:id="rId78"/>
    <p:sldId id="393" r:id="rId79"/>
    <p:sldId id="394" r:id="rId80"/>
    <p:sldId id="383" r:id="rId81"/>
    <p:sldId id="382" r:id="rId82"/>
    <p:sldId id="399" r:id="rId83"/>
    <p:sldId id="341" r:id="rId84"/>
    <p:sldId id="372" r:id="rId85"/>
    <p:sldId id="373" r:id="rId86"/>
    <p:sldId id="384" r:id="rId87"/>
    <p:sldId id="395" r:id="rId88"/>
    <p:sldId id="398" r:id="rId89"/>
    <p:sldId id="396" r:id="rId90"/>
    <p:sldId id="397" r:id="rId91"/>
    <p:sldId id="385" r:id="rId92"/>
    <p:sldId id="386" r:id="rId93"/>
    <p:sldId id="446" r:id="rId94"/>
    <p:sldId id="342" r:id="rId95"/>
    <p:sldId id="343" r:id="rId96"/>
    <p:sldId id="344" r:id="rId97"/>
    <p:sldId id="407" r:id="rId98"/>
    <p:sldId id="406" r:id="rId99"/>
    <p:sldId id="408" r:id="rId100"/>
    <p:sldId id="388" r:id="rId101"/>
    <p:sldId id="432" r:id="rId102"/>
    <p:sldId id="389" r:id="rId103"/>
    <p:sldId id="390" r:id="rId104"/>
    <p:sldId id="431" r:id="rId105"/>
    <p:sldId id="352" r:id="rId106"/>
    <p:sldId id="339" r:id="rId107"/>
    <p:sldId id="340" r:id="rId108"/>
    <p:sldId id="402" r:id="rId109"/>
    <p:sldId id="403" r:id="rId110"/>
    <p:sldId id="429" r:id="rId111"/>
    <p:sldId id="404" r:id="rId112"/>
    <p:sldId id="430" r:id="rId113"/>
    <p:sldId id="445" r:id="rId1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BD6FF-6A24-4956-A6F7-B480585D677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C4755-0586-4C8C-B8E5-2FCA60893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10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C4755-0586-4C8C-B8E5-2FCA60893A9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187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C4755-0586-4C8C-B8E5-2FCA60893A99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97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AF20-56B7-66EA-646D-6623CE8F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2A7369-56C6-48B8-607C-EBCB5BF82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52C2C0-8373-2A01-82E1-7C0B7E09F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6356-0CE3-568B-7AA3-AC37D4054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C4755-0586-4C8C-B8E5-2FCA60893A99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95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38AA6-A1A5-FB6D-F7EB-4C0F9E38C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AF4A50-E431-CFBF-2C5B-63213F344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59A3B-4D4E-1914-3C1C-2BF28E16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5B6447-E17C-0206-F283-7DB9D838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0259-CFCB-2106-1E6D-4BB0495D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96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EBC9D-19AA-FC53-3986-2D8432A1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592E-16B1-919B-2194-E7A1EFD0E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83864-6D8D-E195-D338-0EC5CF25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EC0BC-2E25-A925-DFD5-438B3769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1E410-CE22-403B-6223-A80058DE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16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9A494-0839-4B38-9D12-4DC8089F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CB691-3062-0048-4EB0-C3FB7AAC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28BEE-5B27-0112-BFD0-07E4CBE6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4D876-34C2-DD96-F761-F490ABAB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81F5B-9282-8EAA-A3A1-F63BDCE6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4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09901-CB3F-F4CC-DAC0-6C526962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DD6D0-475C-881A-50C8-214B250B2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39A753-C097-37FB-21DB-E1EE961E0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CCB5A6-8350-BB6C-817D-56ECF79D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1F45A4-75B8-3275-0B30-BEC680C3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C48BE-079A-B167-2672-E5500D60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1CF4D-B681-E297-33FC-932015FC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2DBA79-0D52-857D-DEF3-8A484A76A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E699E8-5970-9994-C587-E970C6097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AD8B59-BF62-F89E-7D13-0CCDB136E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8969A0-611D-E5FB-F811-F0B0602B7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BE7128-2E05-9777-103C-E799C63D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A03A94-F452-32DF-BEA0-E18285BA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51E6E0-A7E9-D7B2-5892-22240A92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6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83C0F-8FC8-E660-0F14-4E3E341B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057B66-CC0C-4C8B-92B9-3BD89ECB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79207-E53F-1A63-604C-2B093998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B8EEEA-CA39-43F5-3B4B-C1F9B918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4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728F13-1455-2CBF-98B2-61CD9FB9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BAE89A-7CC3-846E-F533-F28D5254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12E27-E45B-1967-6DD6-6C18B163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1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5B7FE-B0AD-F9E3-7CBD-353B485B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FD3C67-0735-1A58-1F67-C435E831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621EF6-B620-73C2-1A90-3E2376CD6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40214A-8F34-18BB-B68E-B2546364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6D1139-9780-2A27-9104-9A45EA0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52D952-360F-6C09-B781-7853DD93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04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90F12-C34F-DC3D-8180-FDD29D31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34FA73-42E1-A7A1-FF34-17D827B41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BF6D27-429D-FC13-7C9F-DE9F5D999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9EABC7-64AC-5160-10C8-CF9F4FD9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DFC6D-4A09-2D37-036C-A8DE779E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8412EE-C75C-1B3D-8AF3-CB971E25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59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C86EF-92CE-588E-3F47-135BD3A2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F0E21B-6C0F-23A3-79C4-6545BF390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BE6ED8-9135-4D51-D5A5-F3384305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207BEB-8D60-F817-E24F-217F537C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B40F2-9D50-EA4F-E262-359CD7F0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44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09FBEF-2897-D8C5-E02B-824CDE454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B7971B-7394-F6BA-49BE-9C1916D57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1E9BE-326F-C96F-2B63-EF8CF61B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EB35F-51D6-4B59-CA79-F8E0C76D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0053A-E4EB-8445-3D51-5303ED85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91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B0366A-0E94-5A9E-6673-61C995C27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4A31F7-4A80-6E0D-F07E-D988DDC0A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FFCB4-672D-8D9B-3D84-A7EA40862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E92C9-BDE7-4C3F-BCF4-BA1BFC910B48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0780F7-459B-3029-2B41-0B4EB8E2B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3864AC-0B5B-5866-F88A-9989CB1F3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4690-ABB7-497C-9F16-BFD508F08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54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org&amp;utm_campaign=index&amp;utm_content=thumbnail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org&amp;utm_campaign=index&amp;utm_content=thumbnai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4.org&amp;utm_campaign=index&amp;utm_content=thumbnai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3.org&amp;utm_campaign=index&amp;utm_content=original"/><Relationship Id="rId2" Type="http://schemas.openxmlformats.org/officeDocument/2006/relationships/image" Target="../media/image14.org&amp;utm_campaign=index&amp;utm_content=thumbnai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43.org&amp;utm_campaign=index&amp;utm_content=original"/><Relationship Id="rId2" Type="http://schemas.openxmlformats.org/officeDocument/2006/relationships/image" Target="../media/image14.org&amp;utm_campaign=index&amp;utm_content=thumbnai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6.png"/><Relationship Id="rId3" Type="http://schemas.openxmlformats.org/officeDocument/2006/relationships/image" Target="../media/image37.png"/><Relationship Id="rId7" Type="http://schemas.openxmlformats.org/officeDocument/2006/relationships/image" Target="../media/image6.png"/><Relationship Id="rId12" Type="http://schemas.openxmlformats.org/officeDocument/2006/relationships/image" Target="../media/image14.org&amp;utm_campaign=index&amp;utm_content=thumbnai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45.org&amp;utm_campaign=index&amp;utm_content=origi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7.png"/><Relationship Id="rId4" Type="http://schemas.openxmlformats.org/officeDocument/2006/relationships/image" Target="../media/image14.org&amp;utm_campaign=index&amp;utm_content=thumbnail"/><Relationship Id="rId9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.png"/><Relationship Id="rId9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0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1.png"/><Relationship Id="rId9" Type="http://schemas.openxmlformats.org/officeDocument/2006/relationships/image" Target="../media/image8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37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.png"/><Relationship Id="rId9" Type="http://schemas.openxmlformats.org/officeDocument/2006/relationships/image" Target="../media/image6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80.png"/><Relationship Id="rId7" Type="http://schemas.openxmlformats.org/officeDocument/2006/relationships/image" Target="../media/image7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71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9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4.png"/><Relationship Id="rId4" Type="http://schemas.openxmlformats.org/officeDocument/2006/relationships/image" Target="../media/image98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37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7957861-824C-27BB-4A9E-21A0268A8F6E}"/>
              </a:ext>
            </a:extLst>
          </p:cNvPr>
          <p:cNvSpPr/>
          <p:nvPr/>
        </p:nvSpPr>
        <p:spPr>
          <a:xfrm>
            <a:off x="2966519" y="2163778"/>
            <a:ext cx="5281188" cy="161151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 dirty="0"/>
              <a:t>XRP</a:t>
            </a:r>
            <a:endParaRPr lang="ko-KR" altLang="en-US" sz="8800" dirty="0"/>
          </a:p>
        </p:txBody>
      </p:sp>
    </p:spTree>
    <p:extLst>
      <p:ext uri="{BB962C8B-B14F-4D97-AF65-F5344CB8AC3E}">
        <p14:creationId xmlns:p14="http://schemas.microsoft.com/office/powerpoint/2010/main" val="390373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9DD2-45B7-8C01-B045-4D25A3FA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03D18C-8B6E-C00F-1362-3057FB9B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82" y="1874462"/>
            <a:ext cx="9970310" cy="29306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5891F-32D1-B891-8497-51C8B14DBC16}"/>
              </a:ext>
            </a:extLst>
          </p:cNvPr>
          <p:cNvSpPr txBox="1"/>
          <p:nvPr/>
        </p:nvSpPr>
        <p:spPr>
          <a:xfrm>
            <a:off x="516341" y="924607"/>
            <a:ext cx="3293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/>
              <a:t>가상화폐 </a:t>
            </a:r>
            <a:r>
              <a:rPr lang="ko-KR" altLang="en-US" sz="2800" b="1" dirty="0" err="1"/>
              <a:t>시총순위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3726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5926-B34A-6055-0CA4-D9FC9F41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852320-FA5D-F143-7196-4D2E5270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95" y="201631"/>
            <a:ext cx="5364770" cy="645473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452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3CA7-B040-2AF3-956B-F2B9DDD4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233FDC1-6E76-C20C-65C0-CB33C8B7ECCC}"/>
              </a:ext>
            </a:extLst>
          </p:cNvPr>
          <p:cNvSpPr/>
          <p:nvPr/>
        </p:nvSpPr>
        <p:spPr>
          <a:xfrm>
            <a:off x="3367889" y="2163778"/>
            <a:ext cx="4879818" cy="11678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800" dirty="0"/>
              <a:t>블록체인 금융</a:t>
            </a:r>
          </a:p>
        </p:txBody>
      </p:sp>
    </p:spTree>
    <p:extLst>
      <p:ext uri="{BB962C8B-B14F-4D97-AF65-F5344CB8AC3E}">
        <p14:creationId xmlns:p14="http://schemas.microsoft.com/office/powerpoint/2010/main" val="330850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298C-2965-8A23-CED1-62F7D361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683500-A38E-D545-9C72-66804580FD88}"/>
              </a:ext>
            </a:extLst>
          </p:cNvPr>
          <p:cNvCxnSpPr>
            <a:cxnSpLocks/>
          </p:cNvCxnSpPr>
          <p:nvPr/>
        </p:nvCxnSpPr>
        <p:spPr>
          <a:xfrm flipH="1">
            <a:off x="4728933" y="1900300"/>
            <a:ext cx="232368" cy="111790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1510C572-A1C7-F62B-5D63-5A06C707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98" y="1146224"/>
            <a:ext cx="802740" cy="28064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2A36407-231C-D9A1-2C0A-E25AC33A2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294" y="201316"/>
            <a:ext cx="848007" cy="237909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79FACCA-34F9-029F-281A-6F7A77A24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61" y="2064607"/>
            <a:ext cx="842109" cy="20219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29E4E103-26D9-4505-48B3-4E2F3584B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957" y="73854"/>
            <a:ext cx="1004611" cy="24965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05DDA967-F48F-ED49-C49B-AC0C9C88A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562" y="2027568"/>
            <a:ext cx="1196560" cy="210782"/>
          </a:xfrm>
          <a:prstGeom prst="rect">
            <a:avLst/>
          </a:prstGeom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E011123-C262-A622-D610-D54B0E6F9D79}"/>
              </a:ext>
            </a:extLst>
          </p:cNvPr>
          <p:cNvCxnSpPr>
            <a:cxnSpLocks/>
          </p:cNvCxnSpPr>
          <p:nvPr/>
        </p:nvCxnSpPr>
        <p:spPr>
          <a:xfrm>
            <a:off x="4700257" y="524350"/>
            <a:ext cx="333470" cy="102211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80B6CD2-2810-5784-F950-9C6354F07DA0}"/>
              </a:ext>
            </a:extLst>
          </p:cNvPr>
          <p:cNvCxnSpPr>
            <a:cxnSpLocks/>
          </p:cNvCxnSpPr>
          <p:nvPr/>
        </p:nvCxnSpPr>
        <p:spPr>
          <a:xfrm flipH="1">
            <a:off x="3973714" y="1900300"/>
            <a:ext cx="689036" cy="2093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E997A10-228A-BFF7-20FE-426613DDAFD0}"/>
              </a:ext>
            </a:extLst>
          </p:cNvPr>
          <p:cNvCxnSpPr>
            <a:cxnSpLocks/>
          </p:cNvCxnSpPr>
          <p:nvPr/>
        </p:nvCxnSpPr>
        <p:spPr>
          <a:xfrm flipH="1">
            <a:off x="5920966" y="1288605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067887C-B11C-6913-3D34-4245D9BEAE8A}"/>
              </a:ext>
            </a:extLst>
          </p:cNvPr>
          <p:cNvCxnSpPr>
            <a:cxnSpLocks/>
          </p:cNvCxnSpPr>
          <p:nvPr/>
        </p:nvCxnSpPr>
        <p:spPr>
          <a:xfrm flipH="1" flipV="1">
            <a:off x="5931528" y="1893294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49E44B1-853D-DD78-C625-B29496061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6373" y="1191543"/>
            <a:ext cx="1196558" cy="1827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3392013-F860-7AC8-10E0-5590FF6E75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696" y="3033319"/>
            <a:ext cx="1028986" cy="191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0E32852-3FB7-7DEA-D633-653AE04B1E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9602" y="3007643"/>
            <a:ext cx="706971" cy="243198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7D164BA-D020-89CF-066E-8858C7BEE885}"/>
              </a:ext>
            </a:extLst>
          </p:cNvPr>
          <p:cNvCxnSpPr>
            <a:cxnSpLocks/>
          </p:cNvCxnSpPr>
          <p:nvPr/>
        </p:nvCxnSpPr>
        <p:spPr>
          <a:xfrm>
            <a:off x="5495453" y="1900300"/>
            <a:ext cx="345547" cy="110734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EFD404D-F1D9-A5E1-1725-AB42B4E25FF1}"/>
              </a:ext>
            </a:extLst>
          </p:cNvPr>
          <p:cNvCxnSpPr>
            <a:cxnSpLocks/>
          </p:cNvCxnSpPr>
          <p:nvPr/>
        </p:nvCxnSpPr>
        <p:spPr>
          <a:xfrm flipH="1">
            <a:off x="5427696" y="513791"/>
            <a:ext cx="384628" cy="10326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23B84EA-E728-ED76-B246-5A1FE688E912}"/>
              </a:ext>
            </a:extLst>
          </p:cNvPr>
          <p:cNvCxnSpPr>
            <a:cxnSpLocks/>
          </p:cNvCxnSpPr>
          <p:nvPr/>
        </p:nvCxnSpPr>
        <p:spPr>
          <a:xfrm flipH="1" flipV="1">
            <a:off x="3981258" y="1320472"/>
            <a:ext cx="681492" cy="23790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BA4B19-24F5-2858-103A-56FF6FAB4871}"/>
              </a:ext>
            </a:extLst>
          </p:cNvPr>
          <p:cNvSpPr txBox="1"/>
          <p:nvPr/>
        </p:nvSpPr>
        <p:spPr>
          <a:xfrm>
            <a:off x="4602933" y="1546461"/>
            <a:ext cx="139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금융공동망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CFBEA-2E97-DC96-591F-99F196EE9926}"/>
              </a:ext>
            </a:extLst>
          </p:cNvPr>
          <p:cNvSpPr txBox="1"/>
          <p:nvPr/>
        </p:nvSpPr>
        <p:spPr>
          <a:xfrm>
            <a:off x="2082835" y="5734292"/>
            <a:ext cx="14417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이건강</a:t>
            </a:r>
            <a:r>
              <a:rPr lang="ko-KR" altLang="en-US" sz="1200" dirty="0"/>
              <a:t> </a:t>
            </a:r>
            <a:r>
              <a:rPr lang="en-US" altLang="ko-KR" sz="1200" dirty="0"/>
              <a:t>=&gt; </a:t>
            </a:r>
            <a:r>
              <a:rPr lang="ko-KR" altLang="en-US" sz="1200" dirty="0"/>
              <a:t>홍길동</a:t>
            </a:r>
            <a:endParaRPr lang="en-US" altLang="ko-KR" sz="1200" dirty="0"/>
          </a:p>
          <a:p>
            <a:endParaRPr lang="en-US" altLang="ko-KR" sz="500" dirty="0"/>
          </a:p>
          <a:p>
            <a:r>
              <a:rPr lang="en-US" altLang="ko-KR" sz="1200" dirty="0"/>
              <a:t>10,000</a:t>
            </a:r>
            <a:r>
              <a:rPr lang="ko-KR" altLang="en-US" sz="1200" dirty="0"/>
              <a:t>원 이체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FFF59B-BB5E-9B10-8615-77C5BCB40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839" y="4047025"/>
            <a:ext cx="1707761" cy="42439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FAF4EBC-EC98-7CFD-1FE5-215FA15CA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078" y="3897065"/>
            <a:ext cx="1267036" cy="442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2D2CF3D-959A-D574-1239-6FC19910F4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1331" y="4579282"/>
            <a:ext cx="1028986" cy="904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9E1CA30-CE15-947B-A359-9F31984E02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7715" y="4453997"/>
            <a:ext cx="920399" cy="11550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2890AB-A97C-9991-7091-647C4D9F08F3}"/>
              </a:ext>
            </a:extLst>
          </p:cNvPr>
          <p:cNvSpPr txBox="1"/>
          <p:nvPr/>
        </p:nvSpPr>
        <p:spPr>
          <a:xfrm>
            <a:off x="7225631" y="5734292"/>
            <a:ext cx="14417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이건강</a:t>
            </a:r>
            <a:r>
              <a:rPr lang="ko-KR" altLang="en-US" sz="1200" dirty="0"/>
              <a:t> </a:t>
            </a:r>
            <a:r>
              <a:rPr lang="en-US" altLang="ko-KR" sz="1200" dirty="0"/>
              <a:t>=&gt; </a:t>
            </a:r>
            <a:r>
              <a:rPr lang="ko-KR" altLang="en-US" sz="1200" dirty="0"/>
              <a:t>홍길동</a:t>
            </a:r>
            <a:endParaRPr lang="en-US" altLang="ko-KR" sz="1200" dirty="0"/>
          </a:p>
          <a:p>
            <a:endParaRPr lang="en-US" altLang="ko-KR" sz="500" dirty="0"/>
          </a:p>
          <a:p>
            <a:r>
              <a:rPr lang="en-US" altLang="ko-KR" sz="1200" dirty="0"/>
              <a:t>10,000</a:t>
            </a:r>
            <a:r>
              <a:rPr lang="ko-KR" altLang="en-US" sz="1200" dirty="0"/>
              <a:t>원 이체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84C443-0515-3721-0175-495B3F4D177B}"/>
              </a:ext>
            </a:extLst>
          </p:cNvPr>
          <p:cNvSpPr/>
          <p:nvPr/>
        </p:nvSpPr>
        <p:spPr>
          <a:xfrm>
            <a:off x="5620011" y="340676"/>
            <a:ext cx="3115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5E6053-02BE-1A1B-946A-EBEB53C833C5}"/>
              </a:ext>
            </a:extLst>
          </p:cNvPr>
          <p:cNvSpPr/>
          <p:nvPr/>
        </p:nvSpPr>
        <p:spPr>
          <a:xfrm>
            <a:off x="6491784" y="1115825"/>
            <a:ext cx="350045" cy="39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068FE5-A2FD-AF62-EB14-3DA1CA284807}"/>
              </a:ext>
            </a:extLst>
          </p:cNvPr>
          <p:cNvSpPr/>
          <p:nvPr/>
        </p:nvSpPr>
        <p:spPr>
          <a:xfrm>
            <a:off x="4662750" y="1546461"/>
            <a:ext cx="1258216" cy="3538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84FBCC6-DAD2-FCFE-9D2F-D9D1B5A43ED7}"/>
              </a:ext>
            </a:extLst>
          </p:cNvPr>
          <p:cNvSpPr/>
          <p:nvPr/>
        </p:nvSpPr>
        <p:spPr>
          <a:xfrm>
            <a:off x="3515550" y="5881374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2CABC59-CD96-19BC-A183-C4EECC18DFC1}"/>
              </a:ext>
            </a:extLst>
          </p:cNvPr>
          <p:cNvSpPr/>
          <p:nvPr/>
        </p:nvSpPr>
        <p:spPr>
          <a:xfrm>
            <a:off x="7008707" y="5881374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20E86D7-3525-A5F1-69E6-0EBAEC406199}"/>
              </a:ext>
            </a:extLst>
          </p:cNvPr>
          <p:cNvSpPr/>
          <p:nvPr/>
        </p:nvSpPr>
        <p:spPr>
          <a:xfrm>
            <a:off x="4664447" y="501419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BC8FC21-AB3B-3297-79EE-B1C29E961091}"/>
              </a:ext>
            </a:extLst>
          </p:cNvPr>
          <p:cNvSpPr/>
          <p:nvPr/>
        </p:nvSpPr>
        <p:spPr>
          <a:xfrm>
            <a:off x="5689572" y="406565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4EC5D96-719C-E6B8-FAF0-60E7C5E21E9E}"/>
              </a:ext>
            </a:extLst>
          </p:cNvPr>
          <p:cNvSpPr/>
          <p:nvPr/>
        </p:nvSpPr>
        <p:spPr>
          <a:xfrm>
            <a:off x="6579211" y="1171524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AD0C82E-276B-0F8A-38B3-026B14126613}"/>
              </a:ext>
            </a:extLst>
          </p:cNvPr>
          <p:cNvSpPr/>
          <p:nvPr/>
        </p:nvSpPr>
        <p:spPr>
          <a:xfrm>
            <a:off x="6534502" y="206945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E30BFF6-F991-F678-6F68-EF0E99AAE609}"/>
              </a:ext>
            </a:extLst>
          </p:cNvPr>
          <p:cNvSpPr/>
          <p:nvPr/>
        </p:nvSpPr>
        <p:spPr>
          <a:xfrm>
            <a:off x="5723301" y="277338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0DFE3E0-5AF6-DDBD-CCC5-684DF7054AFF}"/>
              </a:ext>
            </a:extLst>
          </p:cNvPr>
          <p:cNvSpPr/>
          <p:nvPr/>
        </p:nvSpPr>
        <p:spPr>
          <a:xfrm>
            <a:off x="4685179" y="277338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B965BAB-2EBE-A7B9-14C9-942A5BEBE763}"/>
              </a:ext>
            </a:extLst>
          </p:cNvPr>
          <p:cNvSpPr/>
          <p:nvPr/>
        </p:nvSpPr>
        <p:spPr>
          <a:xfrm>
            <a:off x="3956134" y="198740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C69269D-81B8-5F32-546B-52939BDADB7B}"/>
              </a:ext>
            </a:extLst>
          </p:cNvPr>
          <p:cNvSpPr/>
          <p:nvPr/>
        </p:nvSpPr>
        <p:spPr>
          <a:xfrm>
            <a:off x="3985919" y="121653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B2E8BE2-C0D9-BE88-28E9-B8E8897B8984}"/>
              </a:ext>
            </a:extLst>
          </p:cNvPr>
          <p:cNvCxnSpPr>
            <a:cxnSpLocks/>
          </p:cNvCxnSpPr>
          <p:nvPr/>
        </p:nvCxnSpPr>
        <p:spPr>
          <a:xfrm>
            <a:off x="3729316" y="6003596"/>
            <a:ext cx="323456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893E9A8-93DA-C957-A7EA-47DE345C5619}"/>
              </a:ext>
            </a:extLst>
          </p:cNvPr>
          <p:cNvSpPr txBox="1"/>
          <p:nvPr/>
        </p:nvSpPr>
        <p:spPr>
          <a:xfrm>
            <a:off x="283260" y="306042"/>
            <a:ext cx="24373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기존</a:t>
            </a:r>
            <a:r>
              <a:rPr lang="en-US" altLang="ko-KR" sz="3800" b="1" dirty="0"/>
              <a:t> </a:t>
            </a:r>
            <a:r>
              <a:rPr lang="ko-KR" altLang="en-US" sz="3800" b="1" dirty="0"/>
              <a:t>금융</a:t>
            </a:r>
          </a:p>
        </p:txBody>
      </p:sp>
    </p:spTree>
    <p:extLst>
      <p:ext uri="{BB962C8B-B14F-4D97-AF65-F5344CB8AC3E}">
        <p14:creationId xmlns:p14="http://schemas.microsoft.com/office/powerpoint/2010/main" val="412254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C4F0-0AE5-D20C-33B6-2CD53E16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067EF8-AF89-4579-DBE1-6C5AA744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26" y="1382492"/>
            <a:ext cx="6229350" cy="3857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9D2EE5-3E78-21D2-C932-69C069E02559}"/>
              </a:ext>
            </a:extLst>
          </p:cNvPr>
          <p:cNvSpPr txBox="1"/>
          <p:nvPr/>
        </p:nvSpPr>
        <p:spPr>
          <a:xfrm>
            <a:off x="3096237" y="5391339"/>
            <a:ext cx="49975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/>
              <a:t>최근 </a:t>
            </a:r>
            <a:r>
              <a:rPr lang="en-US" altLang="ko-KR" sz="2100" dirty="0"/>
              <a:t>10</a:t>
            </a:r>
            <a:r>
              <a:rPr lang="ko-KR" altLang="en-US" sz="2100" dirty="0"/>
              <a:t>분간 세계의 </a:t>
            </a:r>
            <a:r>
              <a:rPr lang="ko-KR" altLang="en-US" sz="2100" dirty="0" err="1"/>
              <a:t>비트코인</a:t>
            </a:r>
            <a:r>
              <a:rPr lang="ko-KR" altLang="en-US" sz="2100" dirty="0"/>
              <a:t> 거래내역</a:t>
            </a:r>
          </a:p>
        </p:txBody>
      </p:sp>
      <p:pic>
        <p:nvPicPr>
          <p:cNvPr id="4" name="그림 3" descr="파일:Bitcoin logo.svg">
            <a:extLst>
              <a:ext uri="{FF2B5EF4-FFF2-40B4-BE49-F238E27FC236}">
                <a16:creationId xmlns:a16="http://schemas.microsoft.com/office/drawing/2014/main" id="{0F0AE728-E201-E8B1-E208-55DAC015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5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85E5-79A2-4254-0F66-33421009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203B05-FE06-2D49-C1BC-708449FBB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97" y="1138567"/>
            <a:ext cx="6534150" cy="4019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503D0B-57D9-D462-9954-02404F8312C0}"/>
              </a:ext>
            </a:extLst>
          </p:cNvPr>
          <p:cNvSpPr txBox="1"/>
          <p:nvPr/>
        </p:nvSpPr>
        <p:spPr>
          <a:xfrm>
            <a:off x="3096237" y="5391339"/>
            <a:ext cx="49975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/>
              <a:t>최근 </a:t>
            </a:r>
            <a:r>
              <a:rPr lang="en-US" altLang="ko-KR" sz="2100" dirty="0"/>
              <a:t>10</a:t>
            </a:r>
            <a:r>
              <a:rPr lang="ko-KR" altLang="en-US" sz="2100" dirty="0"/>
              <a:t>분간 세계의 </a:t>
            </a:r>
            <a:r>
              <a:rPr lang="ko-KR" altLang="en-US" sz="2100" dirty="0" err="1"/>
              <a:t>비트코인</a:t>
            </a:r>
            <a:r>
              <a:rPr lang="ko-KR" altLang="en-US" sz="2100" dirty="0"/>
              <a:t> 거래내역</a:t>
            </a:r>
          </a:p>
        </p:txBody>
      </p:sp>
      <p:pic>
        <p:nvPicPr>
          <p:cNvPr id="4" name="그림 3" descr="파일:Bitcoin logo.svg">
            <a:extLst>
              <a:ext uri="{FF2B5EF4-FFF2-40B4-BE49-F238E27FC236}">
                <a16:creationId xmlns:a16="http://schemas.microsoft.com/office/drawing/2014/main" id="{4A9CAF75-6135-86AB-E22F-1583201C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4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8049-425B-6A88-AE3E-805EEAA6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01494F-1925-1075-EE19-CAA4AEE88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71725"/>
            <a:ext cx="10248900" cy="2114550"/>
          </a:xfrm>
          <a:prstGeom prst="rect">
            <a:avLst/>
          </a:prstGeom>
        </p:spPr>
      </p:pic>
      <p:pic>
        <p:nvPicPr>
          <p:cNvPr id="4" name="그림 3" descr="파일:Bitcoin logo.svg">
            <a:extLst>
              <a:ext uri="{FF2B5EF4-FFF2-40B4-BE49-F238E27FC236}">
                <a16:creationId xmlns:a16="http://schemas.microsoft.com/office/drawing/2014/main" id="{366FB8B5-F453-5A1C-ABD9-FEAA7A997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6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BC59-830C-8A76-670F-8D2752AF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56CC51-8F79-1887-8262-5B6EB3D4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" y="1357737"/>
            <a:ext cx="6486525" cy="3943350"/>
          </a:xfrm>
          <a:prstGeom prst="rect">
            <a:avLst/>
          </a:prstGeom>
        </p:spPr>
      </p:pic>
      <p:pic>
        <p:nvPicPr>
          <p:cNvPr id="3" name="그림 2" descr="파일:Bitcoin logo.svg">
            <a:extLst>
              <a:ext uri="{FF2B5EF4-FFF2-40B4-BE49-F238E27FC236}">
                <a16:creationId xmlns:a16="http://schemas.microsoft.com/office/drawing/2014/main" id="{C9A6D670-EC02-65BD-7500-B0FF39CD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7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1DE4-347D-282A-8E2C-B937A9B0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4DCEDA-68B2-1F9D-C04C-F67FE7DB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423987"/>
            <a:ext cx="9886950" cy="4010025"/>
          </a:xfrm>
          <a:prstGeom prst="rect">
            <a:avLst/>
          </a:prstGeom>
        </p:spPr>
      </p:pic>
      <p:pic>
        <p:nvPicPr>
          <p:cNvPr id="4" name="그림 3" descr="파일:Bitcoin logo.svg">
            <a:extLst>
              <a:ext uri="{FF2B5EF4-FFF2-40B4-BE49-F238E27FC236}">
                <a16:creationId xmlns:a16="http://schemas.microsoft.com/office/drawing/2014/main" id="{74BEFE37-CCD0-6335-C435-568AD69A6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8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94DB-A11F-3DEA-29B7-B7762516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FFC572-C96A-1045-9726-98606A970426}"/>
              </a:ext>
            </a:extLst>
          </p:cNvPr>
          <p:cNvSpPr/>
          <p:nvPr/>
        </p:nvSpPr>
        <p:spPr>
          <a:xfrm>
            <a:off x="4234004" y="461723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6E278-9B81-E249-8DA2-0FD3440538F9}"/>
              </a:ext>
            </a:extLst>
          </p:cNvPr>
          <p:cNvSpPr txBox="1"/>
          <p:nvPr/>
        </p:nvSpPr>
        <p:spPr>
          <a:xfrm>
            <a:off x="2861650" y="583945"/>
            <a:ext cx="90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입력</a:t>
            </a:r>
            <a:r>
              <a:rPr lang="en-US" altLang="ko-KR" sz="1200" dirty="0"/>
              <a:t>: </a:t>
            </a:r>
            <a:r>
              <a:rPr lang="ko-KR" altLang="en-US" sz="1200" dirty="0"/>
              <a:t>안녕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DF94311-4EC6-D832-62E5-CFEC48B401AC}"/>
              </a:ext>
            </a:extLst>
          </p:cNvPr>
          <p:cNvSpPr/>
          <p:nvPr/>
        </p:nvSpPr>
        <p:spPr>
          <a:xfrm>
            <a:off x="3796419" y="583945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C6080-0806-0EE9-3F5C-71F5ABEB6859}"/>
              </a:ext>
            </a:extLst>
          </p:cNvPr>
          <p:cNvSpPr/>
          <p:nvPr/>
        </p:nvSpPr>
        <p:spPr>
          <a:xfrm>
            <a:off x="5507525" y="583945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B7734-7082-1AB5-386A-C0ADFCD6282D}"/>
              </a:ext>
            </a:extLst>
          </p:cNvPr>
          <p:cNvSpPr txBox="1"/>
          <p:nvPr/>
        </p:nvSpPr>
        <p:spPr>
          <a:xfrm>
            <a:off x="5924739" y="583945"/>
            <a:ext cx="6049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출력 </a:t>
            </a:r>
            <a:r>
              <a:rPr lang="en-US" altLang="ko-KR" sz="1200" dirty="0"/>
              <a:t>(64</a:t>
            </a:r>
            <a:r>
              <a:rPr lang="ko-KR" altLang="en-US" sz="1200" dirty="0"/>
              <a:t>자</a:t>
            </a:r>
            <a:r>
              <a:rPr lang="en-US" altLang="ko-KR" sz="1200" dirty="0"/>
              <a:t>): a665a45920422f9d417e4867efdc4fb8a04a1f3fff1fa07e998e86f7f7a27ae3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7C97FB-1727-2253-D32A-35AAC110F593}"/>
              </a:ext>
            </a:extLst>
          </p:cNvPr>
          <p:cNvSpPr/>
          <p:nvPr/>
        </p:nvSpPr>
        <p:spPr>
          <a:xfrm>
            <a:off x="4234004" y="1229759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E6AA2-2C28-F815-054C-E6A49526CBEB}"/>
              </a:ext>
            </a:extLst>
          </p:cNvPr>
          <p:cNvSpPr txBox="1"/>
          <p:nvPr/>
        </p:nvSpPr>
        <p:spPr>
          <a:xfrm>
            <a:off x="2861650" y="1351981"/>
            <a:ext cx="90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입력</a:t>
            </a:r>
            <a:r>
              <a:rPr lang="en-US" altLang="ko-KR" sz="1200" dirty="0"/>
              <a:t>: </a:t>
            </a:r>
            <a:r>
              <a:rPr lang="ko-KR" altLang="en-US" sz="1200" dirty="0"/>
              <a:t>안녕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3CC7BBE7-433C-C253-5768-09B79E784E4F}"/>
              </a:ext>
            </a:extLst>
          </p:cNvPr>
          <p:cNvSpPr/>
          <p:nvPr/>
        </p:nvSpPr>
        <p:spPr>
          <a:xfrm>
            <a:off x="3796419" y="1351981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250BC6BE-DCB4-0827-7168-F61052ABAA0F}"/>
              </a:ext>
            </a:extLst>
          </p:cNvPr>
          <p:cNvSpPr/>
          <p:nvPr/>
        </p:nvSpPr>
        <p:spPr>
          <a:xfrm>
            <a:off x="5507525" y="1351981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E8FAB3-DBE4-DA54-E3B1-35B987604C7A}"/>
              </a:ext>
            </a:extLst>
          </p:cNvPr>
          <p:cNvSpPr txBox="1"/>
          <p:nvPr/>
        </p:nvSpPr>
        <p:spPr>
          <a:xfrm>
            <a:off x="5924739" y="1351981"/>
            <a:ext cx="6049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출력 </a:t>
            </a:r>
            <a:r>
              <a:rPr lang="en-US" altLang="ko-KR" sz="1200" dirty="0"/>
              <a:t>(64</a:t>
            </a:r>
            <a:r>
              <a:rPr lang="ko-KR" altLang="en-US" sz="1200" dirty="0"/>
              <a:t>자</a:t>
            </a:r>
            <a:r>
              <a:rPr lang="en-US" altLang="ko-KR" sz="1200" dirty="0"/>
              <a:t>): a665a45920422f9d417e4867efdc4fb8a04a1f3fff1fa07e998e86f7f7a27ae3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D8381F-0E7C-A080-3CA2-0A5EBF320746}"/>
              </a:ext>
            </a:extLst>
          </p:cNvPr>
          <p:cNvSpPr/>
          <p:nvPr/>
        </p:nvSpPr>
        <p:spPr>
          <a:xfrm>
            <a:off x="4234004" y="2907558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22FFE3-CE8D-4E22-F348-49ABCBA9FF71}"/>
              </a:ext>
            </a:extLst>
          </p:cNvPr>
          <p:cNvSpPr txBox="1"/>
          <p:nvPr/>
        </p:nvSpPr>
        <p:spPr>
          <a:xfrm>
            <a:off x="217283" y="3029780"/>
            <a:ext cx="3545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입력</a:t>
            </a:r>
            <a:r>
              <a:rPr lang="en-US" altLang="ko-KR" sz="1200" dirty="0"/>
              <a:t>: </a:t>
            </a:r>
            <a:r>
              <a:rPr lang="ko-KR" altLang="en-US" sz="1200" dirty="0"/>
              <a:t>블록체인 기술은 정말 신기하고 재미있어요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F6E3487D-8543-9638-50F7-5AAF0E22F5D3}"/>
              </a:ext>
            </a:extLst>
          </p:cNvPr>
          <p:cNvSpPr/>
          <p:nvPr/>
        </p:nvSpPr>
        <p:spPr>
          <a:xfrm>
            <a:off x="3796419" y="3029780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A756D995-5936-EB8E-9260-CCD4EAD66401}"/>
              </a:ext>
            </a:extLst>
          </p:cNvPr>
          <p:cNvSpPr/>
          <p:nvPr/>
        </p:nvSpPr>
        <p:spPr>
          <a:xfrm>
            <a:off x="5507525" y="3029780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C4AE1-90E2-B89F-7A44-EC5287A77363}"/>
              </a:ext>
            </a:extLst>
          </p:cNvPr>
          <p:cNvSpPr txBox="1"/>
          <p:nvPr/>
        </p:nvSpPr>
        <p:spPr>
          <a:xfrm>
            <a:off x="5924738" y="3029780"/>
            <a:ext cx="6267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출력 </a:t>
            </a:r>
            <a:r>
              <a:rPr lang="en-US" altLang="ko-KR" sz="1200" dirty="0"/>
              <a:t>(64</a:t>
            </a:r>
            <a:r>
              <a:rPr lang="ko-KR" altLang="en-US" sz="1200" dirty="0"/>
              <a:t>자</a:t>
            </a:r>
            <a:r>
              <a:rPr lang="en-US" altLang="ko-KR" sz="1200" dirty="0"/>
              <a:t>): 1c63b3180eb7c4f4efb79a5089a818c3022fc0bc4c7b82f04e1c210d7a0a5a15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EFA1A3-762B-97EB-9C11-59432E5D9044}"/>
              </a:ext>
            </a:extLst>
          </p:cNvPr>
          <p:cNvSpPr/>
          <p:nvPr/>
        </p:nvSpPr>
        <p:spPr>
          <a:xfrm>
            <a:off x="4234004" y="5041590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A7891658-4203-C72B-F461-7A6F1A053691}"/>
              </a:ext>
            </a:extLst>
          </p:cNvPr>
          <p:cNvSpPr/>
          <p:nvPr/>
        </p:nvSpPr>
        <p:spPr>
          <a:xfrm>
            <a:off x="3796419" y="5163812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A3800A82-11B0-3257-C212-ED84C5C4AA82}"/>
              </a:ext>
            </a:extLst>
          </p:cNvPr>
          <p:cNvSpPr/>
          <p:nvPr/>
        </p:nvSpPr>
        <p:spPr>
          <a:xfrm>
            <a:off x="5507525" y="5163812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8BAD12-7099-F917-B883-910D5B749C3B}"/>
              </a:ext>
            </a:extLst>
          </p:cNvPr>
          <p:cNvSpPr txBox="1"/>
          <p:nvPr/>
        </p:nvSpPr>
        <p:spPr>
          <a:xfrm>
            <a:off x="5924738" y="5163812"/>
            <a:ext cx="6267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출력 </a:t>
            </a:r>
            <a:r>
              <a:rPr lang="en-US" altLang="ko-KR" sz="1200" dirty="0"/>
              <a:t>(64</a:t>
            </a:r>
            <a:r>
              <a:rPr lang="ko-KR" altLang="en-US" sz="1200" dirty="0"/>
              <a:t>자</a:t>
            </a:r>
            <a:r>
              <a:rPr lang="en-US" altLang="ko-KR" sz="1200" dirty="0"/>
              <a:t>): 87e3c1256037c800b462fc48ea1121d1b375b47a16631cd0117d69288e1781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012166C-98B4-5A54-6A33-97E927412177}"/>
              </a:ext>
            </a:extLst>
          </p:cNvPr>
          <p:cNvSpPr/>
          <p:nvPr/>
        </p:nvSpPr>
        <p:spPr>
          <a:xfrm>
            <a:off x="4234004" y="5884438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1DB82A88-C6A9-F29C-EC0B-7129F92E9B07}"/>
              </a:ext>
            </a:extLst>
          </p:cNvPr>
          <p:cNvSpPr/>
          <p:nvPr/>
        </p:nvSpPr>
        <p:spPr>
          <a:xfrm>
            <a:off x="3796419" y="6006660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9D831119-B0C5-1575-D2AE-E557F1EAF7C5}"/>
              </a:ext>
            </a:extLst>
          </p:cNvPr>
          <p:cNvSpPr/>
          <p:nvPr/>
        </p:nvSpPr>
        <p:spPr>
          <a:xfrm>
            <a:off x="5507525" y="6006660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D60E66-C37F-D5BE-BFC9-0526943A1E66}"/>
              </a:ext>
            </a:extLst>
          </p:cNvPr>
          <p:cNvSpPr txBox="1"/>
          <p:nvPr/>
        </p:nvSpPr>
        <p:spPr>
          <a:xfrm>
            <a:off x="5924738" y="6006660"/>
            <a:ext cx="6267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출력 </a:t>
            </a:r>
            <a:r>
              <a:rPr lang="en-US" altLang="ko-KR" sz="1200" dirty="0"/>
              <a:t>(64</a:t>
            </a:r>
            <a:r>
              <a:rPr lang="ko-KR" altLang="en-US" sz="1200" dirty="0"/>
              <a:t>자</a:t>
            </a:r>
            <a:r>
              <a:rPr lang="en-US" altLang="ko-KR" sz="1200" dirty="0"/>
              <a:t>): 87e3c1256037c800b462fc48ea1121d1b375b47a16631cd0117d69288e1781</a:t>
            </a:r>
          </a:p>
        </p:txBody>
      </p:sp>
      <p:sp>
        <p:nvSpPr>
          <p:cNvPr id="63" name="원통형 62">
            <a:extLst>
              <a:ext uri="{FF2B5EF4-FFF2-40B4-BE49-F238E27FC236}">
                <a16:creationId xmlns:a16="http://schemas.microsoft.com/office/drawing/2014/main" id="{FA4EF29F-43FC-E37D-C803-16788E0E1C09}"/>
              </a:ext>
            </a:extLst>
          </p:cNvPr>
          <p:cNvSpPr/>
          <p:nvPr/>
        </p:nvSpPr>
        <p:spPr>
          <a:xfrm>
            <a:off x="3121182" y="5847911"/>
            <a:ext cx="605827" cy="521442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자격</a:t>
            </a:r>
            <a:r>
              <a:rPr lang="en-US" altLang="ko-KR" sz="1000" dirty="0">
                <a:solidFill>
                  <a:schemeClr val="tx1"/>
                </a:solidFill>
              </a:rPr>
              <a:t>DB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5A3418-5215-2765-390E-A0BC47C057AC}"/>
              </a:ext>
            </a:extLst>
          </p:cNvPr>
          <p:cNvSpPr txBox="1"/>
          <p:nvPr/>
        </p:nvSpPr>
        <p:spPr>
          <a:xfrm>
            <a:off x="3155887" y="6333141"/>
            <a:ext cx="7242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천만건</a:t>
            </a:r>
            <a:endParaRPr lang="ko-KR" altLang="en-US" sz="1000" dirty="0"/>
          </a:p>
        </p:txBody>
      </p:sp>
      <p:sp>
        <p:nvSpPr>
          <p:cNvPr id="67" name="원통형 66">
            <a:extLst>
              <a:ext uri="{FF2B5EF4-FFF2-40B4-BE49-F238E27FC236}">
                <a16:creationId xmlns:a16="http://schemas.microsoft.com/office/drawing/2014/main" id="{D265F0C3-18A4-4B10-BF9E-0946C59BD88F}"/>
              </a:ext>
            </a:extLst>
          </p:cNvPr>
          <p:cNvSpPr/>
          <p:nvPr/>
        </p:nvSpPr>
        <p:spPr>
          <a:xfrm>
            <a:off x="3128732" y="4995378"/>
            <a:ext cx="605827" cy="521442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자격</a:t>
            </a:r>
            <a:r>
              <a:rPr lang="en-US" altLang="ko-KR" sz="1000" dirty="0">
                <a:solidFill>
                  <a:schemeClr val="tx1"/>
                </a:solidFill>
              </a:rPr>
              <a:t>DB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5D9415-793E-0540-5989-8CC12599C99E}"/>
              </a:ext>
            </a:extLst>
          </p:cNvPr>
          <p:cNvSpPr txBox="1"/>
          <p:nvPr/>
        </p:nvSpPr>
        <p:spPr>
          <a:xfrm>
            <a:off x="3163437" y="5480608"/>
            <a:ext cx="7242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천만건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1336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EE34-A502-8227-D710-E5C3CB584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41B6EB5B-4C56-0CB6-DDC2-943052FA0C45}"/>
              </a:ext>
            </a:extLst>
          </p:cNvPr>
          <p:cNvSpPr/>
          <p:nvPr/>
        </p:nvSpPr>
        <p:spPr>
          <a:xfrm>
            <a:off x="2180751" y="2860259"/>
            <a:ext cx="7441949" cy="4122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원통형 66">
            <a:extLst>
              <a:ext uri="{FF2B5EF4-FFF2-40B4-BE49-F238E27FC236}">
                <a16:creationId xmlns:a16="http://schemas.microsoft.com/office/drawing/2014/main" id="{ABFD32FC-8FF1-FABC-CCFD-E4F353F36722}"/>
              </a:ext>
            </a:extLst>
          </p:cNvPr>
          <p:cNvSpPr/>
          <p:nvPr/>
        </p:nvSpPr>
        <p:spPr>
          <a:xfrm>
            <a:off x="1314920" y="2775220"/>
            <a:ext cx="749270" cy="665443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자격</a:t>
            </a:r>
            <a:r>
              <a:rPr lang="en-US" altLang="ko-KR" sz="1000" dirty="0">
                <a:solidFill>
                  <a:schemeClr val="tx1"/>
                </a:solidFill>
              </a:rPr>
              <a:t>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12A7F-8209-2E5A-9F76-41D4BC02473E}"/>
              </a:ext>
            </a:extLst>
          </p:cNvPr>
          <p:cNvSpPr txBox="1"/>
          <p:nvPr/>
        </p:nvSpPr>
        <p:spPr>
          <a:xfrm>
            <a:off x="5549209" y="3187463"/>
            <a:ext cx="7492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/>
              <a:t>연계</a:t>
            </a:r>
            <a:endParaRPr lang="en-US" altLang="ko-KR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09E16C-0971-ADC4-0E80-950A990E2376}"/>
              </a:ext>
            </a:extLst>
          </p:cNvPr>
          <p:cNvSpPr txBox="1"/>
          <p:nvPr/>
        </p:nvSpPr>
        <p:spPr>
          <a:xfrm>
            <a:off x="1398193" y="3440663"/>
            <a:ext cx="7242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천만건</a:t>
            </a:r>
            <a:endParaRPr lang="ko-KR" altLang="en-US" sz="10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14F35AE-031B-5D51-6013-EBF6A353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39" y="1993445"/>
            <a:ext cx="1857281" cy="66544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6800436-925F-26C0-062B-FD3FA7D58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395" y="2129492"/>
            <a:ext cx="1593886" cy="6457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12366F-26A3-0A43-DB73-5AC16D73F471}"/>
              </a:ext>
            </a:extLst>
          </p:cNvPr>
          <p:cNvSpPr txBox="1"/>
          <p:nvPr/>
        </p:nvSpPr>
        <p:spPr>
          <a:xfrm>
            <a:off x="1226859" y="1773697"/>
            <a:ext cx="9253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원주시</a:t>
            </a:r>
            <a:endParaRPr lang="en-US" altLang="ko-KR" sz="15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8B9166-EA23-0FA4-1593-F6D6ABE681F9}"/>
              </a:ext>
            </a:extLst>
          </p:cNvPr>
          <p:cNvSpPr txBox="1"/>
          <p:nvPr/>
        </p:nvSpPr>
        <p:spPr>
          <a:xfrm>
            <a:off x="10471529" y="1806327"/>
            <a:ext cx="9253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세종시</a:t>
            </a:r>
            <a:endParaRPr lang="en-US" altLang="ko-KR" sz="15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503BC02-1677-23FE-0CA0-BD2AE8F51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509518" y="3198118"/>
            <a:ext cx="938354" cy="8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55AFFD2-9A7A-6591-0E79-CE7C54ADA2D0}"/>
              </a:ext>
            </a:extLst>
          </p:cNvPr>
          <p:cNvSpPr txBox="1"/>
          <p:nvPr/>
        </p:nvSpPr>
        <p:spPr>
          <a:xfrm>
            <a:off x="7509518" y="4067014"/>
            <a:ext cx="1009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해커가 변조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02653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1A7A-EB64-4B19-6851-2D840E71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53E9ADD6-6547-FCD2-676A-1686E3E2E0E1}"/>
              </a:ext>
            </a:extLst>
          </p:cNvPr>
          <p:cNvSpPr/>
          <p:nvPr/>
        </p:nvSpPr>
        <p:spPr>
          <a:xfrm>
            <a:off x="2180751" y="2860259"/>
            <a:ext cx="7441949" cy="4122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원통형 66">
            <a:extLst>
              <a:ext uri="{FF2B5EF4-FFF2-40B4-BE49-F238E27FC236}">
                <a16:creationId xmlns:a16="http://schemas.microsoft.com/office/drawing/2014/main" id="{BCBB7B8D-EC60-1E4C-8FC8-5FB8E825E878}"/>
              </a:ext>
            </a:extLst>
          </p:cNvPr>
          <p:cNvSpPr/>
          <p:nvPr/>
        </p:nvSpPr>
        <p:spPr>
          <a:xfrm>
            <a:off x="1314920" y="2775220"/>
            <a:ext cx="749270" cy="665443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자격</a:t>
            </a:r>
            <a:r>
              <a:rPr lang="en-US" altLang="ko-KR" sz="1000" dirty="0">
                <a:solidFill>
                  <a:schemeClr val="tx1"/>
                </a:solidFill>
              </a:rPr>
              <a:t>DB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44DD13-E62D-7120-0FB6-607A1A5B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39" y="1993445"/>
            <a:ext cx="1857281" cy="6654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A08F6D-5B96-C19D-F17A-EDEFF53E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395" y="2129492"/>
            <a:ext cx="1593886" cy="6457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A11319-B3DE-A8F0-64F9-D23664E65807}"/>
              </a:ext>
            </a:extLst>
          </p:cNvPr>
          <p:cNvSpPr txBox="1"/>
          <p:nvPr/>
        </p:nvSpPr>
        <p:spPr>
          <a:xfrm>
            <a:off x="1226859" y="1773697"/>
            <a:ext cx="9253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원주시</a:t>
            </a:r>
            <a:endParaRPr lang="en-US" altLang="ko-KR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5BDD89-C904-B3CB-43B3-FEFD5D8BD8A6}"/>
              </a:ext>
            </a:extLst>
          </p:cNvPr>
          <p:cNvSpPr txBox="1"/>
          <p:nvPr/>
        </p:nvSpPr>
        <p:spPr>
          <a:xfrm>
            <a:off x="10471529" y="1806327"/>
            <a:ext cx="9253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세종시</a:t>
            </a:r>
            <a:endParaRPr lang="en-US" altLang="ko-KR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B9615B-656E-195C-1614-1424C2D56BA6}"/>
              </a:ext>
            </a:extLst>
          </p:cNvPr>
          <p:cNvSpPr txBox="1"/>
          <p:nvPr/>
        </p:nvSpPr>
        <p:spPr>
          <a:xfrm>
            <a:off x="5549209" y="3187463"/>
            <a:ext cx="7492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/>
              <a:t>연계</a:t>
            </a:r>
            <a:endParaRPr lang="en-US" altLang="ko-KR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13133-3946-99EA-B932-8A4F4675C30A}"/>
              </a:ext>
            </a:extLst>
          </p:cNvPr>
          <p:cNvSpPr txBox="1"/>
          <p:nvPr/>
        </p:nvSpPr>
        <p:spPr>
          <a:xfrm>
            <a:off x="1398193" y="3440663"/>
            <a:ext cx="7242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천만건</a:t>
            </a:r>
            <a:endParaRPr lang="ko-KR" altLang="en-US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0877B39-994A-5D6A-040E-A370A5BFB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509518" y="3198118"/>
            <a:ext cx="938354" cy="8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F84D6F0-9789-F520-B91E-3FA0288A6D8D}"/>
              </a:ext>
            </a:extLst>
          </p:cNvPr>
          <p:cNvSpPr txBox="1"/>
          <p:nvPr/>
        </p:nvSpPr>
        <p:spPr>
          <a:xfrm>
            <a:off x="7509518" y="4067014"/>
            <a:ext cx="1009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해커가 변조</a:t>
            </a:r>
            <a:endParaRPr lang="en-US" altLang="ko-KR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51A10-3EF4-5ED5-9217-0EF26DD8ECBF}"/>
              </a:ext>
            </a:extLst>
          </p:cNvPr>
          <p:cNvSpPr txBox="1"/>
          <p:nvPr/>
        </p:nvSpPr>
        <p:spPr>
          <a:xfrm>
            <a:off x="1327416" y="5058495"/>
            <a:ext cx="724278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해시값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251C3-29DF-77F0-DC9D-A552A8C8B91D}"/>
              </a:ext>
            </a:extLst>
          </p:cNvPr>
          <p:cNvSpPr/>
          <p:nvPr/>
        </p:nvSpPr>
        <p:spPr>
          <a:xfrm>
            <a:off x="1058689" y="4088000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DD029C4-54AB-06EE-259A-646A3212D07D}"/>
              </a:ext>
            </a:extLst>
          </p:cNvPr>
          <p:cNvSpPr/>
          <p:nvPr/>
        </p:nvSpPr>
        <p:spPr>
          <a:xfrm rot="5400000">
            <a:off x="1472981" y="3742611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77F4497-C236-D206-C1CA-8B71FACB40CC}"/>
              </a:ext>
            </a:extLst>
          </p:cNvPr>
          <p:cNvSpPr/>
          <p:nvPr/>
        </p:nvSpPr>
        <p:spPr>
          <a:xfrm rot="5400000">
            <a:off x="1475147" y="4693640"/>
            <a:ext cx="371192" cy="28065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285B6E-FE94-8B64-B879-98D28C83F19B}"/>
              </a:ext>
            </a:extLst>
          </p:cNvPr>
          <p:cNvSpPr/>
          <p:nvPr/>
        </p:nvSpPr>
        <p:spPr>
          <a:xfrm>
            <a:off x="10332170" y="3827279"/>
            <a:ext cx="1204111" cy="521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해시 함수</a:t>
            </a:r>
          </a:p>
        </p:txBody>
      </p:sp>
    </p:spTree>
    <p:extLst>
      <p:ext uri="{BB962C8B-B14F-4D97-AF65-F5344CB8AC3E}">
        <p14:creationId xmlns:p14="http://schemas.microsoft.com/office/powerpoint/2010/main" val="97331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6BC1-35B5-E80D-C371-486AA61D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F58215-818A-F15D-66E2-B308DD53C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1052512"/>
            <a:ext cx="11991975" cy="4752975"/>
          </a:xfrm>
          <a:prstGeom prst="rect">
            <a:avLst/>
          </a:prstGeom>
        </p:spPr>
      </p:pic>
      <p:pic>
        <p:nvPicPr>
          <p:cNvPr id="4" name="그림 3" descr="파일:Bitcoin logo.svg">
            <a:extLst>
              <a:ext uri="{FF2B5EF4-FFF2-40B4-BE49-F238E27FC236}">
                <a16:creationId xmlns:a16="http://schemas.microsoft.com/office/drawing/2014/main" id="{493CD742-9C8F-9D4A-82E5-ED97F9E1E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3" y="428367"/>
            <a:ext cx="2495998" cy="5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0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E508-2AB6-EE01-1CA6-AA047398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56B9A4-A5B3-4442-EE6C-28C48628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4" y="1460353"/>
            <a:ext cx="2154627" cy="22788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C4140F-5836-E445-4298-ECA7429F9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12" y="418347"/>
            <a:ext cx="2454465" cy="6099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97B886C-69F4-E87E-7842-D6D2BF7E5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255" y="324453"/>
            <a:ext cx="787697" cy="8548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76624A8-5BC7-57E4-891F-4A36E483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4" y="3827731"/>
            <a:ext cx="2154627" cy="2278841"/>
          </a:xfrm>
          <a:prstGeom prst="rect">
            <a:avLst/>
          </a:prstGeom>
        </p:spPr>
      </p:pic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F4843B4E-13FE-BD95-DD6D-734C88B9A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063" y="324452"/>
            <a:ext cx="2696198" cy="56375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412C59E-CC5A-65E0-3F54-CD3B9FD6B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0441" y="4670556"/>
            <a:ext cx="1381409" cy="1214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252179-1BDD-F602-3BAA-74DA69471994}"/>
              </a:ext>
            </a:extLst>
          </p:cNvPr>
          <p:cNvSpPr txBox="1"/>
          <p:nvPr/>
        </p:nvSpPr>
        <p:spPr>
          <a:xfrm>
            <a:off x="2899909" y="5876576"/>
            <a:ext cx="13814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서버는 </a:t>
            </a:r>
            <a:r>
              <a:rPr lang="en-US" altLang="ko-KR" sz="1200" dirty="0"/>
              <a:t>1</a:t>
            </a:r>
            <a:r>
              <a:rPr lang="ko-KR" altLang="en-US" sz="1200" dirty="0"/>
              <a:t>곳 </a:t>
            </a:r>
            <a:r>
              <a:rPr lang="en-US" altLang="ko-KR" sz="1200" dirty="0"/>
              <a:t>(</a:t>
            </a:r>
            <a:r>
              <a:rPr lang="ko-KR" altLang="en-US" sz="1200" dirty="0"/>
              <a:t>서울</a:t>
            </a:r>
            <a:r>
              <a:rPr lang="en-US" altLang="ko-KR" sz="1200" dirty="0"/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9ECE5E3-4A3B-6DE8-EEA5-AD73862B72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4856" y="1093062"/>
            <a:ext cx="2049122" cy="233946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6F2421-C2BC-2245-1640-6C0CA319DA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4857" y="3936136"/>
            <a:ext cx="2049121" cy="233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2AEF7D-DA96-7986-7963-C57A6DB18966}"/>
              </a:ext>
            </a:extLst>
          </p:cNvPr>
          <p:cNvSpPr txBox="1"/>
          <p:nvPr/>
        </p:nvSpPr>
        <p:spPr>
          <a:xfrm>
            <a:off x="6311559" y="5854811"/>
            <a:ext cx="1247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서버는 </a:t>
            </a:r>
            <a:r>
              <a:rPr lang="en-US" altLang="ko-KR" sz="1200" dirty="0"/>
              <a:t>2</a:t>
            </a:r>
            <a:r>
              <a:rPr lang="ko-KR" altLang="en-US" sz="1200" dirty="0"/>
              <a:t>만 곳</a:t>
            </a:r>
            <a:endParaRPr lang="en-US" altLang="ko-KR" sz="12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B80B81B-7C69-3FFD-485D-143F1E6C9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1576" y="1295717"/>
            <a:ext cx="1497997" cy="5064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16084F0-5CB0-8FA0-ADA9-EA5C0682E9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9864" y="4914790"/>
            <a:ext cx="1900288" cy="94002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1F73320-4E00-4004-B2CE-6EEE795A5080}"/>
              </a:ext>
            </a:extLst>
          </p:cNvPr>
          <p:cNvCxnSpPr>
            <a:cxnSpLocks/>
          </p:cNvCxnSpPr>
          <p:nvPr/>
        </p:nvCxnSpPr>
        <p:spPr>
          <a:xfrm>
            <a:off x="5239526" y="0"/>
            <a:ext cx="76409" cy="6858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그림 38">
            <a:extLst>
              <a:ext uri="{FF2B5EF4-FFF2-40B4-BE49-F238E27FC236}">
                <a16:creationId xmlns:a16="http://schemas.microsoft.com/office/drawing/2014/main" id="{C07512A2-97DC-4EF3-93AE-F7EFE15729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8097" y="21808"/>
            <a:ext cx="1221476" cy="122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88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DFD9-DD87-84A9-9D9A-A2A3EC25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56139A-2F99-E156-7C19-9E4D40AD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57" y="1384284"/>
            <a:ext cx="7896225" cy="5248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DE37D-9378-ED04-B478-3F11CCFEC965}"/>
              </a:ext>
            </a:extLst>
          </p:cNvPr>
          <p:cNvSpPr txBox="1"/>
          <p:nvPr/>
        </p:nvSpPr>
        <p:spPr>
          <a:xfrm>
            <a:off x="3875639" y="6090730"/>
            <a:ext cx="115808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/>
              <a:t>채굴자들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9A4EB-FDC1-FDA5-D3DC-A6B920846A18}"/>
              </a:ext>
            </a:extLst>
          </p:cNvPr>
          <p:cNvSpPr txBox="1"/>
          <p:nvPr/>
        </p:nvSpPr>
        <p:spPr>
          <a:xfrm>
            <a:off x="781568" y="267077"/>
            <a:ext cx="93130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b="1" dirty="0"/>
              <a:t>최근 </a:t>
            </a:r>
            <a:r>
              <a:rPr lang="en-US" altLang="ko-KR" sz="2100" b="1" dirty="0"/>
              <a:t>10</a:t>
            </a:r>
            <a:r>
              <a:rPr lang="ko-KR" altLang="en-US" sz="2100" b="1" dirty="0"/>
              <a:t>분간 세계의 거래내역을 공개합니다</a:t>
            </a:r>
            <a:r>
              <a:rPr lang="en-US" altLang="ko-KR" sz="2100" b="1" dirty="0"/>
              <a:t>. </a:t>
            </a:r>
            <a:r>
              <a:rPr lang="ko-KR" altLang="en-US" sz="2100" b="1" dirty="0"/>
              <a:t>퀴즈 풀고 블록을 완성하세요</a:t>
            </a:r>
            <a:r>
              <a:rPr lang="en-US" altLang="ko-KR" sz="2100" b="1" dirty="0"/>
              <a:t>.</a:t>
            </a:r>
            <a:endParaRPr lang="ko-KR" altLang="en-US" sz="2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7FB7C-6141-6A5D-E8AD-99FA9EA77BC8}"/>
              </a:ext>
            </a:extLst>
          </p:cNvPr>
          <p:cNvSpPr txBox="1"/>
          <p:nvPr/>
        </p:nvSpPr>
        <p:spPr>
          <a:xfrm>
            <a:off x="8836183" y="4197046"/>
            <a:ext cx="29695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/>
              <a:t>10</a:t>
            </a:r>
            <a:r>
              <a:rPr lang="ko-KR" altLang="en-US" sz="1500" b="1" dirty="0"/>
              <a:t>분마다 채굴자들이 블록추가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F277EC-3940-EA47-ED28-4F9A3C0F4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50" y="1011812"/>
            <a:ext cx="2321344" cy="14279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657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2ED8-AC0A-767B-747F-D43BE822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7983F1-62ED-99AE-9C14-C3E27F9C794D}"/>
              </a:ext>
            </a:extLst>
          </p:cNvPr>
          <p:cNvSpPr txBox="1"/>
          <p:nvPr/>
        </p:nvSpPr>
        <p:spPr>
          <a:xfrm>
            <a:off x="8697539" y="472579"/>
            <a:ext cx="32411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 err="1"/>
              <a:t>비트코인</a:t>
            </a:r>
            <a:r>
              <a:rPr lang="ko-KR" altLang="en-US" sz="2100" dirty="0"/>
              <a:t> </a:t>
            </a:r>
            <a:r>
              <a:rPr lang="en-US" altLang="ko-KR" sz="2100" dirty="0"/>
              <a:t>: 10</a:t>
            </a:r>
            <a:r>
              <a:rPr lang="ko-KR" altLang="en-US" sz="2100" dirty="0"/>
              <a:t>분마다 </a:t>
            </a:r>
            <a:r>
              <a:rPr lang="en-US" altLang="ko-KR" sz="2100" dirty="0"/>
              <a:t>1</a:t>
            </a:r>
            <a:r>
              <a:rPr lang="ko-KR" altLang="en-US" sz="2100" dirty="0"/>
              <a:t>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C7EC91-B518-4DB3-BFF4-D47E986F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461" y="343168"/>
            <a:ext cx="4888311" cy="1008555"/>
          </a:xfrm>
          <a:prstGeom prst="rect">
            <a:avLst/>
          </a:prstGeom>
        </p:spPr>
      </p:pic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456EF926-98A5-5F09-584B-83F0D23E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76" y="769991"/>
            <a:ext cx="1683518" cy="35200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70E62B-EA63-1E0E-EBB8-B800B596F073}"/>
              </a:ext>
            </a:extLst>
          </p:cNvPr>
          <p:cNvSpPr/>
          <p:nvPr/>
        </p:nvSpPr>
        <p:spPr>
          <a:xfrm>
            <a:off x="8801877" y="999037"/>
            <a:ext cx="2669740" cy="4820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</a:rPr>
              <a:t>PoW : </a:t>
            </a:r>
            <a:r>
              <a:rPr lang="ko-KR" altLang="en-US" sz="1500" dirty="0">
                <a:solidFill>
                  <a:schemeClr val="tx1"/>
                </a:solidFill>
              </a:rPr>
              <a:t>퀴즈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풀면 기록가능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12053E-4E0E-0800-00F5-31A2B4234116}"/>
              </a:ext>
            </a:extLst>
          </p:cNvPr>
          <p:cNvSpPr txBox="1"/>
          <p:nvPr/>
        </p:nvSpPr>
        <p:spPr>
          <a:xfrm>
            <a:off x="10136747" y="1517085"/>
            <a:ext cx="1820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막대한 전기 소모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72D4DE-B691-02C1-CAD5-B06890ECA3D2}"/>
              </a:ext>
            </a:extLst>
          </p:cNvPr>
          <p:cNvSpPr/>
          <p:nvPr/>
        </p:nvSpPr>
        <p:spPr>
          <a:xfrm>
            <a:off x="390787" y="651907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PoW</a:t>
            </a:r>
            <a:endParaRPr lang="ko-KR" altLang="en-US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23181-A8BE-6AFF-D023-14C9CC9B629C}"/>
              </a:ext>
            </a:extLst>
          </p:cNvPr>
          <p:cNvSpPr txBox="1"/>
          <p:nvPr/>
        </p:nvSpPr>
        <p:spPr>
          <a:xfrm>
            <a:off x="307363" y="1240086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Work</a:t>
            </a:r>
            <a:endParaRPr lang="ko-KR" altLang="en-US" sz="12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AB1AE7F-3EB2-68BC-43DD-F70B899BB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059" y="1363181"/>
            <a:ext cx="3424851" cy="1389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64D6B-CDCA-3DA4-E291-3C89493B6D59}"/>
              </a:ext>
            </a:extLst>
          </p:cNvPr>
          <p:cNvSpPr txBox="1"/>
          <p:nvPr/>
        </p:nvSpPr>
        <p:spPr>
          <a:xfrm>
            <a:off x="4833749" y="2534736"/>
            <a:ext cx="22637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Hash </a:t>
            </a:r>
            <a:r>
              <a:rPr lang="ko-KR" altLang="en-US" sz="1500" dirty="0"/>
              <a:t>연산 </a:t>
            </a:r>
            <a:r>
              <a:rPr lang="en-US" altLang="ko-KR" sz="1500" dirty="0"/>
              <a:t>1</a:t>
            </a:r>
            <a:r>
              <a:rPr lang="ko-KR" altLang="en-US" sz="1500" dirty="0"/>
              <a:t>해 번 반복</a:t>
            </a:r>
          </a:p>
        </p:txBody>
      </p:sp>
    </p:spTree>
    <p:extLst>
      <p:ext uri="{BB962C8B-B14F-4D97-AF65-F5344CB8AC3E}">
        <p14:creationId xmlns:p14="http://schemas.microsoft.com/office/powerpoint/2010/main" val="693053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DC77-97CB-1B4C-7040-2A4AC565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237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999D-69C6-2FE6-DF91-566DADB8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77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FC52-1208-1617-2FEA-3339CEDE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764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71BB-1C30-FBC7-DD17-7F3AD0E3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249751-7C95-3BED-4414-0583CB80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609725"/>
            <a:ext cx="9953625" cy="3638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18A45E-40CF-5144-8415-8C18841A5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609725"/>
            <a:ext cx="9953625" cy="3638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E31097-8EB9-8BE2-C9DA-F55013AC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609725"/>
            <a:ext cx="9953625" cy="36385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083221-8398-45C6-01AE-7C722EBC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" y="823912"/>
            <a:ext cx="10677525" cy="5210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3CA7A3-A905-E0E9-10ED-1F0203B0C92B}"/>
              </a:ext>
            </a:extLst>
          </p:cNvPr>
          <p:cNvSpPr txBox="1"/>
          <p:nvPr/>
        </p:nvSpPr>
        <p:spPr>
          <a:xfrm>
            <a:off x="8758476" y="4552211"/>
            <a:ext cx="133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엘살바도르</a:t>
            </a:r>
          </a:p>
        </p:txBody>
      </p:sp>
    </p:spTree>
    <p:extLst>
      <p:ext uri="{BB962C8B-B14F-4D97-AF65-F5344CB8AC3E}">
        <p14:creationId xmlns:p14="http://schemas.microsoft.com/office/powerpoint/2010/main" val="1270156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3307-5662-D08A-7879-CEA07EF1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ADDEAE-2445-E4F2-F3DC-5720915BE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85" y="378453"/>
            <a:ext cx="9953625" cy="3638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7F2F19-757A-7BA4-B85E-34479AB8115E}"/>
              </a:ext>
            </a:extLst>
          </p:cNvPr>
          <p:cNvSpPr txBox="1"/>
          <p:nvPr/>
        </p:nvSpPr>
        <p:spPr>
          <a:xfrm>
            <a:off x="10217638" y="3855420"/>
            <a:ext cx="19819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2140</a:t>
            </a:r>
            <a:r>
              <a:rPr lang="ko-KR" altLang="en-US" sz="1500" b="1" dirty="0"/>
              <a:t>년에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채굴 종료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721666-4C70-9F00-1357-D215C3BA4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885" y="81573"/>
            <a:ext cx="2000250" cy="2066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0F0925C-B57C-03B1-209A-B1B424277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90" y="4839488"/>
            <a:ext cx="5954019" cy="10953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3F6FF8-8007-BF47-F56E-2D83CDD9C6D9}"/>
              </a:ext>
            </a:extLst>
          </p:cNvPr>
          <p:cNvSpPr txBox="1"/>
          <p:nvPr/>
        </p:nvSpPr>
        <p:spPr>
          <a:xfrm>
            <a:off x="3235083" y="5890252"/>
            <a:ext cx="6751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2016</a:t>
            </a:r>
          </a:p>
          <a:p>
            <a:endParaRPr lang="en-US" altLang="ko-KR" sz="500" dirty="0"/>
          </a:p>
          <a:p>
            <a:r>
              <a:rPr lang="en-US" altLang="ko-KR" sz="1000" dirty="0"/>
              <a:t>40</a:t>
            </a:r>
            <a:r>
              <a:rPr lang="ko-KR" altLang="en-US" sz="1000" dirty="0"/>
              <a:t>만원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B511D-73FD-8656-497B-10F917DCE939}"/>
              </a:ext>
            </a:extLst>
          </p:cNvPr>
          <p:cNvSpPr txBox="1"/>
          <p:nvPr/>
        </p:nvSpPr>
        <p:spPr>
          <a:xfrm>
            <a:off x="5438017" y="5845640"/>
            <a:ext cx="6751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2020</a:t>
            </a:r>
          </a:p>
          <a:p>
            <a:endParaRPr lang="en-US" altLang="ko-KR" sz="500" dirty="0"/>
          </a:p>
          <a:p>
            <a:r>
              <a:rPr lang="en-US" altLang="ko-KR" sz="1000" dirty="0"/>
              <a:t>800</a:t>
            </a:r>
            <a:r>
              <a:rPr lang="ko-KR" altLang="en-US" sz="1000" dirty="0"/>
              <a:t>만원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21694-F142-DB1F-AFDB-E7060C273FB0}"/>
              </a:ext>
            </a:extLst>
          </p:cNvPr>
          <p:cNvSpPr txBox="1"/>
          <p:nvPr/>
        </p:nvSpPr>
        <p:spPr>
          <a:xfrm>
            <a:off x="8142685" y="5890252"/>
            <a:ext cx="8136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2024</a:t>
            </a:r>
          </a:p>
          <a:p>
            <a:endParaRPr lang="en-US" altLang="ko-KR" sz="500" dirty="0"/>
          </a:p>
          <a:p>
            <a:r>
              <a:rPr lang="en-US" altLang="ko-KR" sz="1000" dirty="0"/>
              <a:t>4,000</a:t>
            </a:r>
            <a:r>
              <a:rPr lang="ko-KR" altLang="en-US" sz="1000" dirty="0"/>
              <a:t>만원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6DA35-9792-B963-24D1-F28221528557}"/>
              </a:ext>
            </a:extLst>
          </p:cNvPr>
          <p:cNvSpPr txBox="1"/>
          <p:nvPr/>
        </p:nvSpPr>
        <p:spPr>
          <a:xfrm>
            <a:off x="9687209" y="5140954"/>
            <a:ext cx="5139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억원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42114F-C23B-2084-1055-79AA7B268F5B}"/>
              </a:ext>
            </a:extLst>
          </p:cNvPr>
          <p:cNvSpPr txBox="1"/>
          <p:nvPr/>
        </p:nvSpPr>
        <p:spPr>
          <a:xfrm>
            <a:off x="8827437" y="4716377"/>
            <a:ext cx="597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억</a:t>
            </a:r>
            <a:r>
              <a:rPr lang="en-US" altLang="ko-KR" sz="1000" dirty="0"/>
              <a:t>7</a:t>
            </a:r>
            <a:r>
              <a:rPr lang="ko-KR" altLang="en-US" sz="1000" dirty="0"/>
              <a:t>천</a:t>
            </a:r>
          </a:p>
        </p:txBody>
      </p:sp>
      <p:pic>
        <p:nvPicPr>
          <p:cNvPr id="24" name="그림 23" descr="파일:Bitcoin logo.svg">
            <a:extLst>
              <a:ext uri="{FF2B5EF4-FFF2-40B4-BE49-F238E27FC236}">
                <a16:creationId xmlns:a16="http://schemas.microsoft.com/office/drawing/2014/main" id="{B16FCA68-A753-18C5-0B45-91E9463DD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631" y="5000368"/>
            <a:ext cx="1068826" cy="22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67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DB5A-C20B-DF36-5029-E3612A89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81C5697-AC8E-9C17-F672-9F4B37F94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190" y="4839488"/>
            <a:ext cx="5954019" cy="10953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9C6783-F278-9B49-A7B5-3CFEAAD8A7D3}"/>
              </a:ext>
            </a:extLst>
          </p:cNvPr>
          <p:cNvSpPr txBox="1"/>
          <p:nvPr/>
        </p:nvSpPr>
        <p:spPr>
          <a:xfrm>
            <a:off x="3235083" y="5890252"/>
            <a:ext cx="6751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2016</a:t>
            </a:r>
          </a:p>
          <a:p>
            <a:endParaRPr lang="en-US" altLang="ko-KR" sz="500" dirty="0"/>
          </a:p>
          <a:p>
            <a:r>
              <a:rPr lang="en-US" altLang="ko-KR" sz="1000" dirty="0"/>
              <a:t>40</a:t>
            </a:r>
            <a:r>
              <a:rPr lang="ko-KR" altLang="en-US" sz="1000" dirty="0"/>
              <a:t>만원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3E870-F480-79A9-130B-4A4A26414600}"/>
              </a:ext>
            </a:extLst>
          </p:cNvPr>
          <p:cNvSpPr txBox="1"/>
          <p:nvPr/>
        </p:nvSpPr>
        <p:spPr>
          <a:xfrm>
            <a:off x="5438017" y="5845640"/>
            <a:ext cx="6751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2020</a:t>
            </a:r>
          </a:p>
          <a:p>
            <a:endParaRPr lang="en-US" altLang="ko-KR" sz="500" dirty="0"/>
          </a:p>
          <a:p>
            <a:r>
              <a:rPr lang="en-US" altLang="ko-KR" sz="1000" dirty="0"/>
              <a:t>800</a:t>
            </a:r>
            <a:r>
              <a:rPr lang="ko-KR" altLang="en-US" sz="1000" dirty="0"/>
              <a:t>만원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A2B06-E7EB-9F49-DE70-3C71B1B89984}"/>
              </a:ext>
            </a:extLst>
          </p:cNvPr>
          <p:cNvSpPr txBox="1"/>
          <p:nvPr/>
        </p:nvSpPr>
        <p:spPr>
          <a:xfrm>
            <a:off x="8142685" y="5890252"/>
            <a:ext cx="8136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2024</a:t>
            </a:r>
          </a:p>
          <a:p>
            <a:endParaRPr lang="en-US" altLang="ko-KR" sz="500" dirty="0"/>
          </a:p>
          <a:p>
            <a:r>
              <a:rPr lang="en-US" altLang="ko-KR" sz="1000" dirty="0"/>
              <a:t>4,000</a:t>
            </a:r>
            <a:r>
              <a:rPr lang="ko-KR" altLang="en-US" sz="1000" dirty="0"/>
              <a:t>만원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6B98E9-43B2-AFB2-5843-044DFCF84D2B}"/>
              </a:ext>
            </a:extLst>
          </p:cNvPr>
          <p:cNvSpPr txBox="1"/>
          <p:nvPr/>
        </p:nvSpPr>
        <p:spPr>
          <a:xfrm>
            <a:off x="9687209" y="5140954"/>
            <a:ext cx="5139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억원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11BD81-94DB-863A-27E6-F73032E790B8}"/>
              </a:ext>
            </a:extLst>
          </p:cNvPr>
          <p:cNvSpPr txBox="1"/>
          <p:nvPr/>
        </p:nvSpPr>
        <p:spPr>
          <a:xfrm>
            <a:off x="8827437" y="4716377"/>
            <a:ext cx="597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억</a:t>
            </a:r>
            <a:r>
              <a:rPr lang="en-US" altLang="ko-KR" sz="1000" dirty="0"/>
              <a:t>7</a:t>
            </a:r>
            <a:r>
              <a:rPr lang="ko-KR" altLang="en-US" sz="1000" dirty="0"/>
              <a:t>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4E865B-D0E1-B113-4895-F212E370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190" y="2658327"/>
            <a:ext cx="5890645" cy="1181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9BF723-0900-385B-A77E-E5A9068BE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359" y="335336"/>
            <a:ext cx="6038850" cy="1162050"/>
          </a:xfrm>
          <a:prstGeom prst="rect">
            <a:avLst/>
          </a:prstGeom>
        </p:spPr>
      </p:pic>
      <p:pic>
        <p:nvPicPr>
          <p:cNvPr id="9" name="그림 8" descr="파일:Bitcoin logo.svg">
            <a:extLst>
              <a:ext uri="{FF2B5EF4-FFF2-40B4-BE49-F238E27FC236}">
                <a16:creationId xmlns:a16="http://schemas.microsoft.com/office/drawing/2014/main" id="{40B4F2E5-3624-0EBC-FFFD-5AA3E2C43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631" y="5000368"/>
            <a:ext cx="1068826" cy="22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0133454-1EC0-0BD0-29C1-008C011D0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482" y="2658327"/>
            <a:ext cx="446917" cy="4430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035154-47BD-4944-0536-C353FF5368AB}"/>
              </a:ext>
            </a:extLst>
          </p:cNvPr>
          <p:cNvSpPr txBox="1"/>
          <p:nvPr/>
        </p:nvSpPr>
        <p:spPr>
          <a:xfrm>
            <a:off x="4179787" y="3086002"/>
            <a:ext cx="894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이더리움</a:t>
            </a:r>
            <a:endParaRPr lang="ko-KR" altLang="en-US" sz="1200" b="1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57C50D8-4B47-2B51-15F9-5059F63A27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667" y="368084"/>
            <a:ext cx="544732" cy="6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25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DD60-0CA5-B752-23FE-5A342270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D7B5CC1-93D3-D59A-EFB4-2D5CE50AF6CA}"/>
              </a:ext>
            </a:extLst>
          </p:cNvPr>
          <p:cNvSpPr/>
          <p:nvPr/>
        </p:nvSpPr>
        <p:spPr>
          <a:xfrm>
            <a:off x="3367889" y="2163778"/>
            <a:ext cx="4879818" cy="11678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800" dirty="0"/>
              <a:t>PoW VS </a:t>
            </a:r>
            <a:r>
              <a:rPr lang="en-US" altLang="ko-KR" sz="3800" dirty="0" err="1"/>
              <a:t>PoS</a:t>
            </a:r>
            <a:endParaRPr lang="ko-KR" altLang="en-US" sz="3800" dirty="0"/>
          </a:p>
        </p:txBody>
      </p:sp>
    </p:spTree>
    <p:extLst>
      <p:ext uri="{BB962C8B-B14F-4D97-AF65-F5344CB8AC3E}">
        <p14:creationId xmlns:p14="http://schemas.microsoft.com/office/powerpoint/2010/main" val="3638852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8382-A9F7-9816-F0CA-F1BB10C8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6FF0B6-CFC4-6FF4-0B93-25068008EEBA}"/>
              </a:ext>
            </a:extLst>
          </p:cNvPr>
          <p:cNvSpPr txBox="1"/>
          <p:nvPr/>
        </p:nvSpPr>
        <p:spPr>
          <a:xfrm>
            <a:off x="8697539" y="472579"/>
            <a:ext cx="32411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 err="1"/>
              <a:t>비트코인</a:t>
            </a:r>
            <a:r>
              <a:rPr lang="ko-KR" altLang="en-US" sz="2100" dirty="0"/>
              <a:t> </a:t>
            </a:r>
            <a:r>
              <a:rPr lang="en-US" altLang="ko-KR" sz="2100" dirty="0"/>
              <a:t>: 10</a:t>
            </a:r>
            <a:r>
              <a:rPr lang="ko-KR" altLang="en-US" sz="2100" dirty="0"/>
              <a:t>분마다 </a:t>
            </a:r>
            <a:r>
              <a:rPr lang="en-US" altLang="ko-KR" sz="2100" dirty="0"/>
              <a:t>1</a:t>
            </a:r>
            <a:r>
              <a:rPr lang="ko-KR" altLang="en-US" sz="2100" dirty="0"/>
              <a:t>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27BF6D-30DE-1DEB-F09F-C9B74F736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59" y="4189965"/>
            <a:ext cx="4888311" cy="1008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D75801-AE5F-B60F-C1DF-F751BEAA4AA6}"/>
              </a:ext>
            </a:extLst>
          </p:cNvPr>
          <p:cNvSpPr txBox="1"/>
          <p:nvPr/>
        </p:nvSpPr>
        <p:spPr>
          <a:xfrm>
            <a:off x="8833430" y="4408318"/>
            <a:ext cx="32411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 err="1"/>
              <a:t>이더리움</a:t>
            </a:r>
            <a:r>
              <a:rPr lang="ko-KR" altLang="en-US" sz="2100" dirty="0"/>
              <a:t> </a:t>
            </a:r>
            <a:r>
              <a:rPr lang="en-US" altLang="ko-KR" sz="2100" dirty="0"/>
              <a:t>: 12</a:t>
            </a:r>
            <a:r>
              <a:rPr lang="ko-KR" altLang="en-US" sz="2100" dirty="0"/>
              <a:t>초마다 </a:t>
            </a:r>
            <a:r>
              <a:rPr lang="en-US" altLang="ko-KR" sz="2100" dirty="0"/>
              <a:t>1</a:t>
            </a:r>
            <a:r>
              <a:rPr lang="ko-KR" altLang="en-US" sz="2100" dirty="0"/>
              <a:t>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FD6C389-7774-80D6-1AC6-B954E40A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461" y="343168"/>
            <a:ext cx="4888311" cy="1008555"/>
          </a:xfrm>
          <a:prstGeom prst="rect">
            <a:avLst/>
          </a:prstGeom>
        </p:spPr>
      </p:pic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372AFCAB-53C3-2598-AFE6-2F45B1C22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76" y="769991"/>
            <a:ext cx="1683518" cy="3520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EA50124-2C7C-A578-BEE5-7E97F8C72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903" y="4478223"/>
            <a:ext cx="593294" cy="588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D10059-925C-2E77-533E-A6A758906851}"/>
              </a:ext>
            </a:extLst>
          </p:cNvPr>
          <p:cNvSpPr txBox="1"/>
          <p:nvPr/>
        </p:nvSpPr>
        <p:spPr>
          <a:xfrm>
            <a:off x="2002622" y="458764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A4DFA1-3631-AC8E-D7DD-6DA14DC64131}"/>
              </a:ext>
            </a:extLst>
          </p:cNvPr>
          <p:cNvSpPr/>
          <p:nvPr/>
        </p:nvSpPr>
        <p:spPr>
          <a:xfrm>
            <a:off x="8801877" y="999037"/>
            <a:ext cx="2669740" cy="4820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</a:rPr>
              <a:t>PoW : </a:t>
            </a:r>
            <a:r>
              <a:rPr lang="ko-KR" altLang="en-US" sz="1500" dirty="0">
                <a:solidFill>
                  <a:schemeClr val="tx1"/>
                </a:solidFill>
              </a:rPr>
              <a:t>퀴즈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풀면 기록가능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93B524-03FD-82DF-6BF4-B9545E8EEB27}"/>
              </a:ext>
            </a:extLst>
          </p:cNvPr>
          <p:cNvSpPr/>
          <p:nvPr/>
        </p:nvSpPr>
        <p:spPr>
          <a:xfrm>
            <a:off x="8905380" y="4934776"/>
            <a:ext cx="2669740" cy="4820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err="1">
                <a:solidFill>
                  <a:schemeClr val="tx1"/>
                </a:solidFill>
              </a:rPr>
              <a:t>PoS</a:t>
            </a:r>
            <a:r>
              <a:rPr lang="en-US" altLang="ko-KR" sz="1500" dirty="0">
                <a:solidFill>
                  <a:schemeClr val="tx1"/>
                </a:solidFill>
              </a:rPr>
              <a:t> : </a:t>
            </a:r>
            <a:r>
              <a:rPr lang="ko-KR" altLang="en-US" sz="1500" dirty="0">
                <a:solidFill>
                  <a:schemeClr val="tx1"/>
                </a:solidFill>
              </a:rPr>
              <a:t>지분 많으면 기록가능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317764-890E-87C8-8A72-8963969B05FF}"/>
              </a:ext>
            </a:extLst>
          </p:cNvPr>
          <p:cNvSpPr txBox="1"/>
          <p:nvPr/>
        </p:nvSpPr>
        <p:spPr>
          <a:xfrm>
            <a:off x="10136747" y="1517085"/>
            <a:ext cx="1820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막대한 전기 소모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6635D-28D9-6187-C343-27B53FC22F8C}"/>
              </a:ext>
            </a:extLst>
          </p:cNvPr>
          <p:cNvSpPr txBox="1"/>
          <p:nvPr/>
        </p:nvSpPr>
        <p:spPr>
          <a:xfrm>
            <a:off x="3385634" y="5314324"/>
            <a:ext cx="47893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제비뽑기 해서 당첨된 </a:t>
            </a:r>
            <a:r>
              <a:rPr lang="ko-KR" altLang="en-US" sz="1500" dirty="0" err="1"/>
              <a:t>이더리움</a:t>
            </a:r>
            <a:r>
              <a:rPr lang="ko-KR" altLang="en-US" sz="1500" dirty="0"/>
              <a:t> 보유자가 기록 </a:t>
            </a:r>
            <a:r>
              <a:rPr lang="en-US" altLang="ko-KR" sz="1500" dirty="0"/>
              <a:t>(</a:t>
            </a:r>
            <a:r>
              <a:rPr lang="ko-KR" altLang="en-US" sz="1500" dirty="0"/>
              <a:t>보상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99D282-F12C-466C-1456-CE0875C7CFD5}"/>
              </a:ext>
            </a:extLst>
          </p:cNvPr>
          <p:cNvSpPr/>
          <p:nvPr/>
        </p:nvSpPr>
        <p:spPr>
          <a:xfrm>
            <a:off x="390787" y="651907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PoW</a:t>
            </a:r>
            <a:endParaRPr lang="ko-KR" altLang="en-US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0ED9B7-AE38-3D7A-E55F-6E436CF613FB}"/>
              </a:ext>
            </a:extLst>
          </p:cNvPr>
          <p:cNvSpPr txBox="1"/>
          <p:nvPr/>
        </p:nvSpPr>
        <p:spPr>
          <a:xfrm>
            <a:off x="307363" y="1240086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Work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E2B8FB-318D-B932-6D89-668B79AFCB1B}"/>
              </a:ext>
            </a:extLst>
          </p:cNvPr>
          <p:cNvSpPr/>
          <p:nvPr/>
        </p:nvSpPr>
        <p:spPr>
          <a:xfrm>
            <a:off x="363810" y="4587646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 err="1"/>
              <a:t>PoS</a:t>
            </a:r>
            <a:endParaRPr lang="ko-KR" altLang="en-US" sz="2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1ACD7-6C82-D641-2B4A-86172D94EB94}"/>
              </a:ext>
            </a:extLst>
          </p:cNvPr>
          <p:cNvSpPr txBox="1"/>
          <p:nvPr/>
        </p:nvSpPr>
        <p:spPr>
          <a:xfrm>
            <a:off x="280386" y="5175825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Stake</a:t>
            </a:r>
            <a:endParaRPr lang="ko-KR" altLang="en-US" sz="12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BF8679E-B26B-8B88-E766-DF2D03538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059" y="1363181"/>
            <a:ext cx="3424851" cy="1389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54215-36BC-AECF-F122-E0F6C910EA04}"/>
              </a:ext>
            </a:extLst>
          </p:cNvPr>
          <p:cNvSpPr txBox="1"/>
          <p:nvPr/>
        </p:nvSpPr>
        <p:spPr>
          <a:xfrm>
            <a:off x="4833749" y="2534736"/>
            <a:ext cx="22637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Hash </a:t>
            </a:r>
            <a:r>
              <a:rPr lang="ko-KR" altLang="en-US" sz="1500" dirty="0"/>
              <a:t>연산 </a:t>
            </a:r>
            <a:r>
              <a:rPr lang="en-US" altLang="ko-KR" sz="1500" dirty="0"/>
              <a:t>1</a:t>
            </a:r>
            <a:r>
              <a:rPr lang="ko-KR" altLang="en-US" sz="1500" dirty="0"/>
              <a:t>해 번 반복</a:t>
            </a:r>
          </a:p>
        </p:txBody>
      </p:sp>
    </p:spTree>
    <p:extLst>
      <p:ext uri="{BB962C8B-B14F-4D97-AF65-F5344CB8AC3E}">
        <p14:creationId xmlns:p14="http://schemas.microsoft.com/office/powerpoint/2010/main" val="4160798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2556-902E-4358-1A59-07077406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042085-4E96-BD1F-BFFA-7FF02E4D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8" y="125255"/>
            <a:ext cx="593294" cy="588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8E7788-E12D-0D8A-1FA2-102AAA0DF38B}"/>
              </a:ext>
            </a:extLst>
          </p:cNvPr>
          <p:cNvSpPr txBox="1"/>
          <p:nvPr/>
        </p:nvSpPr>
        <p:spPr>
          <a:xfrm>
            <a:off x="1245272" y="234678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94C0B-A12C-E8B6-D43B-955ACEF1EAE6}"/>
              </a:ext>
            </a:extLst>
          </p:cNvPr>
          <p:cNvSpPr txBox="1"/>
          <p:nvPr/>
        </p:nvSpPr>
        <p:spPr>
          <a:xfrm>
            <a:off x="101389" y="4842725"/>
            <a:ext cx="2469795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업비트에서 </a:t>
            </a:r>
            <a:r>
              <a:rPr lang="ko-KR" altLang="en-US" sz="1500" dirty="0" err="1"/>
              <a:t>이더리움</a:t>
            </a:r>
            <a:r>
              <a:rPr lang="ko-KR" altLang="en-US" sz="1500" dirty="0"/>
              <a:t> 구매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FFE7B-D52C-09D7-C468-C4F84A0B74A4}"/>
              </a:ext>
            </a:extLst>
          </p:cNvPr>
          <p:cNvSpPr txBox="1"/>
          <p:nvPr/>
        </p:nvSpPr>
        <p:spPr>
          <a:xfrm>
            <a:off x="3178058" y="3990192"/>
            <a:ext cx="1547851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스테이킹</a:t>
            </a:r>
            <a:r>
              <a:rPr lang="ko-KR" altLang="en-US" sz="1500" dirty="0"/>
              <a:t> 참여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940B4-E023-9C8E-5D06-B94F72898A3E}"/>
              </a:ext>
            </a:extLst>
          </p:cNvPr>
          <p:cNvSpPr txBox="1"/>
          <p:nvPr/>
        </p:nvSpPr>
        <p:spPr>
          <a:xfrm>
            <a:off x="3231456" y="3713193"/>
            <a:ext cx="1441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달 간 매도 불가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C0D9E5-D927-CAD9-8CCE-62BA593532BB}"/>
              </a:ext>
            </a:extLst>
          </p:cNvPr>
          <p:cNvSpPr txBox="1"/>
          <p:nvPr/>
        </p:nvSpPr>
        <p:spPr>
          <a:xfrm>
            <a:off x="3178058" y="5545881"/>
            <a:ext cx="1547851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스테이킹</a:t>
            </a:r>
            <a:r>
              <a:rPr lang="ko-KR" altLang="en-US" sz="1500" dirty="0"/>
              <a:t> 불참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9DDE2-926C-C409-8E4E-6E8A9F67D420}"/>
              </a:ext>
            </a:extLst>
          </p:cNvPr>
          <p:cNvSpPr txBox="1"/>
          <p:nvPr/>
        </p:nvSpPr>
        <p:spPr>
          <a:xfrm>
            <a:off x="5648145" y="3076619"/>
            <a:ext cx="1547851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검증인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1333A-2F1E-11E5-2F59-7710B84F3DFF}"/>
              </a:ext>
            </a:extLst>
          </p:cNvPr>
          <p:cNvSpPr txBox="1"/>
          <p:nvPr/>
        </p:nvSpPr>
        <p:spPr>
          <a:xfrm>
            <a:off x="5565741" y="2753453"/>
            <a:ext cx="1547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PC</a:t>
            </a:r>
            <a:r>
              <a:rPr lang="ko-KR" altLang="en-US" sz="1200" dirty="0"/>
              <a:t>켜놓고 검증연산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8CBA9-E32F-FE22-7D99-11ED13F2547A}"/>
              </a:ext>
            </a:extLst>
          </p:cNvPr>
          <p:cNvSpPr txBox="1"/>
          <p:nvPr/>
        </p:nvSpPr>
        <p:spPr>
          <a:xfrm>
            <a:off x="5648145" y="4842726"/>
            <a:ext cx="1547851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검증인 미등록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511DCF-B4EC-DC6D-7D6C-75B083AE1CF5}"/>
              </a:ext>
            </a:extLst>
          </p:cNvPr>
          <p:cNvSpPr txBox="1"/>
          <p:nvPr/>
        </p:nvSpPr>
        <p:spPr>
          <a:xfrm>
            <a:off x="8140446" y="2255407"/>
            <a:ext cx="1628244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제비뽑기 당첨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8FFA33-B323-2701-962C-8162BB02BA30}"/>
              </a:ext>
            </a:extLst>
          </p:cNvPr>
          <p:cNvSpPr txBox="1"/>
          <p:nvPr/>
        </p:nvSpPr>
        <p:spPr>
          <a:xfrm>
            <a:off x="8140446" y="3667027"/>
            <a:ext cx="1628244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/>
              <a:t>제비뽑기 </a:t>
            </a:r>
            <a:r>
              <a:rPr lang="ko-KR" altLang="en-US" sz="1500" dirty="0" err="1"/>
              <a:t>미당첨</a:t>
            </a:r>
            <a:endParaRPr lang="ko-KR" altLang="en-US" sz="1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F6CA6E-A004-1199-824A-D4FBCA04EB4C}"/>
              </a:ext>
            </a:extLst>
          </p:cNvPr>
          <p:cNvSpPr txBox="1"/>
          <p:nvPr/>
        </p:nvSpPr>
        <p:spPr>
          <a:xfrm>
            <a:off x="10409028" y="2255406"/>
            <a:ext cx="1206568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/>
              <a:t>블록 추가</a:t>
            </a:r>
            <a:endParaRPr lang="ko-KR" altLang="en-US" sz="15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F1FDC74-CE92-7A0B-09BB-FC86B2BB6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443" y="865360"/>
            <a:ext cx="2154969" cy="13256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DD027C2-C464-1D11-7EDD-5E002B5C7D2F}"/>
              </a:ext>
            </a:extLst>
          </p:cNvPr>
          <p:cNvSpPr txBox="1"/>
          <p:nvPr/>
        </p:nvSpPr>
        <p:spPr>
          <a:xfrm>
            <a:off x="10643613" y="588361"/>
            <a:ext cx="15483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초 간의 </a:t>
            </a:r>
            <a:r>
              <a:rPr lang="ko-KR" altLang="en-US" sz="1200" dirty="0" err="1"/>
              <a:t>트랜젝션</a:t>
            </a:r>
            <a:endParaRPr lang="ko-KR" altLang="en-US" sz="1200" dirty="0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5C91324-4A1E-66BB-8895-031A71D4F73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571184" y="4151775"/>
            <a:ext cx="606874" cy="8435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EBF2AA7-CF17-9826-6FAA-B1548E35B5E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571184" y="5004307"/>
            <a:ext cx="606874" cy="7031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A99793E-474F-F18A-3B79-C5341FBB9F22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725909" y="3238202"/>
            <a:ext cx="922236" cy="913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3FD663F7-56CD-366B-4A65-5E070C9A3F15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4725909" y="4151775"/>
            <a:ext cx="922236" cy="8525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7CF7CAD-CA31-C1A6-5E6F-9712987B57C2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195996" y="2416990"/>
            <a:ext cx="944450" cy="821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8084763-727F-4936-3B1D-6E1DDE3C5C15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7195996" y="3238202"/>
            <a:ext cx="944450" cy="590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3E1DF67-903D-72B2-2C2F-2D145CF5E473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9768690" y="2416989"/>
            <a:ext cx="640338" cy="15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그림 54">
            <a:extLst>
              <a:ext uri="{FF2B5EF4-FFF2-40B4-BE49-F238E27FC236}">
                <a16:creationId xmlns:a16="http://schemas.microsoft.com/office/drawing/2014/main" id="{41FE2DFB-7F34-E0E5-BFA4-5F67B9A3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6" y="4371034"/>
            <a:ext cx="1441054" cy="40503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8D410C07-C90B-8258-FCBD-E1056E08F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183" y="1332253"/>
            <a:ext cx="1441054" cy="133663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37847C8-2188-30ED-71AC-AB5B53D9FEE0}"/>
              </a:ext>
            </a:extLst>
          </p:cNvPr>
          <p:cNvSpPr txBox="1"/>
          <p:nvPr/>
        </p:nvSpPr>
        <p:spPr>
          <a:xfrm>
            <a:off x="4005382" y="1241127"/>
            <a:ext cx="1441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스테이킹</a:t>
            </a:r>
            <a:r>
              <a:rPr lang="ko-KR" altLang="en-US" sz="1200" dirty="0"/>
              <a:t> </a:t>
            </a:r>
            <a:r>
              <a:rPr lang="en-US" altLang="ko-KR" sz="1200" dirty="0"/>
              <a:t>4</a:t>
            </a:r>
            <a:r>
              <a:rPr lang="ko-KR" altLang="en-US" sz="1200" dirty="0" err="1"/>
              <a:t>천만개</a:t>
            </a:r>
            <a:endParaRPr lang="ko-KR" alt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931C9B-F342-260B-8DB4-10ABADF5F443}"/>
              </a:ext>
            </a:extLst>
          </p:cNvPr>
          <p:cNvSpPr txBox="1"/>
          <p:nvPr/>
        </p:nvSpPr>
        <p:spPr>
          <a:xfrm>
            <a:off x="1902487" y="2160624"/>
            <a:ext cx="1441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나머지 </a:t>
            </a:r>
            <a:r>
              <a:rPr lang="en-US" altLang="ko-KR" sz="1200" dirty="0"/>
              <a:t>6</a:t>
            </a:r>
            <a:r>
              <a:rPr lang="ko-KR" altLang="en-US" sz="1200" dirty="0" err="1"/>
              <a:t>천만개</a:t>
            </a:r>
            <a:endParaRPr lang="ko-KR" altLang="en-US" sz="1200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4F22238-0AC0-17D7-976A-1DD8D3DB63C7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6422071" y="3441183"/>
            <a:ext cx="6326" cy="1401543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1F631CF-7987-9863-A629-358C841F6A4C}"/>
              </a:ext>
            </a:extLst>
          </p:cNvPr>
          <p:cNvSpPr txBox="1"/>
          <p:nvPr/>
        </p:nvSpPr>
        <p:spPr>
          <a:xfrm>
            <a:off x="6357773" y="4013274"/>
            <a:ext cx="4931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위임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1142D8-4EC9-2D31-1252-8327B6058368}"/>
              </a:ext>
            </a:extLst>
          </p:cNvPr>
          <p:cNvSpPr txBox="1"/>
          <p:nvPr/>
        </p:nvSpPr>
        <p:spPr>
          <a:xfrm>
            <a:off x="810555" y="811643"/>
            <a:ext cx="1245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개에 </a:t>
            </a:r>
            <a:r>
              <a:rPr lang="en-US" altLang="ko-KR" sz="1200" dirty="0"/>
              <a:t>300</a:t>
            </a:r>
            <a:r>
              <a:rPr lang="ko-KR" altLang="en-US" sz="1200" dirty="0"/>
              <a:t>만원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40A0D8FD-67A3-B241-934F-0924C9EB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028" y="2650023"/>
            <a:ext cx="325976" cy="32316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F8984E9-783F-F1C5-9DC2-47AEA9163BAC}"/>
              </a:ext>
            </a:extLst>
          </p:cNvPr>
          <p:cNvSpPr txBox="1"/>
          <p:nvPr/>
        </p:nvSpPr>
        <p:spPr>
          <a:xfrm>
            <a:off x="10735003" y="2673106"/>
            <a:ext cx="1357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이더리움</a:t>
            </a:r>
            <a:r>
              <a:rPr lang="ko-KR" altLang="en-US" sz="1000" dirty="0"/>
              <a:t> 보상</a:t>
            </a:r>
            <a:r>
              <a:rPr lang="en-US" altLang="ko-KR" sz="1000" dirty="0"/>
              <a:t> 0.4</a:t>
            </a:r>
            <a:r>
              <a:rPr lang="ko-KR" altLang="en-US" sz="10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951051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5E8E-7572-E165-0953-2682BD93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2C6D77-DB21-A1E9-3926-1EF6C465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8" y="125255"/>
            <a:ext cx="593294" cy="588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E6E5D-C973-644B-C4D4-4721D8F8AAC2}"/>
              </a:ext>
            </a:extLst>
          </p:cNvPr>
          <p:cNvSpPr txBox="1"/>
          <p:nvPr/>
        </p:nvSpPr>
        <p:spPr>
          <a:xfrm>
            <a:off x="1245272" y="234678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156BC-5056-A464-ABAE-D397180781B5}"/>
              </a:ext>
            </a:extLst>
          </p:cNvPr>
          <p:cNvSpPr txBox="1"/>
          <p:nvPr/>
        </p:nvSpPr>
        <p:spPr>
          <a:xfrm>
            <a:off x="5648145" y="3076619"/>
            <a:ext cx="1547851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검증인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DEC1ED-8A18-C502-892C-07181C2A2596}"/>
              </a:ext>
            </a:extLst>
          </p:cNvPr>
          <p:cNvSpPr txBox="1"/>
          <p:nvPr/>
        </p:nvSpPr>
        <p:spPr>
          <a:xfrm>
            <a:off x="5565741" y="2753453"/>
            <a:ext cx="1547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PC</a:t>
            </a:r>
            <a:r>
              <a:rPr lang="ko-KR" altLang="en-US" sz="1200" dirty="0"/>
              <a:t>켜놓고 검증연산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88620-804D-17F2-E1FE-1F8A579A4DCA}"/>
              </a:ext>
            </a:extLst>
          </p:cNvPr>
          <p:cNvSpPr txBox="1"/>
          <p:nvPr/>
        </p:nvSpPr>
        <p:spPr>
          <a:xfrm>
            <a:off x="8140446" y="2255407"/>
            <a:ext cx="1628244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제비뽑기 당첨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9AA3C5-8286-BCBB-6C4B-2CA9BF104802}"/>
              </a:ext>
            </a:extLst>
          </p:cNvPr>
          <p:cNvSpPr txBox="1"/>
          <p:nvPr/>
        </p:nvSpPr>
        <p:spPr>
          <a:xfrm>
            <a:off x="10409028" y="2255406"/>
            <a:ext cx="1206568" cy="3231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/>
              <a:t>블록 추가</a:t>
            </a:r>
            <a:endParaRPr lang="ko-KR" altLang="en-US" sz="15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93135B2-E71E-67DA-E298-B92E07B97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443" y="865360"/>
            <a:ext cx="2154969" cy="13256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413C8CA-9BC7-1EB1-2B29-04DBA0CA01AC}"/>
              </a:ext>
            </a:extLst>
          </p:cNvPr>
          <p:cNvSpPr txBox="1"/>
          <p:nvPr/>
        </p:nvSpPr>
        <p:spPr>
          <a:xfrm>
            <a:off x="10643613" y="588361"/>
            <a:ext cx="15483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초 간의 </a:t>
            </a:r>
            <a:r>
              <a:rPr lang="ko-KR" altLang="en-US" sz="1200" dirty="0" err="1"/>
              <a:t>트랜젝션</a:t>
            </a:r>
            <a:endParaRPr lang="ko-KR" altLang="en-US" sz="12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CC8DF63-EE60-3DC4-9369-3BC36061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028" y="2650023"/>
            <a:ext cx="325976" cy="32316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CC4CAD5-30B0-B6FC-8FBA-4F9CB00B05FE}"/>
              </a:ext>
            </a:extLst>
          </p:cNvPr>
          <p:cNvSpPr txBox="1"/>
          <p:nvPr/>
        </p:nvSpPr>
        <p:spPr>
          <a:xfrm>
            <a:off x="10735003" y="2673106"/>
            <a:ext cx="1357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이더리움</a:t>
            </a:r>
            <a:r>
              <a:rPr lang="ko-KR" altLang="en-US" sz="1000" dirty="0"/>
              <a:t> 보상</a:t>
            </a:r>
            <a:r>
              <a:rPr lang="en-US" altLang="ko-KR" sz="1000" dirty="0"/>
              <a:t> 0.4</a:t>
            </a:r>
            <a:r>
              <a:rPr lang="ko-KR" altLang="en-US" sz="1000" dirty="0"/>
              <a:t>개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D15473E-36D9-9488-3D2F-1DA3F524CE3D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195996" y="2416990"/>
            <a:ext cx="944450" cy="821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E27D34C-F9E3-0DB9-E81B-25087B911C0E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9768690" y="2416989"/>
            <a:ext cx="640338" cy="15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E3443DB-9821-6FA9-2EAD-49126CD27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140446" y="1337358"/>
            <a:ext cx="938354" cy="8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56B987-B8B9-1D7B-6689-674D88CF7832}"/>
              </a:ext>
            </a:extLst>
          </p:cNvPr>
          <p:cNvSpPr txBox="1"/>
          <p:nvPr/>
        </p:nvSpPr>
        <p:spPr>
          <a:xfrm>
            <a:off x="8069008" y="1060358"/>
            <a:ext cx="1009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해커가 당첨</a:t>
            </a:r>
            <a:endParaRPr lang="en-US" altLang="ko-KR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A1D32A-98F3-ADAD-4A44-6527EAC7963D}"/>
              </a:ext>
            </a:extLst>
          </p:cNvPr>
          <p:cNvSpPr/>
          <p:nvPr/>
        </p:nvSpPr>
        <p:spPr>
          <a:xfrm>
            <a:off x="2725093" y="162239"/>
            <a:ext cx="5250655" cy="12263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해커님 당첨</a:t>
            </a:r>
            <a:r>
              <a:rPr lang="en-US" altLang="ko-KR" dirty="0">
                <a:solidFill>
                  <a:schemeClr val="tx1"/>
                </a:solidFill>
              </a:rPr>
              <a:t>! </a:t>
            </a:r>
            <a:r>
              <a:rPr lang="ko-KR" altLang="en-US" dirty="0">
                <a:solidFill>
                  <a:schemeClr val="tx1"/>
                </a:solidFill>
              </a:rPr>
              <a:t>이 문장으로 블록을 만드세요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b="1" dirty="0">
                <a:solidFill>
                  <a:schemeClr val="tx1"/>
                </a:solidFill>
              </a:rPr>
              <a:t>홍길동 </a:t>
            </a:r>
            <a:r>
              <a:rPr lang="en-US" altLang="ko-KR" b="1" dirty="0">
                <a:solidFill>
                  <a:schemeClr val="tx1"/>
                </a:solidFill>
              </a:rPr>
              <a:t>=&gt; </a:t>
            </a:r>
            <a:r>
              <a:rPr lang="ko-KR" altLang="en-US" b="1" dirty="0">
                <a:solidFill>
                  <a:schemeClr val="tx1"/>
                </a:solidFill>
              </a:rPr>
              <a:t>이건강에게 </a:t>
            </a:r>
            <a:r>
              <a:rPr lang="en-US" altLang="ko-KR" b="1" dirty="0">
                <a:solidFill>
                  <a:schemeClr val="tx1"/>
                </a:solidFill>
              </a:rPr>
              <a:t>100</a:t>
            </a:r>
            <a:r>
              <a:rPr lang="ko-KR" altLang="en-US" b="1" dirty="0" err="1">
                <a:solidFill>
                  <a:schemeClr val="tx1"/>
                </a:solidFill>
              </a:rPr>
              <a:t>이더리움</a:t>
            </a:r>
            <a:r>
              <a:rPr lang="ko-KR" altLang="en-US" b="1" dirty="0">
                <a:solidFill>
                  <a:schemeClr val="tx1"/>
                </a:solidFill>
              </a:rPr>
              <a:t> 송금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8BD892-FB1D-0802-2224-64AD9E5EB167}"/>
              </a:ext>
            </a:extLst>
          </p:cNvPr>
          <p:cNvSpPr/>
          <p:nvPr/>
        </p:nvSpPr>
        <p:spPr>
          <a:xfrm>
            <a:off x="305092" y="5406034"/>
            <a:ext cx="4707802" cy="5881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홍길동 </a:t>
            </a:r>
            <a:r>
              <a:rPr lang="en-US" altLang="ko-KR" b="1" dirty="0">
                <a:solidFill>
                  <a:schemeClr val="tx1"/>
                </a:solidFill>
              </a:rPr>
              <a:t>=&gt; </a:t>
            </a:r>
            <a:r>
              <a:rPr lang="ko-KR" altLang="en-US" b="1" dirty="0">
                <a:solidFill>
                  <a:schemeClr val="tx1"/>
                </a:solidFill>
              </a:rPr>
              <a:t>해커에게 </a:t>
            </a:r>
            <a:r>
              <a:rPr lang="en-US" altLang="ko-KR" b="1" dirty="0">
                <a:solidFill>
                  <a:schemeClr val="tx1"/>
                </a:solidFill>
              </a:rPr>
              <a:t>100</a:t>
            </a:r>
            <a:r>
              <a:rPr lang="ko-KR" altLang="en-US" b="1" dirty="0" err="1">
                <a:solidFill>
                  <a:schemeClr val="tx1"/>
                </a:solidFill>
              </a:rPr>
              <a:t>이더리움</a:t>
            </a:r>
            <a:r>
              <a:rPr lang="ko-KR" altLang="en-US" b="1" dirty="0">
                <a:solidFill>
                  <a:schemeClr val="tx1"/>
                </a:solidFill>
              </a:rPr>
              <a:t> 송금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C897B05-3108-4F5C-8F07-37A24A069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481" y="4891553"/>
            <a:ext cx="1441054" cy="13366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2847B37-EA7B-8A39-098A-E8052F7D1406}"/>
              </a:ext>
            </a:extLst>
          </p:cNvPr>
          <p:cNvSpPr txBox="1"/>
          <p:nvPr/>
        </p:nvSpPr>
        <p:spPr>
          <a:xfrm>
            <a:off x="8606281" y="5590245"/>
            <a:ext cx="2561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스테이킹</a:t>
            </a:r>
            <a:r>
              <a:rPr lang="ko-KR" altLang="en-US" sz="1200" dirty="0"/>
              <a:t> </a:t>
            </a:r>
            <a:r>
              <a:rPr lang="en-US" altLang="ko-KR" sz="1200" dirty="0"/>
              <a:t>4</a:t>
            </a:r>
            <a:r>
              <a:rPr lang="ko-KR" altLang="en-US" sz="1200" dirty="0" err="1"/>
              <a:t>천만개</a:t>
            </a:r>
            <a:r>
              <a:rPr lang="ko-KR" altLang="en-US" sz="1200" dirty="0"/>
              <a:t> 소유주가 검증</a:t>
            </a:r>
          </a:p>
        </p:txBody>
      </p:sp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469B6315-F1A8-7956-BC8A-523F262149A5}"/>
              </a:ext>
            </a:extLst>
          </p:cNvPr>
          <p:cNvSpPr/>
          <p:nvPr/>
        </p:nvSpPr>
        <p:spPr>
          <a:xfrm>
            <a:off x="8743278" y="4318653"/>
            <a:ext cx="2561858" cy="734568"/>
          </a:xfrm>
          <a:prstGeom prst="wedgeRoundRectCallout">
            <a:avLst>
              <a:gd name="adj1" fmla="val -49888"/>
              <a:gd name="adj2" fmla="val 75729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해커의 </a:t>
            </a:r>
            <a:r>
              <a:rPr lang="ko-KR" altLang="en-US" dirty="0" err="1">
                <a:solidFill>
                  <a:schemeClr val="tx1"/>
                </a:solidFill>
              </a:rPr>
              <a:t>이더리움</a:t>
            </a:r>
            <a:r>
              <a:rPr lang="ko-KR" altLang="en-US" dirty="0">
                <a:solidFill>
                  <a:schemeClr val="tx1"/>
                </a:solidFill>
              </a:rPr>
              <a:t> 몰수</a:t>
            </a:r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35685090-0491-B330-FCD6-902CC6B937C6}"/>
              </a:ext>
            </a:extLst>
          </p:cNvPr>
          <p:cNvSpPr/>
          <p:nvPr/>
        </p:nvSpPr>
        <p:spPr>
          <a:xfrm>
            <a:off x="3069125" y="1484768"/>
            <a:ext cx="569024" cy="3856777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51AB1003-FABA-C2DE-67A6-CC94E2D4E2A0}"/>
              </a:ext>
            </a:extLst>
          </p:cNvPr>
          <p:cNvSpPr/>
          <p:nvPr/>
        </p:nvSpPr>
        <p:spPr>
          <a:xfrm rot="16200000">
            <a:off x="6029812" y="4648780"/>
            <a:ext cx="412916" cy="2171177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6333F-FAE6-7419-2EBA-F87C58FAF873}"/>
              </a:ext>
            </a:extLst>
          </p:cNvPr>
          <p:cNvSpPr txBox="1"/>
          <p:nvPr/>
        </p:nvSpPr>
        <p:spPr>
          <a:xfrm>
            <a:off x="810555" y="811643"/>
            <a:ext cx="1245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개에 </a:t>
            </a:r>
            <a:r>
              <a:rPr lang="en-US" altLang="ko-KR" sz="1200" dirty="0"/>
              <a:t>300</a:t>
            </a:r>
            <a:r>
              <a:rPr lang="ko-KR" altLang="en-US" sz="1200" dirty="0"/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2113187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0B08-B35E-B7BF-26FD-F9CCBF2C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43F9B-B97F-BFA3-1490-CA720BEF5782}"/>
              </a:ext>
            </a:extLst>
          </p:cNvPr>
          <p:cNvSpPr txBox="1"/>
          <p:nvPr/>
        </p:nvSpPr>
        <p:spPr>
          <a:xfrm>
            <a:off x="8697539" y="472579"/>
            <a:ext cx="32411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 err="1"/>
              <a:t>비트코인</a:t>
            </a:r>
            <a:r>
              <a:rPr lang="ko-KR" altLang="en-US" sz="2100" dirty="0"/>
              <a:t> </a:t>
            </a:r>
            <a:r>
              <a:rPr lang="en-US" altLang="ko-KR" sz="2100" dirty="0"/>
              <a:t>: 10</a:t>
            </a:r>
            <a:r>
              <a:rPr lang="ko-KR" altLang="en-US" sz="2100" dirty="0"/>
              <a:t>분마다 </a:t>
            </a:r>
            <a:r>
              <a:rPr lang="en-US" altLang="ko-KR" sz="2100" dirty="0"/>
              <a:t>1</a:t>
            </a:r>
            <a:r>
              <a:rPr lang="ko-KR" altLang="en-US" sz="2100" dirty="0"/>
              <a:t>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0F91F-4DD1-1293-7A47-2B9494B8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59" y="4189965"/>
            <a:ext cx="4888311" cy="1008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4D1E26-6C5B-100D-45D2-EC0100CFE6FF}"/>
              </a:ext>
            </a:extLst>
          </p:cNvPr>
          <p:cNvSpPr txBox="1"/>
          <p:nvPr/>
        </p:nvSpPr>
        <p:spPr>
          <a:xfrm>
            <a:off x="8833430" y="4408318"/>
            <a:ext cx="32411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dirty="0" err="1"/>
              <a:t>이더리움</a:t>
            </a:r>
            <a:r>
              <a:rPr lang="ko-KR" altLang="en-US" sz="2100" dirty="0"/>
              <a:t> </a:t>
            </a:r>
            <a:r>
              <a:rPr lang="en-US" altLang="ko-KR" sz="2100" dirty="0"/>
              <a:t>: 12</a:t>
            </a:r>
            <a:r>
              <a:rPr lang="ko-KR" altLang="en-US" sz="2100" dirty="0"/>
              <a:t>초마다 </a:t>
            </a:r>
            <a:r>
              <a:rPr lang="en-US" altLang="ko-KR" sz="2100" dirty="0"/>
              <a:t>1</a:t>
            </a:r>
            <a:r>
              <a:rPr lang="ko-KR" altLang="en-US" sz="2100" dirty="0"/>
              <a:t>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E34138-FE1D-5C82-687A-9745C94DB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461" y="343168"/>
            <a:ext cx="4888311" cy="1008555"/>
          </a:xfrm>
          <a:prstGeom prst="rect">
            <a:avLst/>
          </a:prstGeom>
        </p:spPr>
      </p:pic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6946DE48-680D-CE7B-C00B-591F336C0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76" y="769991"/>
            <a:ext cx="1683518" cy="3520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2949576-1EE8-C22D-95C8-113473AB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903" y="4478223"/>
            <a:ext cx="593294" cy="588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CB744B9-9E28-329F-9DDB-09DB6BB5DEF4}"/>
              </a:ext>
            </a:extLst>
          </p:cNvPr>
          <p:cNvSpPr txBox="1"/>
          <p:nvPr/>
        </p:nvSpPr>
        <p:spPr>
          <a:xfrm>
            <a:off x="2002622" y="458764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159788-1D0D-7599-E857-B89917856B69}"/>
              </a:ext>
            </a:extLst>
          </p:cNvPr>
          <p:cNvSpPr/>
          <p:nvPr/>
        </p:nvSpPr>
        <p:spPr>
          <a:xfrm>
            <a:off x="8801877" y="999037"/>
            <a:ext cx="2669740" cy="4820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</a:rPr>
              <a:t>PoW : </a:t>
            </a:r>
            <a:r>
              <a:rPr lang="ko-KR" altLang="en-US" sz="1500" dirty="0">
                <a:solidFill>
                  <a:schemeClr val="tx1"/>
                </a:solidFill>
              </a:rPr>
              <a:t>퀴즈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풀면 기록가능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66E2CD-33A8-87BD-F4F0-4EABB8F6CC12}"/>
              </a:ext>
            </a:extLst>
          </p:cNvPr>
          <p:cNvSpPr/>
          <p:nvPr/>
        </p:nvSpPr>
        <p:spPr>
          <a:xfrm>
            <a:off x="8905380" y="4934776"/>
            <a:ext cx="2669740" cy="4820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err="1">
                <a:solidFill>
                  <a:schemeClr val="tx1"/>
                </a:solidFill>
              </a:rPr>
              <a:t>PoS</a:t>
            </a:r>
            <a:r>
              <a:rPr lang="en-US" altLang="ko-KR" sz="1500" dirty="0">
                <a:solidFill>
                  <a:schemeClr val="tx1"/>
                </a:solidFill>
              </a:rPr>
              <a:t> : </a:t>
            </a:r>
            <a:r>
              <a:rPr lang="ko-KR" altLang="en-US" sz="1500" dirty="0">
                <a:solidFill>
                  <a:schemeClr val="tx1"/>
                </a:solidFill>
              </a:rPr>
              <a:t>지분 많으면 기록가능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AA29B6-8D27-6114-690C-99A8713B32BB}"/>
              </a:ext>
            </a:extLst>
          </p:cNvPr>
          <p:cNvSpPr txBox="1"/>
          <p:nvPr/>
        </p:nvSpPr>
        <p:spPr>
          <a:xfrm>
            <a:off x="10136747" y="1517085"/>
            <a:ext cx="1820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막대한 전기 소모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45459-2D73-E23C-2C66-C52B112FBC50}"/>
              </a:ext>
            </a:extLst>
          </p:cNvPr>
          <p:cNvSpPr txBox="1"/>
          <p:nvPr/>
        </p:nvSpPr>
        <p:spPr>
          <a:xfrm>
            <a:off x="3385634" y="5314324"/>
            <a:ext cx="47893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제비뽑기 해서 당첨된 </a:t>
            </a:r>
            <a:r>
              <a:rPr lang="ko-KR" altLang="en-US" sz="1500" dirty="0" err="1"/>
              <a:t>이더리움</a:t>
            </a:r>
            <a:r>
              <a:rPr lang="ko-KR" altLang="en-US" sz="1500" dirty="0"/>
              <a:t> 보유자가 기록 </a:t>
            </a:r>
            <a:r>
              <a:rPr lang="en-US" altLang="ko-KR" sz="1500" dirty="0"/>
              <a:t>(</a:t>
            </a:r>
            <a:r>
              <a:rPr lang="ko-KR" altLang="en-US" sz="1500" dirty="0"/>
              <a:t>보상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8012D8-FEEB-812B-8B28-380D8283B4F4}"/>
              </a:ext>
            </a:extLst>
          </p:cNvPr>
          <p:cNvSpPr/>
          <p:nvPr/>
        </p:nvSpPr>
        <p:spPr>
          <a:xfrm>
            <a:off x="390787" y="651907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PoW</a:t>
            </a:r>
            <a:endParaRPr lang="ko-KR" altLang="en-US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DC9B0-626B-81D0-54A2-F03643345E18}"/>
              </a:ext>
            </a:extLst>
          </p:cNvPr>
          <p:cNvSpPr txBox="1"/>
          <p:nvPr/>
        </p:nvSpPr>
        <p:spPr>
          <a:xfrm>
            <a:off x="307363" y="1240086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Work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2677E8-CCC6-12FE-1522-AEB4FFAF765D}"/>
              </a:ext>
            </a:extLst>
          </p:cNvPr>
          <p:cNvSpPr/>
          <p:nvPr/>
        </p:nvSpPr>
        <p:spPr>
          <a:xfrm>
            <a:off x="363810" y="4587646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 err="1"/>
              <a:t>PoS</a:t>
            </a:r>
            <a:endParaRPr lang="ko-KR" altLang="en-US" sz="2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877509-65F4-7F6A-7E23-9D7A49CA147E}"/>
              </a:ext>
            </a:extLst>
          </p:cNvPr>
          <p:cNvSpPr txBox="1"/>
          <p:nvPr/>
        </p:nvSpPr>
        <p:spPr>
          <a:xfrm>
            <a:off x="280386" y="5175825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Stake</a:t>
            </a:r>
            <a:endParaRPr lang="ko-KR" altLang="en-US" sz="12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FCDA166-47DE-674E-0874-09C979DF3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059" y="1363181"/>
            <a:ext cx="3424851" cy="1389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96AA6E-AE77-D176-0E2E-8C4880F3B833}"/>
              </a:ext>
            </a:extLst>
          </p:cNvPr>
          <p:cNvSpPr txBox="1"/>
          <p:nvPr/>
        </p:nvSpPr>
        <p:spPr>
          <a:xfrm>
            <a:off x="4833749" y="2534736"/>
            <a:ext cx="22637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Hash </a:t>
            </a:r>
            <a:r>
              <a:rPr lang="ko-KR" altLang="en-US" sz="1500" dirty="0"/>
              <a:t>연산 </a:t>
            </a:r>
            <a:r>
              <a:rPr lang="en-US" altLang="ko-KR" sz="1500" dirty="0"/>
              <a:t>1</a:t>
            </a:r>
            <a:r>
              <a:rPr lang="ko-KR" altLang="en-US" sz="1500" dirty="0"/>
              <a:t>해 번 반복</a:t>
            </a:r>
          </a:p>
        </p:txBody>
      </p:sp>
    </p:spTree>
    <p:extLst>
      <p:ext uri="{BB962C8B-B14F-4D97-AF65-F5344CB8AC3E}">
        <p14:creationId xmlns:p14="http://schemas.microsoft.com/office/powerpoint/2010/main" val="1662787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57D0-8267-E957-7454-A9412505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1E3AEF5E-0882-263D-2A0D-2224F244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76" y="769991"/>
            <a:ext cx="1683518" cy="3520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4442476-142B-29D0-B767-204241E15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03" y="4478223"/>
            <a:ext cx="593294" cy="588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307228-EDFA-DC20-F7C7-952B9417A5DB}"/>
              </a:ext>
            </a:extLst>
          </p:cNvPr>
          <p:cNvSpPr txBox="1"/>
          <p:nvPr/>
        </p:nvSpPr>
        <p:spPr>
          <a:xfrm>
            <a:off x="2002622" y="458764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F3AFCD-30F3-EDC1-A248-0B2786315802}"/>
              </a:ext>
            </a:extLst>
          </p:cNvPr>
          <p:cNvSpPr/>
          <p:nvPr/>
        </p:nvSpPr>
        <p:spPr>
          <a:xfrm>
            <a:off x="390787" y="651907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PoW</a:t>
            </a:r>
            <a:endParaRPr lang="ko-KR" altLang="en-US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8B995-E84F-FCED-7EF9-7258680D8256}"/>
              </a:ext>
            </a:extLst>
          </p:cNvPr>
          <p:cNvSpPr txBox="1"/>
          <p:nvPr/>
        </p:nvSpPr>
        <p:spPr>
          <a:xfrm>
            <a:off x="307363" y="1240086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Work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9BEC49-F4E5-8415-3792-0C44DDF276F6}"/>
              </a:ext>
            </a:extLst>
          </p:cNvPr>
          <p:cNvSpPr/>
          <p:nvPr/>
        </p:nvSpPr>
        <p:spPr>
          <a:xfrm>
            <a:off x="363810" y="4587646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 err="1"/>
              <a:t>PoS</a:t>
            </a:r>
            <a:endParaRPr lang="ko-KR" altLang="en-US" sz="2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73942D-3CB4-3423-8373-0F96FFFB411B}"/>
              </a:ext>
            </a:extLst>
          </p:cNvPr>
          <p:cNvSpPr txBox="1"/>
          <p:nvPr/>
        </p:nvSpPr>
        <p:spPr>
          <a:xfrm>
            <a:off x="280386" y="5175825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Stake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FD5B9A-50BD-0174-6AD0-DA02D00EB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342" y="482815"/>
            <a:ext cx="916710" cy="9263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EB778D-6EB7-568E-CE65-5478F919B199}"/>
              </a:ext>
            </a:extLst>
          </p:cNvPr>
          <p:cNvSpPr txBox="1"/>
          <p:nvPr/>
        </p:nvSpPr>
        <p:spPr>
          <a:xfrm>
            <a:off x="5165802" y="752668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도지코인</a:t>
            </a:r>
            <a:endParaRPr lang="ko-KR" altLang="en-US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667EFB0-9859-F79A-C28D-B4092CC29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322" y="482815"/>
            <a:ext cx="1548142" cy="80105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5442967-C65A-D0A5-AC45-0211A8258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214" y="4556987"/>
            <a:ext cx="1881516" cy="393243"/>
          </a:xfrm>
          <a:prstGeom prst="rect">
            <a:avLst/>
          </a:prstGeom>
        </p:spPr>
      </p:pic>
      <p:pic>
        <p:nvPicPr>
          <p:cNvPr id="29" name="그림 28" descr="Tron (blockchain) - Wikipedia">
            <a:extLst>
              <a:ext uri="{FF2B5EF4-FFF2-40B4-BE49-F238E27FC236}">
                <a16:creationId xmlns:a16="http://schemas.microsoft.com/office/drawing/2014/main" id="{F4CC9F68-83DC-D65C-B966-F360A57FA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212" y="4214184"/>
            <a:ext cx="2033069" cy="9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49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6033-B029-A531-5B67-0181A8CA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파일:Bitcoin logo.svg">
            <a:extLst>
              <a:ext uri="{FF2B5EF4-FFF2-40B4-BE49-F238E27FC236}">
                <a16:creationId xmlns:a16="http://schemas.microsoft.com/office/drawing/2014/main" id="{2915E434-2F72-6FA1-5FC5-7D9769B5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76" y="769991"/>
            <a:ext cx="1683518" cy="3520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83C5BE-DE3E-75D1-656D-FE554A41E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03" y="4478223"/>
            <a:ext cx="593294" cy="588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17935FF-09D3-B872-BE21-27F36E8F438E}"/>
              </a:ext>
            </a:extLst>
          </p:cNvPr>
          <p:cNvSpPr txBox="1"/>
          <p:nvPr/>
        </p:nvSpPr>
        <p:spPr>
          <a:xfrm>
            <a:off x="2002622" y="458764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DDF043-65A8-C26B-7994-D1BC9D90878D}"/>
              </a:ext>
            </a:extLst>
          </p:cNvPr>
          <p:cNvSpPr/>
          <p:nvPr/>
        </p:nvSpPr>
        <p:spPr>
          <a:xfrm>
            <a:off x="390787" y="651907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PoW</a:t>
            </a:r>
            <a:endParaRPr lang="ko-KR" altLang="en-US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39B972-675C-5200-778B-658ACAEE9431}"/>
              </a:ext>
            </a:extLst>
          </p:cNvPr>
          <p:cNvSpPr txBox="1"/>
          <p:nvPr/>
        </p:nvSpPr>
        <p:spPr>
          <a:xfrm>
            <a:off x="307363" y="1240086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Work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1663DA-211D-EF4C-E5CA-4FA249AEB9D1}"/>
              </a:ext>
            </a:extLst>
          </p:cNvPr>
          <p:cNvSpPr/>
          <p:nvPr/>
        </p:nvSpPr>
        <p:spPr>
          <a:xfrm>
            <a:off x="363810" y="4587646"/>
            <a:ext cx="1030107" cy="588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 err="1"/>
              <a:t>PoS</a:t>
            </a:r>
            <a:endParaRPr lang="ko-KR" altLang="en-US" sz="2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490546-FC4A-6E22-7880-A230E994324B}"/>
              </a:ext>
            </a:extLst>
          </p:cNvPr>
          <p:cNvSpPr txBox="1"/>
          <p:nvPr/>
        </p:nvSpPr>
        <p:spPr>
          <a:xfrm>
            <a:off x="280386" y="5175825"/>
            <a:ext cx="118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Proof of Stake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FC78C3-0F51-BCF4-E443-97C79FBD7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342" y="482815"/>
            <a:ext cx="916710" cy="9263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87E26D-77F1-7D43-C382-6EB906BD511B}"/>
              </a:ext>
            </a:extLst>
          </p:cNvPr>
          <p:cNvSpPr txBox="1"/>
          <p:nvPr/>
        </p:nvSpPr>
        <p:spPr>
          <a:xfrm>
            <a:off x="5165802" y="752668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도지코인</a:t>
            </a:r>
            <a:endParaRPr lang="ko-KR" altLang="en-US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06592EC-2DBB-071E-B673-CB5B81F67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322" y="482815"/>
            <a:ext cx="1548142" cy="80105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90301CE-14BA-3312-E730-6749B413D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214" y="4556987"/>
            <a:ext cx="1881516" cy="393243"/>
          </a:xfrm>
          <a:prstGeom prst="rect">
            <a:avLst/>
          </a:prstGeom>
        </p:spPr>
      </p:pic>
      <p:pic>
        <p:nvPicPr>
          <p:cNvPr id="29" name="그림 28" descr="Tron (blockchain) - Wikipedia">
            <a:extLst>
              <a:ext uri="{FF2B5EF4-FFF2-40B4-BE49-F238E27FC236}">
                <a16:creationId xmlns:a16="http://schemas.microsoft.com/office/drawing/2014/main" id="{6847F09A-3D89-AC71-EE8F-D1B2C2B34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212" y="4214184"/>
            <a:ext cx="2033069" cy="9616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E7871A-74A9-4B4C-63F8-D24B9B3DFA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2622" y="2545461"/>
            <a:ext cx="913356" cy="1038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2F6CD-7CF8-C096-C475-63AFE432994E}"/>
              </a:ext>
            </a:extLst>
          </p:cNvPr>
          <p:cNvSpPr txBox="1"/>
          <p:nvPr/>
        </p:nvSpPr>
        <p:spPr>
          <a:xfrm>
            <a:off x="307363" y="2802969"/>
            <a:ext cx="1457761" cy="415498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100" dirty="0">
                <a:solidFill>
                  <a:schemeClr val="bg1"/>
                </a:solidFill>
              </a:rPr>
              <a:t>자체 검증</a:t>
            </a:r>
          </a:p>
        </p:txBody>
      </p:sp>
    </p:spTree>
    <p:extLst>
      <p:ext uri="{BB962C8B-B14F-4D97-AF65-F5344CB8AC3E}">
        <p14:creationId xmlns:p14="http://schemas.microsoft.com/office/powerpoint/2010/main" val="1106929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3773-370D-949C-2EB9-D8B19A35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32E8AA-070F-D440-4E3D-6419F9EBA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084" y="817642"/>
            <a:ext cx="4599899" cy="2325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BADF83-736B-4694-4A76-C2644F931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30" y="182505"/>
            <a:ext cx="1169555" cy="1329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47C2D1-F3D1-5837-C8D7-38F0C3A93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057" y="5778371"/>
            <a:ext cx="2715142" cy="560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7D8AEC-ABA0-975F-74BD-7E498D3329EC}"/>
              </a:ext>
            </a:extLst>
          </p:cNvPr>
          <p:cNvSpPr txBox="1"/>
          <p:nvPr/>
        </p:nvSpPr>
        <p:spPr>
          <a:xfrm>
            <a:off x="4597646" y="5850715"/>
            <a:ext cx="24414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100" dirty="0"/>
              <a:t>3</a:t>
            </a:r>
            <a:r>
              <a:rPr lang="ko-KR" altLang="en-US" sz="2100" dirty="0"/>
              <a:t>초마다 블록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8A898-FFF0-1571-EE23-4A518C4C0786}"/>
              </a:ext>
            </a:extLst>
          </p:cNvPr>
          <p:cNvSpPr txBox="1"/>
          <p:nvPr/>
        </p:nvSpPr>
        <p:spPr>
          <a:xfrm>
            <a:off x="1889353" y="3410235"/>
            <a:ext cx="43743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35</a:t>
            </a:r>
            <a:r>
              <a:rPr lang="ko-KR" altLang="en-US" sz="1500" dirty="0"/>
              <a:t>개 검증서버 중 </a:t>
            </a:r>
            <a:r>
              <a:rPr lang="en-US" altLang="ko-KR" sz="1500" dirty="0"/>
              <a:t>80%</a:t>
            </a:r>
            <a:r>
              <a:rPr lang="ko-KR" altLang="en-US" sz="1500" dirty="0"/>
              <a:t>가 동의하면 블록에 기록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058E77-425B-0BE0-5DDC-35FCB4D22F51}"/>
              </a:ext>
            </a:extLst>
          </p:cNvPr>
          <p:cNvSpPr/>
          <p:nvPr/>
        </p:nvSpPr>
        <p:spPr>
          <a:xfrm>
            <a:off x="2125520" y="4100217"/>
            <a:ext cx="3902044" cy="4154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홍길동 </a:t>
            </a:r>
            <a:r>
              <a:rPr lang="en-US" altLang="ko-KR" sz="1500" b="1" dirty="0">
                <a:solidFill>
                  <a:schemeClr val="tx1"/>
                </a:solidFill>
              </a:rPr>
              <a:t>=&gt; </a:t>
            </a:r>
            <a:r>
              <a:rPr lang="ko-KR" altLang="en-US" sz="1500" b="1" dirty="0">
                <a:solidFill>
                  <a:schemeClr val="tx1"/>
                </a:solidFill>
              </a:rPr>
              <a:t>이건강에게 </a:t>
            </a:r>
            <a:r>
              <a:rPr lang="en-US" altLang="ko-KR" sz="1500" b="1" dirty="0">
                <a:solidFill>
                  <a:schemeClr val="tx1"/>
                </a:solidFill>
              </a:rPr>
              <a:t>100 XRP</a:t>
            </a:r>
            <a:r>
              <a:rPr lang="ko-KR" altLang="en-US" sz="1500" b="1" dirty="0">
                <a:solidFill>
                  <a:schemeClr val="tx1"/>
                </a:solidFill>
              </a:rPr>
              <a:t> 송금</a:t>
            </a:r>
          </a:p>
        </p:txBody>
      </p:sp>
    </p:spTree>
    <p:extLst>
      <p:ext uri="{BB962C8B-B14F-4D97-AF65-F5344CB8AC3E}">
        <p14:creationId xmlns:p14="http://schemas.microsoft.com/office/powerpoint/2010/main" val="3683731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58DE-BBC0-B457-E04B-B7B3AD76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8FD885-6621-4188-C5AD-8DF4C1FE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084" y="817642"/>
            <a:ext cx="4599899" cy="2325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4EC3DB-6A06-8FBB-3630-78716AB2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30" y="182505"/>
            <a:ext cx="1169555" cy="1329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3431BA-D399-CE3E-A113-2900E5B69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057" y="5778371"/>
            <a:ext cx="2715142" cy="560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E19431-4EB8-7662-77B4-F419A7C981A4}"/>
              </a:ext>
            </a:extLst>
          </p:cNvPr>
          <p:cNvSpPr txBox="1"/>
          <p:nvPr/>
        </p:nvSpPr>
        <p:spPr>
          <a:xfrm>
            <a:off x="4597646" y="5850715"/>
            <a:ext cx="24414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100" dirty="0"/>
              <a:t>3</a:t>
            </a:r>
            <a:r>
              <a:rPr lang="ko-KR" altLang="en-US" sz="2100" dirty="0"/>
              <a:t>초마다 블록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4BF6C-E116-5783-686C-6588FCD48BB5}"/>
              </a:ext>
            </a:extLst>
          </p:cNvPr>
          <p:cNvSpPr txBox="1"/>
          <p:nvPr/>
        </p:nvSpPr>
        <p:spPr>
          <a:xfrm>
            <a:off x="1889353" y="3410235"/>
            <a:ext cx="43743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35</a:t>
            </a:r>
            <a:r>
              <a:rPr lang="ko-KR" altLang="en-US" sz="1500" dirty="0"/>
              <a:t>개 검증서버 중 </a:t>
            </a:r>
            <a:r>
              <a:rPr lang="en-US" altLang="ko-KR" sz="1500" dirty="0"/>
              <a:t>80%</a:t>
            </a:r>
            <a:r>
              <a:rPr lang="ko-KR" altLang="en-US" sz="1500" dirty="0"/>
              <a:t>가 동의하면 블록에 기록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137832-5470-689C-89FD-ADCD7FFC618F}"/>
              </a:ext>
            </a:extLst>
          </p:cNvPr>
          <p:cNvSpPr/>
          <p:nvPr/>
        </p:nvSpPr>
        <p:spPr>
          <a:xfrm>
            <a:off x="2125520" y="4100217"/>
            <a:ext cx="3902044" cy="4154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홍길동 </a:t>
            </a:r>
            <a:r>
              <a:rPr lang="en-US" altLang="ko-KR" sz="1500" b="1" dirty="0">
                <a:solidFill>
                  <a:schemeClr val="tx1"/>
                </a:solidFill>
              </a:rPr>
              <a:t>=&gt; </a:t>
            </a:r>
            <a:r>
              <a:rPr lang="ko-KR" altLang="en-US" sz="1500" b="1" dirty="0">
                <a:solidFill>
                  <a:schemeClr val="tx1"/>
                </a:solidFill>
              </a:rPr>
              <a:t>이건강에게 </a:t>
            </a:r>
            <a:r>
              <a:rPr lang="en-US" altLang="ko-KR" sz="1500" b="1" dirty="0">
                <a:solidFill>
                  <a:schemeClr val="tx1"/>
                </a:solidFill>
              </a:rPr>
              <a:t>100 XRP</a:t>
            </a:r>
            <a:r>
              <a:rPr lang="ko-KR" altLang="en-US" sz="1500" b="1" dirty="0">
                <a:solidFill>
                  <a:schemeClr val="tx1"/>
                </a:solidFill>
              </a:rPr>
              <a:t> 송금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4A9B13-B781-E0CE-0339-68154C0726DE}"/>
              </a:ext>
            </a:extLst>
          </p:cNvPr>
          <p:cNvCxnSpPr>
            <a:cxnSpLocks/>
          </p:cNvCxnSpPr>
          <p:nvPr/>
        </p:nvCxnSpPr>
        <p:spPr>
          <a:xfrm flipH="1">
            <a:off x="9047436" y="3448443"/>
            <a:ext cx="232368" cy="111790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E613A090-C66C-7489-F074-E9E4AA5C7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801" y="2694367"/>
            <a:ext cx="802740" cy="28064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6A8F63F-BC89-8D58-B8F3-E497DA8A5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797" y="1749459"/>
            <a:ext cx="848007" cy="23790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1CB1136-7EDB-CD53-EFE9-817F74A04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5164" y="3612750"/>
            <a:ext cx="842109" cy="20219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FDAE021-1B0E-DD77-4859-4C3F1C1047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2460" y="1621997"/>
            <a:ext cx="1004611" cy="2496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A100F01-03F0-CBC2-06FF-67A276A138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9065" y="3575711"/>
            <a:ext cx="1196560" cy="210782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58FD97E-413F-5E23-DEA3-E9B2B54FD1A8}"/>
              </a:ext>
            </a:extLst>
          </p:cNvPr>
          <p:cNvCxnSpPr>
            <a:cxnSpLocks/>
          </p:cNvCxnSpPr>
          <p:nvPr/>
        </p:nvCxnSpPr>
        <p:spPr>
          <a:xfrm>
            <a:off x="9018760" y="2072493"/>
            <a:ext cx="333470" cy="102211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33405D0-010F-3996-C406-496D02AF8B38}"/>
              </a:ext>
            </a:extLst>
          </p:cNvPr>
          <p:cNvCxnSpPr>
            <a:cxnSpLocks/>
          </p:cNvCxnSpPr>
          <p:nvPr/>
        </p:nvCxnSpPr>
        <p:spPr>
          <a:xfrm flipH="1">
            <a:off x="8292217" y="3448443"/>
            <a:ext cx="689036" cy="2093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E903860-53D3-45B3-B20B-41DA4C067666}"/>
              </a:ext>
            </a:extLst>
          </p:cNvPr>
          <p:cNvCxnSpPr>
            <a:cxnSpLocks/>
          </p:cNvCxnSpPr>
          <p:nvPr/>
        </p:nvCxnSpPr>
        <p:spPr>
          <a:xfrm flipH="1">
            <a:off x="10239469" y="2836748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91FC6E8-94E5-3117-3F18-33888C424CC7}"/>
              </a:ext>
            </a:extLst>
          </p:cNvPr>
          <p:cNvCxnSpPr>
            <a:cxnSpLocks/>
          </p:cNvCxnSpPr>
          <p:nvPr/>
        </p:nvCxnSpPr>
        <p:spPr>
          <a:xfrm flipH="1" flipV="1">
            <a:off x="10250031" y="3441437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6632DA7C-6590-EB74-6B26-1FF8B6E7D0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4876" y="2739686"/>
            <a:ext cx="1196558" cy="18273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195F7D5-9217-5397-9688-595892CBB8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6199" y="4581462"/>
            <a:ext cx="1028986" cy="191845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367F7F7-C776-B29C-476B-66DDB6213B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8105" y="4555786"/>
            <a:ext cx="706971" cy="243198"/>
          </a:xfrm>
          <a:prstGeom prst="rect">
            <a:avLst/>
          </a:prstGeom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70A25F6-FE1C-39B0-E83A-816CDCEDF049}"/>
              </a:ext>
            </a:extLst>
          </p:cNvPr>
          <p:cNvCxnSpPr>
            <a:cxnSpLocks/>
          </p:cNvCxnSpPr>
          <p:nvPr/>
        </p:nvCxnSpPr>
        <p:spPr>
          <a:xfrm>
            <a:off x="9813956" y="3448443"/>
            <a:ext cx="345547" cy="110734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8F63C0D-76D3-C696-03C8-C7E28E237554}"/>
              </a:ext>
            </a:extLst>
          </p:cNvPr>
          <p:cNvCxnSpPr>
            <a:cxnSpLocks/>
          </p:cNvCxnSpPr>
          <p:nvPr/>
        </p:nvCxnSpPr>
        <p:spPr>
          <a:xfrm flipH="1">
            <a:off x="9746199" y="2061934"/>
            <a:ext cx="384628" cy="10326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4486D3E-BEE3-0526-9E16-8C9709E28ED2}"/>
              </a:ext>
            </a:extLst>
          </p:cNvPr>
          <p:cNvCxnSpPr>
            <a:cxnSpLocks/>
          </p:cNvCxnSpPr>
          <p:nvPr/>
        </p:nvCxnSpPr>
        <p:spPr>
          <a:xfrm flipH="1" flipV="1">
            <a:off x="8299761" y="2868615"/>
            <a:ext cx="681492" cy="23790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EE33E62-6848-9717-D0DD-66881BA41ACC}"/>
              </a:ext>
            </a:extLst>
          </p:cNvPr>
          <p:cNvSpPr txBox="1"/>
          <p:nvPr/>
        </p:nvSpPr>
        <p:spPr>
          <a:xfrm>
            <a:off x="8921436" y="3094604"/>
            <a:ext cx="139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금융공동망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0155D21-78AC-B3DC-541E-0BC730B18563}"/>
              </a:ext>
            </a:extLst>
          </p:cNvPr>
          <p:cNvSpPr/>
          <p:nvPr/>
        </p:nvSpPr>
        <p:spPr>
          <a:xfrm>
            <a:off x="9938514" y="1888819"/>
            <a:ext cx="3115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57332D-0AE0-81B7-588A-D72D95B5133C}"/>
              </a:ext>
            </a:extLst>
          </p:cNvPr>
          <p:cNvSpPr/>
          <p:nvPr/>
        </p:nvSpPr>
        <p:spPr>
          <a:xfrm>
            <a:off x="10810287" y="2663968"/>
            <a:ext cx="350045" cy="39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DE66A94-2F2C-8A9D-3150-617648A56D41}"/>
              </a:ext>
            </a:extLst>
          </p:cNvPr>
          <p:cNvSpPr/>
          <p:nvPr/>
        </p:nvSpPr>
        <p:spPr>
          <a:xfrm>
            <a:off x="8981253" y="3094604"/>
            <a:ext cx="1258216" cy="3538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C64ACEF-CC00-A5F6-3FBE-89E16431C78A}"/>
              </a:ext>
            </a:extLst>
          </p:cNvPr>
          <p:cNvSpPr/>
          <p:nvPr/>
        </p:nvSpPr>
        <p:spPr>
          <a:xfrm>
            <a:off x="8982950" y="2049562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D1901F9-25C8-7BED-6139-194838949967}"/>
              </a:ext>
            </a:extLst>
          </p:cNvPr>
          <p:cNvSpPr/>
          <p:nvPr/>
        </p:nvSpPr>
        <p:spPr>
          <a:xfrm>
            <a:off x="10008075" y="1954708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7F16D4-9B7E-02C6-7939-D211B8996EF5}"/>
              </a:ext>
            </a:extLst>
          </p:cNvPr>
          <p:cNvSpPr/>
          <p:nvPr/>
        </p:nvSpPr>
        <p:spPr>
          <a:xfrm>
            <a:off x="10897714" y="2719667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25A2B14-4B76-7465-3E64-DAF9BE776052}"/>
              </a:ext>
            </a:extLst>
          </p:cNvPr>
          <p:cNvSpPr/>
          <p:nvPr/>
        </p:nvSpPr>
        <p:spPr>
          <a:xfrm>
            <a:off x="10853005" y="3617599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DB0FE70-CA1A-6842-9534-8154A5CE9586}"/>
              </a:ext>
            </a:extLst>
          </p:cNvPr>
          <p:cNvSpPr/>
          <p:nvPr/>
        </p:nvSpPr>
        <p:spPr>
          <a:xfrm>
            <a:off x="10041804" y="432152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77337E2-8507-BEAF-0CE1-F5D10AE10518}"/>
              </a:ext>
            </a:extLst>
          </p:cNvPr>
          <p:cNvSpPr/>
          <p:nvPr/>
        </p:nvSpPr>
        <p:spPr>
          <a:xfrm>
            <a:off x="9003682" y="432152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8F0E078-BC55-3F64-6517-5E1727906278}"/>
              </a:ext>
            </a:extLst>
          </p:cNvPr>
          <p:cNvSpPr/>
          <p:nvPr/>
        </p:nvSpPr>
        <p:spPr>
          <a:xfrm>
            <a:off x="8274637" y="353554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E9FBC3D-0EE9-3FB1-1107-1761F8D37425}"/>
              </a:ext>
            </a:extLst>
          </p:cNvPr>
          <p:cNvSpPr/>
          <p:nvPr/>
        </p:nvSpPr>
        <p:spPr>
          <a:xfrm>
            <a:off x="8304422" y="276467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8B9C232-2EF4-AB89-F5B5-510BFB3175E9}"/>
              </a:ext>
            </a:extLst>
          </p:cNvPr>
          <p:cNvSpPr/>
          <p:nvPr/>
        </p:nvSpPr>
        <p:spPr>
          <a:xfrm>
            <a:off x="8235625" y="5048489"/>
            <a:ext cx="3902044" cy="4154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홍길동 </a:t>
            </a:r>
            <a:r>
              <a:rPr lang="en-US" altLang="ko-KR" sz="1500" b="1" dirty="0">
                <a:solidFill>
                  <a:schemeClr val="tx1"/>
                </a:solidFill>
              </a:rPr>
              <a:t>=&gt; </a:t>
            </a:r>
            <a:r>
              <a:rPr lang="ko-KR" altLang="en-US" sz="1500" b="1" dirty="0">
                <a:solidFill>
                  <a:schemeClr val="tx1"/>
                </a:solidFill>
              </a:rPr>
              <a:t>이건강에게 </a:t>
            </a:r>
            <a:r>
              <a:rPr lang="en-US" altLang="ko-KR" sz="1500" b="1" dirty="0">
                <a:solidFill>
                  <a:schemeClr val="tx1"/>
                </a:solidFill>
              </a:rPr>
              <a:t>10,000</a:t>
            </a:r>
            <a:r>
              <a:rPr lang="ko-KR" altLang="en-US" sz="1500" b="1" dirty="0">
                <a:solidFill>
                  <a:schemeClr val="tx1"/>
                </a:solidFill>
              </a:rPr>
              <a:t>원 이체</a:t>
            </a:r>
          </a:p>
        </p:txBody>
      </p:sp>
    </p:spTree>
    <p:extLst>
      <p:ext uri="{BB962C8B-B14F-4D97-AF65-F5344CB8AC3E}">
        <p14:creationId xmlns:p14="http://schemas.microsoft.com/office/powerpoint/2010/main" val="1472669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1C9B0-D142-E7A0-EF49-DB4C1BDC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C8E13D-DA56-636D-7C72-388C247A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31" y="342158"/>
            <a:ext cx="3254874" cy="16452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8289628-0A71-4A48-D4BF-2920BCCF2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24" y="2133318"/>
            <a:ext cx="613830" cy="697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CB2AD8-9CD0-9E3B-FDF0-8C210AFE7613}"/>
              </a:ext>
            </a:extLst>
          </p:cNvPr>
          <p:cNvSpPr txBox="1"/>
          <p:nvPr/>
        </p:nvSpPr>
        <p:spPr>
          <a:xfrm>
            <a:off x="1884200" y="2294005"/>
            <a:ext cx="1196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세계 </a:t>
            </a:r>
            <a:r>
              <a:rPr lang="en-US" altLang="ko-KR" sz="1500" dirty="0"/>
              <a:t>35</a:t>
            </a:r>
            <a:r>
              <a:rPr lang="ko-KR" altLang="en-US" sz="1500" dirty="0"/>
              <a:t>개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1419BA5-C610-3649-73BB-6B7071227A07}"/>
              </a:ext>
            </a:extLst>
          </p:cNvPr>
          <p:cNvCxnSpPr>
            <a:cxnSpLocks/>
          </p:cNvCxnSpPr>
          <p:nvPr/>
        </p:nvCxnSpPr>
        <p:spPr>
          <a:xfrm flipH="1">
            <a:off x="9074597" y="1928003"/>
            <a:ext cx="232368" cy="111790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6E4EFB9F-497A-17DC-FCCD-71BBF83A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962" y="1173927"/>
            <a:ext cx="802740" cy="28064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2D203EC-762D-9C87-DDA1-0CB64932A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958" y="229019"/>
            <a:ext cx="848007" cy="23790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BF931F7-597D-14B0-5E6E-CBE212395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2325" y="2092310"/>
            <a:ext cx="842109" cy="20219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9A48282-51A7-CC62-F801-7A0DC5882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9621" y="101557"/>
            <a:ext cx="1004611" cy="2496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7B3D987-B1AF-5FC9-9C29-572AD1C45A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6226" y="2055271"/>
            <a:ext cx="1196560" cy="210782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4647679-E59D-8B1A-C24B-763FA1E59348}"/>
              </a:ext>
            </a:extLst>
          </p:cNvPr>
          <p:cNvCxnSpPr>
            <a:cxnSpLocks/>
          </p:cNvCxnSpPr>
          <p:nvPr/>
        </p:nvCxnSpPr>
        <p:spPr>
          <a:xfrm>
            <a:off x="9045921" y="552053"/>
            <a:ext cx="333470" cy="102211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07CFA19-3147-5C02-DA86-9BDD61F44065}"/>
              </a:ext>
            </a:extLst>
          </p:cNvPr>
          <p:cNvCxnSpPr>
            <a:cxnSpLocks/>
          </p:cNvCxnSpPr>
          <p:nvPr/>
        </p:nvCxnSpPr>
        <p:spPr>
          <a:xfrm flipH="1">
            <a:off x="8319378" y="1928003"/>
            <a:ext cx="689036" cy="2093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2E679E5-FF39-E762-9254-F3561051B7D7}"/>
              </a:ext>
            </a:extLst>
          </p:cNvPr>
          <p:cNvCxnSpPr>
            <a:cxnSpLocks/>
          </p:cNvCxnSpPr>
          <p:nvPr/>
        </p:nvCxnSpPr>
        <p:spPr>
          <a:xfrm flipH="1">
            <a:off x="10266630" y="1316308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6A47104-03FE-5AD2-58FB-B49855ADC169}"/>
              </a:ext>
            </a:extLst>
          </p:cNvPr>
          <p:cNvCxnSpPr>
            <a:cxnSpLocks/>
          </p:cNvCxnSpPr>
          <p:nvPr/>
        </p:nvCxnSpPr>
        <p:spPr>
          <a:xfrm flipH="1" flipV="1">
            <a:off x="10277192" y="1920997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E9BCC3CE-B5AA-72E5-261F-5DC1E227D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37" y="1219246"/>
            <a:ext cx="1196558" cy="18273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734EDE7D-AAAC-6E11-0845-AA2CA00ADD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3360" y="3061022"/>
            <a:ext cx="1028986" cy="191845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0FF02F7-8616-BAFF-BC4B-44253827F7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5266" y="3035346"/>
            <a:ext cx="706971" cy="243198"/>
          </a:xfrm>
          <a:prstGeom prst="rect">
            <a:avLst/>
          </a:prstGeom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AC85665-DB84-F997-7AD2-1E7468AC4F9F}"/>
              </a:ext>
            </a:extLst>
          </p:cNvPr>
          <p:cNvCxnSpPr>
            <a:cxnSpLocks/>
          </p:cNvCxnSpPr>
          <p:nvPr/>
        </p:nvCxnSpPr>
        <p:spPr>
          <a:xfrm>
            <a:off x="9841117" y="1928003"/>
            <a:ext cx="345547" cy="110734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97997E1-94C7-DF9B-E188-66BE010847F0}"/>
              </a:ext>
            </a:extLst>
          </p:cNvPr>
          <p:cNvCxnSpPr>
            <a:cxnSpLocks/>
          </p:cNvCxnSpPr>
          <p:nvPr/>
        </p:nvCxnSpPr>
        <p:spPr>
          <a:xfrm flipH="1">
            <a:off x="9773360" y="541494"/>
            <a:ext cx="384628" cy="10326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E2D362F-A70B-1A89-E7FF-E4DB19CA3017}"/>
              </a:ext>
            </a:extLst>
          </p:cNvPr>
          <p:cNvCxnSpPr>
            <a:cxnSpLocks/>
          </p:cNvCxnSpPr>
          <p:nvPr/>
        </p:nvCxnSpPr>
        <p:spPr>
          <a:xfrm flipH="1" flipV="1">
            <a:off x="8326922" y="1348175"/>
            <a:ext cx="681492" cy="23790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5FE8C0C-D6B7-33E4-65F2-40EBEBD0DC3B}"/>
              </a:ext>
            </a:extLst>
          </p:cNvPr>
          <p:cNvSpPr txBox="1"/>
          <p:nvPr/>
        </p:nvSpPr>
        <p:spPr>
          <a:xfrm>
            <a:off x="8948597" y="1574164"/>
            <a:ext cx="139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금융공동망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8585E3A-4120-4AC9-D418-1604E7152809}"/>
              </a:ext>
            </a:extLst>
          </p:cNvPr>
          <p:cNvSpPr/>
          <p:nvPr/>
        </p:nvSpPr>
        <p:spPr>
          <a:xfrm>
            <a:off x="9965675" y="368379"/>
            <a:ext cx="3115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C02C519-7949-D42E-BCBC-1FE722BA1F9D}"/>
              </a:ext>
            </a:extLst>
          </p:cNvPr>
          <p:cNvSpPr/>
          <p:nvPr/>
        </p:nvSpPr>
        <p:spPr>
          <a:xfrm>
            <a:off x="10837448" y="1143528"/>
            <a:ext cx="350045" cy="39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FE7DB0F-DF01-9375-0F43-B0AEF3496F7E}"/>
              </a:ext>
            </a:extLst>
          </p:cNvPr>
          <p:cNvSpPr/>
          <p:nvPr/>
        </p:nvSpPr>
        <p:spPr>
          <a:xfrm>
            <a:off x="9008414" y="1574164"/>
            <a:ext cx="1258216" cy="3538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A6FFF24-6AA4-9697-4425-67E2DA9C20F7}"/>
              </a:ext>
            </a:extLst>
          </p:cNvPr>
          <p:cNvSpPr/>
          <p:nvPr/>
        </p:nvSpPr>
        <p:spPr>
          <a:xfrm>
            <a:off x="9010111" y="529122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9F17388-04E3-3AE8-1C05-EE3C59B16C0B}"/>
              </a:ext>
            </a:extLst>
          </p:cNvPr>
          <p:cNvSpPr/>
          <p:nvPr/>
        </p:nvSpPr>
        <p:spPr>
          <a:xfrm>
            <a:off x="10035236" y="434268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8C2F20E-8B8C-9658-0F50-1A3DC46D1478}"/>
              </a:ext>
            </a:extLst>
          </p:cNvPr>
          <p:cNvSpPr/>
          <p:nvPr/>
        </p:nvSpPr>
        <p:spPr>
          <a:xfrm>
            <a:off x="10924875" y="1199227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C18A1F8-A88B-1084-6F38-720910D34DAA}"/>
              </a:ext>
            </a:extLst>
          </p:cNvPr>
          <p:cNvSpPr/>
          <p:nvPr/>
        </p:nvSpPr>
        <p:spPr>
          <a:xfrm>
            <a:off x="10880166" y="2097159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E3F8496-6646-93BF-FDD9-9B30EE4F0EB0}"/>
              </a:ext>
            </a:extLst>
          </p:cNvPr>
          <p:cNvSpPr/>
          <p:nvPr/>
        </p:nvSpPr>
        <p:spPr>
          <a:xfrm>
            <a:off x="10068965" y="280108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5E4E18F-8428-4F6D-E8F1-72BAA2EB0F9C}"/>
              </a:ext>
            </a:extLst>
          </p:cNvPr>
          <p:cNvSpPr/>
          <p:nvPr/>
        </p:nvSpPr>
        <p:spPr>
          <a:xfrm>
            <a:off x="9030843" y="280108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E52DFDE-DF1C-CE14-B488-D33A0B29C90E}"/>
              </a:ext>
            </a:extLst>
          </p:cNvPr>
          <p:cNvSpPr/>
          <p:nvPr/>
        </p:nvSpPr>
        <p:spPr>
          <a:xfrm>
            <a:off x="8301798" y="201510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E12C279-8051-760A-B987-4264F73B8810}"/>
              </a:ext>
            </a:extLst>
          </p:cNvPr>
          <p:cNvSpPr/>
          <p:nvPr/>
        </p:nvSpPr>
        <p:spPr>
          <a:xfrm>
            <a:off x="8331583" y="124423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0AA338-1050-892F-66D8-5E402855C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657" y="3808126"/>
            <a:ext cx="3254874" cy="1645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8D467E-81EA-D769-7F7F-F539F2063584}"/>
              </a:ext>
            </a:extLst>
          </p:cNvPr>
          <p:cNvSpPr txBox="1"/>
          <p:nvPr/>
        </p:nvSpPr>
        <p:spPr>
          <a:xfrm>
            <a:off x="3180946" y="5720617"/>
            <a:ext cx="1196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세계 </a:t>
            </a:r>
            <a:r>
              <a:rPr lang="en-US" altLang="ko-KR" sz="1500" dirty="0"/>
              <a:t>2</a:t>
            </a:r>
            <a:r>
              <a:rPr lang="ko-KR" altLang="en-US" sz="1500" dirty="0"/>
              <a:t>만개</a:t>
            </a:r>
          </a:p>
        </p:txBody>
      </p:sp>
      <p:pic>
        <p:nvPicPr>
          <p:cNvPr id="15" name="그림 14" descr="파일:Bitcoin logo.svg">
            <a:extLst>
              <a:ext uri="{FF2B5EF4-FFF2-40B4-BE49-F238E27FC236}">
                <a16:creationId xmlns:a16="http://schemas.microsoft.com/office/drawing/2014/main" id="{1E32A3C2-2A24-C554-94F2-BBDC8019BC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324" y="5617041"/>
            <a:ext cx="1683518" cy="3520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8C7ED45-8DE5-AFCB-5C29-E3BD1533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84" y="3808126"/>
            <a:ext cx="3254874" cy="1645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125F13-B9BC-2BA3-984A-51BF90865B2E}"/>
              </a:ext>
            </a:extLst>
          </p:cNvPr>
          <p:cNvSpPr txBox="1"/>
          <p:nvPr/>
        </p:nvSpPr>
        <p:spPr>
          <a:xfrm>
            <a:off x="7173373" y="5720617"/>
            <a:ext cx="14907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세계 </a:t>
            </a:r>
            <a:r>
              <a:rPr lang="en-US" altLang="ko-KR" sz="1500" dirty="0"/>
              <a:t>1</a:t>
            </a:r>
            <a:r>
              <a:rPr lang="ko-KR" altLang="en-US" sz="1500" dirty="0"/>
              <a:t>만개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3FA53B6-E089-15B3-BEE5-B7C7D0662D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1151" y="5528426"/>
            <a:ext cx="593294" cy="5881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672504-9E57-9EA5-C6C1-3D110A5BF0BE}"/>
              </a:ext>
            </a:extLst>
          </p:cNvPr>
          <p:cNvSpPr txBox="1"/>
          <p:nvPr/>
        </p:nvSpPr>
        <p:spPr>
          <a:xfrm>
            <a:off x="5768870" y="5637849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55563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0E463-8C83-0677-08FE-BBF47F84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F842F2-4D54-9BDE-2580-B691D2A5A10D}"/>
              </a:ext>
            </a:extLst>
          </p:cNvPr>
          <p:cNvSpPr txBox="1"/>
          <p:nvPr/>
        </p:nvSpPr>
        <p:spPr>
          <a:xfrm>
            <a:off x="1219398" y="525840"/>
            <a:ext cx="437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비트코인</a:t>
            </a:r>
            <a:r>
              <a:rPr lang="ko-KR" altLang="en-US" dirty="0"/>
              <a:t> 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2</a:t>
            </a:r>
            <a:r>
              <a:rPr lang="ko-KR" altLang="en-US" dirty="0"/>
              <a:t>만개 서버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이더리움</a:t>
            </a:r>
            <a:r>
              <a:rPr lang="ko-KR" altLang="en-US" dirty="0"/>
              <a:t> 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1</a:t>
            </a:r>
            <a:r>
              <a:rPr lang="ko-KR" altLang="en-US" dirty="0"/>
              <a:t>만개 서버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XRP </a:t>
            </a:r>
            <a:r>
              <a:rPr lang="ko-KR" altLang="en-US" dirty="0"/>
              <a:t>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35</a:t>
            </a:r>
            <a:r>
              <a:rPr lang="ko-KR" altLang="en-US" dirty="0"/>
              <a:t>개 서버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ADAA5-B832-F5ED-9195-522F57B4E0E2}"/>
              </a:ext>
            </a:extLst>
          </p:cNvPr>
          <p:cNvSpPr txBox="1"/>
          <p:nvPr/>
        </p:nvSpPr>
        <p:spPr>
          <a:xfrm>
            <a:off x="1219398" y="5415280"/>
            <a:ext cx="3236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계좌이체 </a:t>
            </a:r>
            <a:r>
              <a:rPr lang="en-US" altLang="ko-KR" dirty="0"/>
              <a:t>: </a:t>
            </a:r>
            <a:r>
              <a:rPr lang="ko-KR" altLang="en-US" dirty="0"/>
              <a:t>금융공동망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669AC5-B7B9-2684-ADA7-D69B9AA90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168" y="459291"/>
            <a:ext cx="3753687" cy="189733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4AF403-C23D-B4E6-C1B0-D5BD1707C8AA}"/>
              </a:ext>
            </a:extLst>
          </p:cNvPr>
          <p:cNvCxnSpPr>
            <a:cxnSpLocks/>
          </p:cNvCxnSpPr>
          <p:nvPr/>
        </p:nvCxnSpPr>
        <p:spPr>
          <a:xfrm flipH="1">
            <a:off x="8217783" y="5415280"/>
            <a:ext cx="232368" cy="111790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AB363F1-E5BB-01D3-5C96-F0345953D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48" y="4661204"/>
            <a:ext cx="802740" cy="2806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6DF32C-34F7-8F59-4821-318C472D7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144" y="3716296"/>
            <a:ext cx="848007" cy="2379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383B3C-2EE4-2EC4-796C-D945209F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11" y="5579587"/>
            <a:ext cx="842109" cy="2021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6B7440-E8EF-4752-232D-86E6A73EF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07" y="3588834"/>
            <a:ext cx="1004611" cy="2496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8F453F-57B2-38D9-6EC0-A0D2CF236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412" y="5542548"/>
            <a:ext cx="1196560" cy="210782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4140367-8710-F347-D48C-E97D0ACCD08D}"/>
              </a:ext>
            </a:extLst>
          </p:cNvPr>
          <p:cNvCxnSpPr>
            <a:cxnSpLocks/>
          </p:cNvCxnSpPr>
          <p:nvPr/>
        </p:nvCxnSpPr>
        <p:spPr>
          <a:xfrm>
            <a:off x="8189107" y="4039330"/>
            <a:ext cx="333470" cy="102211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8B48E0E-144A-875E-EBF3-C7036E29A815}"/>
              </a:ext>
            </a:extLst>
          </p:cNvPr>
          <p:cNvCxnSpPr>
            <a:cxnSpLocks/>
          </p:cNvCxnSpPr>
          <p:nvPr/>
        </p:nvCxnSpPr>
        <p:spPr>
          <a:xfrm flipH="1">
            <a:off x="7462564" y="5415280"/>
            <a:ext cx="689036" cy="2093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934C746-FB15-474D-5C2A-FEA5FD5064E8}"/>
              </a:ext>
            </a:extLst>
          </p:cNvPr>
          <p:cNvCxnSpPr>
            <a:cxnSpLocks/>
          </p:cNvCxnSpPr>
          <p:nvPr/>
        </p:nvCxnSpPr>
        <p:spPr>
          <a:xfrm flipH="1">
            <a:off x="9409816" y="4803585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F72504D-49F2-F666-C87F-9482866BA659}"/>
              </a:ext>
            </a:extLst>
          </p:cNvPr>
          <p:cNvCxnSpPr>
            <a:cxnSpLocks/>
          </p:cNvCxnSpPr>
          <p:nvPr/>
        </p:nvCxnSpPr>
        <p:spPr>
          <a:xfrm flipH="1" flipV="1">
            <a:off x="9420378" y="5408274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95AEC36-06E2-E9CF-1ADB-7E0660479C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223" y="4706523"/>
            <a:ext cx="1196558" cy="1827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09707A0-1294-60A7-14C0-C784CE0E01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6546" y="6548299"/>
            <a:ext cx="1028986" cy="1918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0E369BA-786F-4667-6237-55265EA8CF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8452" y="6522623"/>
            <a:ext cx="706971" cy="243198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16E8A38-F2F9-9133-DF0B-FD158674EB32}"/>
              </a:ext>
            </a:extLst>
          </p:cNvPr>
          <p:cNvCxnSpPr>
            <a:cxnSpLocks/>
          </p:cNvCxnSpPr>
          <p:nvPr/>
        </p:nvCxnSpPr>
        <p:spPr>
          <a:xfrm>
            <a:off x="8984303" y="5415280"/>
            <a:ext cx="345547" cy="110734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75E146F-1136-6F74-5872-1CCB2302BD5A}"/>
              </a:ext>
            </a:extLst>
          </p:cNvPr>
          <p:cNvCxnSpPr>
            <a:cxnSpLocks/>
          </p:cNvCxnSpPr>
          <p:nvPr/>
        </p:nvCxnSpPr>
        <p:spPr>
          <a:xfrm flipH="1">
            <a:off x="8916546" y="4028771"/>
            <a:ext cx="384628" cy="10326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D4706CE-A751-3830-A13E-47173325A3FF}"/>
              </a:ext>
            </a:extLst>
          </p:cNvPr>
          <p:cNvCxnSpPr>
            <a:cxnSpLocks/>
          </p:cNvCxnSpPr>
          <p:nvPr/>
        </p:nvCxnSpPr>
        <p:spPr>
          <a:xfrm flipH="1" flipV="1">
            <a:off x="7470108" y="4835452"/>
            <a:ext cx="681492" cy="23790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26D75FF-49E4-D03D-8183-6402DB683247}"/>
              </a:ext>
            </a:extLst>
          </p:cNvPr>
          <p:cNvSpPr txBox="1"/>
          <p:nvPr/>
        </p:nvSpPr>
        <p:spPr>
          <a:xfrm>
            <a:off x="8091783" y="5061441"/>
            <a:ext cx="139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금융공동망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BD88D6-402C-D4DA-E487-6CD1B1914149}"/>
              </a:ext>
            </a:extLst>
          </p:cNvPr>
          <p:cNvSpPr/>
          <p:nvPr/>
        </p:nvSpPr>
        <p:spPr>
          <a:xfrm>
            <a:off x="9108861" y="3855656"/>
            <a:ext cx="3115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7D1057-E3FC-8333-9AC7-CF934655A92C}"/>
              </a:ext>
            </a:extLst>
          </p:cNvPr>
          <p:cNvSpPr/>
          <p:nvPr/>
        </p:nvSpPr>
        <p:spPr>
          <a:xfrm>
            <a:off x="9980634" y="4630805"/>
            <a:ext cx="350045" cy="39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F70D859-AF20-580B-68E6-CDB6E1640DC8}"/>
              </a:ext>
            </a:extLst>
          </p:cNvPr>
          <p:cNvSpPr/>
          <p:nvPr/>
        </p:nvSpPr>
        <p:spPr>
          <a:xfrm>
            <a:off x="8151600" y="5061441"/>
            <a:ext cx="1258216" cy="3538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AA2745-4DF1-8E64-47C0-22ABB8557F94}"/>
              </a:ext>
            </a:extLst>
          </p:cNvPr>
          <p:cNvSpPr/>
          <p:nvPr/>
        </p:nvSpPr>
        <p:spPr>
          <a:xfrm>
            <a:off x="8153297" y="4016399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7195CA-F071-B069-15C0-FA5E88324DE0}"/>
              </a:ext>
            </a:extLst>
          </p:cNvPr>
          <p:cNvSpPr/>
          <p:nvPr/>
        </p:nvSpPr>
        <p:spPr>
          <a:xfrm>
            <a:off x="9178422" y="3921545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3F1DE1-C1DE-FD77-229B-118D986BCC0C}"/>
              </a:ext>
            </a:extLst>
          </p:cNvPr>
          <p:cNvSpPr/>
          <p:nvPr/>
        </p:nvSpPr>
        <p:spPr>
          <a:xfrm>
            <a:off x="10068061" y="4686504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6579B4-290E-0116-AE32-25DD277AC7FF}"/>
              </a:ext>
            </a:extLst>
          </p:cNvPr>
          <p:cNvSpPr/>
          <p:nvPr/>
        </p:nvSpPr>
        <p:spPr>
          <a:xfrm>
            <a:off x="10023352" y="558443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8E6ABA-5913-9DBD-18F7-8ACC503A1BB0}"/>
              </a:ext>
            </a:extLst>
          </p:cNvPr>
          <p:cNvSpPr/>
          <p:nvPr/>
        </p:nvSpPr>
        <p:spPr>
          <a:xfrm>
            <a:off x="9212151" y="628836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DCA5F5-D6C5-5934-C0F8-FCEBF2C2321F}"/>
              </a:ext>
            </a:extLst>
          </p:cNvPr>
          <p:cNvSpPr/>
          <p:nvPr/>
        </p:nvSpPr>
        <p:spPr>
          <a:xfrm>
            <a:off x="8174029" y="628836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36611E-3FDF-D0E4-A2EE-6BB6F6AEF1EA}"/>
              </a:ext>
            </a:extLst>
          </p:cNvPr>
          <p:cNvSpPr/>
          <p:nvPr/>
        </p:nvSpPr>
        <p:spPr>
          <a:xfrm>
            <a:off x="7444984" y="550238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91518A7-A1A1-0F33-4BB2-6EC21C398876}"/>
              </a:ext>
            </a:extLst>
          </p:cNvPr>
          <p:cNvSpPr/>
          <p:nvPr/>
        </p:nvSpPr>
        <p:spPr>
          <a:xfrm>
            <a:off x="7474769" y="473151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79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B1A3-FA9C-D322-0EE1-7C228CBA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F03C20-495C-2B38-52F9-B42990C655B9}"/>
              </a:ext>
            </a:extLst>
          </p:cNvPr>
          <p:cNvSpPr txBox="1"/>
          <p:nvPr/>
        </p:nvSpPr>
        <p:spPr>
          <a:xfrm>
            <a:off x="1219398" y="525840"/>
            <a:ext cx="437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비트코인</a:t>
            </a:r>
            <a:r>
              <a:rPr lang="ko-KR" altLang="en-US" dirty="0"/>
              <a:t> 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2</a:t>
            </a:r>
            <a:r>
              <a:rPr lang="ko-KR" altLang="en-US" dirty="0"/>
              <a:t>만개 서버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이더리움</a:t>
            </a:r>
            <a:r>
              <a:rPr lang="ko-KR" altLang="en-US" dirty="0"/>
              <a:t> 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1</a:t>
            </a:r>
            <a:r>
              <a:rPr lang="ko-KR" altLang="en-US" dirty="0"/>
              <a:t>만개 서버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XRP </a:t>
            </a:r>
            <a:r>
              <a:rPr lang="ko-KR" altLang="en-US" dirty="0"/>
              <a:t>네트워크 </a:t>
            </a:r>
            <a:r>
              <a:rPr lang="en-US" altLang="ko-KR" dirty="0"/>
              <a:t>: </a:t>
            </a:r>
            <a:r>
              <a:rPr lang="ko-KR" altLang="en-US" dirty="0"/>
              <a:t>세계 </a:t>
            </a:r>
            <a:r>
              <a:rPr lang="en-US" altLang="ko-KR" dirty="0"/>
              <a:t>35</a:t>
            </a:r>
            <a:r>
              <a:rPr lang="ko-KR" altLang="en-US" dirty="0"/>
              <a:t>개 서버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2C83F-664B-DC47-6AEA-A2EF0E0619E2}"/>
              </a:ext>
            </a:extLst>
          </p:cNvPr>
          <p:cNvSpPr txBox="1"/>
          <p:nvPr/>
        </p:nvSpPr>
        <p:spPr>
          <a:xfrm>
            <a:off x="1219398" y="5415280"/>
            <a:ext cx="3236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계좌이체 </a:t>
            </a:r>
            <a:r>
              <a:rPr lang="en-US" altLang="ko-KR" dirty="0"/>
              <a:t>: </a:t>
            </a:r>
            <a:r>
              <a:rPr lang="ko-KR" altLang="en-US" dirty="0"/>
              <a:t>금융공동망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FEADE8-1B89-8F27-5D1C-B65CEFE1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168" y="459291"/>
            <a:ext cx="3753687" cy="189733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4BBE63-2CD5-B385-E604-ABDAC38E6FAE}"/>
              </a:ext>
            </a:extLst>
          </p:cNvPr>
          <p:cNvCxnSpPr>
            <a:cxnSpLocks/>
          </p:cNvCxnSpPr>
          <p:nvPr/>
        </p:nvCxnSpPr>
        <p:spPr>
          <a:xfrm flipH="1">
            <a:off x="8217783" y="5415280"/>
            <a:ext cx="232368" cy="111790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BAB5B483-A6E4-4A50-88A1-34DC4D0F3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48" y="4661204"/>
            <a:ext cx="802740" cy="2806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161B17-F672-4957-4692-B86F6157C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144" y="3716296"/>
            <a:ext cx="848007" cy="2379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D72F07-48CD-8A8B-A565-AFE688349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11" y="5579587"/>
            <a:ext cx="842109" cy="2021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053B165-01C8-72D3-9F96-72C00E4E5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07" y="3588834"/>
            <a:ext cx="1004611" cy="2496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A89CD3-0A78-C35A-AD13-9968FEB49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412" y="5542548"/>
            <a:ext cx="1196560" cy="210782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F8661AE-3C54-A0DE-2779-B888CFB3DEBC}"/>
              </a:ext>
            </a:extLst>
          </p:cNvPr>
          <p:cNvCxnSpPr>
            <a:cxnSpLocks/>
          </p:cNvCxnSpPr>
          <p:nvPr/>
        </p:nvCxnSpPr>
        <p:spPr>
          <a:xfrm>
            <a:off x="8189107" y="4039330"/>
            <a:ext cx="333470" cy="102211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7F59BCA-0122-E5FF-0AF4-88D298890551}"/>
              </a:ext>
            </a:extLst>
          </p:cNvPr>
          <p:cNvCxnSpPr>
            <a:cxnSpLocks/>
          </p:cNvCxnSpPr>
          <p:nvPr/>
        </p:nvCxnSpPr>
        <p:spPr>
          <a:xfrm flipH="1">
            <a:off x="7462564" y="5415280"/>
            <a:ext cx="689036" cy="2093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C122880-58D2-FB52-5C52-07C8140C5944}"/>
              </a:ext>
            </a:extLst>
          </p:cNvPr>
          <p:cNvCxnSpPr>
            <a:cxnSpLocks/>
          </p:cNvCxnSpPr>
          <p:nvPr/>
        </p:nvCxnSpPr>
        <p:spPr>
          <a:xfrm flipH="1">
            <a:off x="9409816" y="4803585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4A1D2C8-E3ED-39A7-7994-593BA9DCDCE9}"/>
              </a:ext>
            </a:extLst>
          </p:cNvPr>
          <p:cNvCxnSpPr>
            <a:cxnSpLocks/>
          </p:cNvCxnSpPr>
          <p:nvPr/>
        </p:nvCxnSpPr>
        <p:spPr>
          <a:xfrm flipH="1" flipV="1">
            <a:off x="9420378" y="5408274"/>
            <a:ext cx="716738" cy="27652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BECCE1B8-723E-DB35-7AE1-E27A0A1DF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223" y="4706523"/>
            <a:ext cx="1196558" cy="1827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3DC542D-6FA5-3926-59DC-279A5724F3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6546" y="6548299"/>
            <a:ext cx="1028986" cy="1918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E2909F6-CE4E-84DF-417C-B3DD84D237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8452" y="6522623"/>
            <a:ext cx="706971" cy="243198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07210B-9897-8450-0CB5-2B87836C2D24}"/>
              </a:ext>
            </a:extLst>
          </p:cNvPr>
          <p:cNvCxnSpPr>
            <a:cxnSpLocks/>
          </p:cNvCxnSpPr>
          <p:nvPr/>
        </p:nvCxnSpPr>
        <p:spPr>
          <a:xfrm>
            <a:off x="8984303" y="5415280"/>
            <a:ext cx="345547" cy="110734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5F69E5B-4483-9434-5D0B-8D848AAE40A0}"/>
              </a:ext>
            </a:extLst>
          </p:cNvPr>
          <p:cNvCxnSpPr>
            <a:cxnSpLocks/>
          </p:cNvCxnSpPr>
          <p:nvPr/>
        </p:nvCxnSpPr>
        <p:spPr>
          <a:xfrm flipH="1">
            <a:off x="8916546" y="4028771"/>
            <a:ext cx="384628" cy="10326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4D35D8D-5DC3-5D63-E630-41B29190D1C2}"/>
              </a:ext>
            </a:extLst>
          </p:cNvPr>
          <p:cNvCxnSpPr>
            <a:cxnSpLocks/>
          </p:cNvCxnSpPr>
          <p:nvPr/>
        </p:nvCxnSpPr>
        <p:spPr>
          <a:xfrm flipH="1" flipV="1">
            <a:off x="7470108" y="4835452"/>
            <a:ext cx="681492" cy="23790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0512DC-7BC5-AB9D-7D24-2FE977F83FF8}"/>
              </a:ext>
            </a:extLst>
          </p:cNvPr>
          <p:cNvSpPr txBox="1"/>
          <p:nvPr/>
        </p:nvSpPr>
        <p:spPr>
          <a:xfrm>
            <a:off x="8091783" y="5061441"/>
            <a:ext cx="139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금융공동망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0FB39D-FAB0-02D1-9494-1EE5C33A6768}"/>
              </a:ext>
            </a:extLst>
          </p:cNvPr>
          <p:cNvSpPr/>
          <p:nvPr/>
        </p:nvSpPr>
        <p:spPr>
          <a:xfrm>
            <a:off x="9108861" y="3855656"/>
            <a:ext cx="3115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D396B29-2DE9-8283-EB86-5168A7294040}"/>
              </a:ext>
            </a:extLst>
          </p:cNvPr>
          <p:cNvSpPr/>
          <p:nvPr/>
        </p:nvSpPr>
        <p:spPr>
          <a:xfrm>
            <a:off x="9980634" y="4630805"/>
            <a:ext cx="350045" cy="39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C1CECD-DCF2-DB97-6712-37D134B90610}"/>
              </a:ext>
            </a:extLst>
          </p:cNvPr>
          <p:cNvSpPr/>
          <p:nvPr/>
        </p:nvSpPr>
        <p:spPr>
          <a:xfrm>
            <a:off x="8151600" y="5061441"/>
            <a:ext cx="1258216" cy="3538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22CEA1-012A-DD73-A1F1-1A5D2004C269}"/>
              </a:ext>
            </a:extLst>
          </p:cNvPr>
          <p:cNvSpPr/>
          <p:nvPr/>
        </p:nvSpPr>
        <p:spPr>
          <a:xfrm>
            <a:off x="8153297" y="4016399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521353-DFED-47F6-7C76-F693F18AC2A0}"/>
              </a:ext>
            </a:extLst>
          </p:cNvPr>
          <p:cNvSpPr/>
          <p:nvPr/>
        </p:nvSpPr>
        <p:spPr>
          <a:xfrm>
            <a:off x="9178422" y="3921545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244E419-C22B-9AD2-80D1-2ABD443EF647}"/>
              </a:ext>
            </a:extLst>
          </p:cNvPr>
          <p:cNvSpPr/>
          <p:nvPr/>
        </p:nvSpPr>
        <p:spPr>
          <a:xfrm>
            <a:off x="10068061" y="4686504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F3AA203-2464-A555-B8FD-3E94CB13DB71}"/>
              </a:ext>
            </a:extLst>
          </p:cNvPr>
          <p:cNvSpPr/>
          <p:nvPr/>
        </p:nvSpPr>
        <p:spPr>
          <a:xfrm>
            <a:off x="10023352" y="5584436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037197-871E-F68C-4F9C-1BCB8BE1FA69}"/>
              </a:ext>
            </a:extLst>
          </p:cNvPr>
          <p:cNvSpPr/>
          <p:nvPr/>
        </p:nvSpPr>
        <p:spPr>
          <a:xfrm>
            <a:off x="9212151" y="628836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0A32FC-E3A4-684B-8D8B-EFEE65A78C4E}"/>
              </a:ext>
            </a:extLst>
          </p:cNvPr>
          <p:cNvSpPr/>
          <p:nvPr/>
        </p:nvSpPr>
        <p:spPr>
          <a:xfrm>
            <a:off x="8174029" y="628836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F3C3A3-6B22-2C96-448E-2BA58889399B}"/>
              </a:ext>
            </a:extLst>
          </p:cNvPr>
          <p:cNvSpPr/>
          <p:nvPr/>
        </p:nvSpPr>
        <p:spPr>
          <a:xfrm>
            <a:off x="7444984" y="550238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3F10D7-FE3B-D22A-DBB1-CF0A0EE2CB19}"/>
              </a:ext>
            </a:extLst>
          </p:cNvPr>
          <p:cNvSpPr/>
          <p:nvPr/>
        </p:nvSpPr>
        <p:spPr>
          <a:xfrm>
            <a:off x="7474769" y="4731513"/>
            <a:ext cx="162962" cy="2444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E5CCB3-2FAC-D282-AEA6-66511F61DA54}"/>
              </a:ext>
            </a:extLst>
          </p:cNvPr>
          <p:cNvSpPr/>
          <p:nvPr/>
        </p:nvSpPr>
        <p:spPr>
          <a:xfrm>
            <a:off x="1219398" y="2633555"/>
            <a:ext cx="3902044" cy="4154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새로운 코인 개발 </a:t>
            </a:r>
            <a:r>
              <a:rPr lang="en-US" altLang="ko-KR" sz="1500" b="1" dirty="0">
                <a:solidFill>
                  <a:schemeClr val="tx1"/>
                </a:solidFill>
              </a:rPr>
              <a:t>=&gt; </a:t>
            </a:r>
            <a:r>
              <a:rPr lang="ko-KR" altLang="en-US" sz="1500" b="1" dirty="0">
                <a:solidFill>
                  <a:schemeClr val="tx1"/>
                </a:solidFill>
              </a:rPr>
              <a:t>네트워크도 개발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A3BD5F-1699-3D07-AFAA-D3F3DEEB739E}"/>
              </a:ext>
            </a:extLst>
          </p:cNvPr>
          <p:cNvSpPr txBox="1"/>
          <p:nvPr/>
        </p:nvSpPr>
        <p:spPr>
          <a:xfrm>
            <a:off x="1219398" y="3152001"/>
            <a:ext cx="2836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치악산 코인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코인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치악산 네트워크</a:t>
            </a:r>
          </a:p>
        </p:txBody>
      </p:sp>
    </p:spTree>
    <p:extLst>
      <p:ext uri="{BB962C8B-B14F-4D97-AF65-F5344CB8AC3E}">
        <p14:creationId xmlns:p14="http://schemas.microsoft.com/office/powerpoint/2010/main" val="1897206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7322-6458-164C-6BF1-B22B0C0D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FD7B969-1538-D02D-7AC8-6F9EAC4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68" y="4355452"/>
            <a:ext cx="3426464" cy="173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8A61354-3D0A-F211-2DFF-248D48E20933}"/>
              </a:ext>
            </a:extLst>
          </p:cNvPr>
          <p:cNvSpPr txBox="1"/>
          <p:nvPr/>
        </p:nvSpPr>
        <p:spPr>
          <a:xfrm>
            <a:off x="884420" y="752832"/>
            <a:ext cx="4368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치악산 코인 </a:t>
            </a:r>
            <a:r>
              <a:rPr lang="en-US" altLang="ko-KR" b="1" dirty="0"/>
              <a:t>: </a:t>
            </a:r>
            <a:r>
              <a:rPr lang="ko-KR" altLang="en-US" b="1" dirty="0"/>
              <a:t>코인 </a:t>
            </a:r>
            <a:r>
              <a:rPr lang="en-US" altLang="ko-KR" b="1" dirty="0"/>
              <a:t>+ </a:t>
            </a:r>
            <a:r>
              <a:rPr lang="ko-KR" altLang="en-US" b="1" dirty="0"/>
              <a:t>치악산 네트워크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FE4F60D-65C4-0A2A-B1DC-776F7FC33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72" y="1535793"/>
            <a:ext cx="2836554" cy="585237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EE51CB18-3CB1-6580-51C6-C21F736B4E41}"/>
              </a:ext>
            </a:extLst>
          </p:cNvPr>
          <p:cNvSpPr/>
          <p:nvPr/>
        </p:nvSpPr>
        <p:spPr>
          <a:xfrm>
            <a:off x="974954" y="1620663"/>
            <a:ext cx="3902044" cy="4154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코인 개발 </a:t>
            </a:r>
            <a:r>
              <a:rPr lang="en-US" altLang="ko-KR" sz="1500" b="1" dirty="0">
                <a:solidFill>
                  <a:schemeClr val="tx1"/>
                </a:solidFill>
              </a:rPr>
              <a:t>: </a:t>
            </a:r>
            <a:r>
              <a:rPr lang="ko-KR" altLang="en-US" sz="1500" b="1" dirty="0" err="1">
                <a:solidFill>
                  <a:schemeClr val="tx1"/>
                </a:solidFill>
              </a:rPr>
              <a:t>파이썬으로</a:t>
            </a:r>
            <a:r>
              <a:rPr lang="ko-KR" altLang="en-US" sz="1500" b="1" dirty="0">
                <a:solidFill>
                  <a:schemeClr val="tx1"/>
                </a:solidFill>
              </a:rPr>
              <a:t> 블록체인 코딩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B2AF371-A6CD-23BC-22C7-B252951ECD09}"/>
              </a:ext>
            </a:extLst>
          </p:cNvPr>
          <p:cNvSpPr/>
          <p:nvPr/>
        </p:nvSpPr>
        <p:spPr>
          <a:xfrm>
            <a:off x="974954" y="4406342"/>
            <a:ext cx="3902044" cy="4154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치악산 네트워크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692C29-2455-6385-6AF0-8C0957AC27AC}"/>
              </a:ext>
            </a:extLst>
          </p:cNvPr>
          <p:cNvSpPr/>
          <p:nvPr/>
        </p:nvSpPr>
        <p:spPr>
          <a:xfrm>
            <a:off x="1355200" y="4982837"/>
            <a:ext cx="2992466" cy="2793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홍길동 </a:t>
            </a:r>
            <a:r>
              <a:rPr lang="en-US" altLang="ko-KR" sz="1200" dirty="0">
                <a:solidFill>
                  <a:schemeClr val="tx1"/>
                </a:solidFill>
              </a:rPr>
              <a:t>=&gt; </a:t>
            </a:r>
            <a:r>
              <a:rPr lang="ko-KR" altLang="en-US" sz="1200" dirty="0">
                <a:solidFill>
                  <a:schemeClr val="tx1"/>
                </a:solidFill>
              </a:rPr>
              <a:t>이건강에게 </a:t>
            </a:r>
            <a:r>
              <a:rPr lang="en-US" altLang="ko-KR" sz="1200" dirty="0">
                <a:solidFill>
                  <a:schemeClr val="tx1"/>
                </a:solidFill>
              </a:rPr>
              <a:t>100 </a:t>
            </a:r>
            <a:r>
              <a:rPr lang="ko-KR" altLang="en-US" sz="1200" dirty="0">
                <a:solidFill>
                  <a:schemeClr val="tx1"/>
                </a:solidFill>
              </a:rPr>
              <a:t>코인 송금</a:t>
            </a:r>
          </a:p>
        </p:txBody>
      </p:sp>
    </p:spTree>
    <p:extLst>
      <p:ext uri="{BB962C8B-B14F-4D97-AF65-F5344CB8AC3E}">
        <p14:creationId xmlns:p14="http://schemas.microsoft.com/office/powerpoint/2010/main" val="3281424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8020-70FC-B66C-47E9-82F11D40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B7DBF73-521B-2EA0-D3E0-EE02B480F673}"/>
              </a:ext>
            </a:extLst>
          </p:cNvPr>
          <p:cNvSpPr txBox="1"/>
          <p:nvPr/>
        </p:nvSpPr>
        <p:spPr>
          <a:xfrm>
            <a:off x="884420" y="752832"/>
            <a:ext cx="4368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치악산 코인 </a:t>
            </a:r>
            <a:r>
              <a:rPr lang="en-US" altLang="ko-KR" b="1" dirty="0"/>
              <a:t>: </a:t>
            </a:r>
            <a:r>
              <a:rPr lang="ko-KR" altLang="en-US" b="1" dirty="0"/>
              <a:t>코인 </a:t>
            </a:r>
            <a:r>
              <a:rPr lang="en-US" altLang="ko-KR" b="1" dirty="0"/>
              <a:t>+ </a:t>
            </a:r>
            <a:r>
              <a:rPr lang="ko-KR" altLang="en-US" b="1" dirty="0"/>
              <a:t>치악산 네트워크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2421854-FDE3-9183-05B2-3CB31294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72" y="1535793"/>
            <a:ext cx="2836554" cy="585237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2A2187EE-5BDD-8992-6D60-2C3FB88086AF}"/>
              </a:ext>
            </a:extLst>
          </p:cNvPr>
          <p:cNvSpPr/>
          <p:nvPr/>
        </p:nvSpPr>
        <p:spPr>
          <a:xfrm>
            <a:off x="974954" y="1620663"/>
            <a:ext cx="3902044" cy="4154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코인 개발 </a:t>
            </a:r>
            <a:r>
              <a:rPr lang="en-US" altLang="ko-KR" sz="1500" b="1" dirty="0">
                <a:solidFill>
                  <a:schemeClr val="tx1"/>
                </a:solidFill>
              </a:rPr>
              <a:t>: </a:t>
            </a:r>
            <a:r>
              <a:rPr lang="ko-KR" altLang="en-US" sz="1500" b="1" dirty="0" err="1">
                <a:solidFill>
                  <a:schemeClr val="tx1"/>
                </a:solidFill>
              </a:rPr>
              <a:t>파이썬으로</a:t>
            </a:r>
            <a:r>
              <a:rPr lang="ko-KR" altLang="en-US" sz="1500" b="1" dirty="0">
                <a:solidFill>
                  <a:schemeClr val="tx1"/>
                </a:solidFill>
              </a:rPr>
              <a:t> 블록체인 코딩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25692CB-32DE-621C-9E0E-57CBFDE9F809}"/>
              </a:ext>
            </a:extLst>
          </p:cNvPr>
          <p:cNvSpPr/>
          <p:nvPr/>
        </p:nvSpPr>
        <p:spPr>
          <a:xfrm>
            <a:off x="974954" y="4406342"/>
            <a:ext cx="3902044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이더리움</a:t>
            </a:r>
            <a:r>
              <a:rPr lang="ko-KR" altLang="en-US" sz="1500" b="1" dirty="0">
                <a:solidFill>
                  <a:schemeClr val="tx1"/>
                </a:solidFill>
              </a:rPr>
              <a:t> 네트워크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25B6CA5-B346-E98B-0E1E-CC1E58C9FC48}"/>
              </a:ext>
            </a:extLst>
          </p:cNvPr>
          <p:cNvSpPr/>
          <p:nvPr/>
        </p:nvSpPr>
        <p:spPr>
          <a:xfrm>
            <a:off x="1355200" y="4982837"/>
            <a:ext cx="2992466" cy="2793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홍길동 </a:t>
            </a:r>
            <a:r>
              <a:rPr lang="en-US" altLang="ko-KR" sz="1200" dirty="0">
                <a:solidFill>
                  <a:schemeClr val="tx1"/>
                </a:solidFill>
              </a:rPr>
              <a:t>=&gt; </a:t>
            </a:r>
            <a:r>
              <a:rPr lang="ko-KR" altLang="en-US" sz="1200" dirty="0">
                <a:solidFill>
                  <a:schemeClr val="tx1"/>
                </a:solidFill>
              </a:rPr>
              <a:t>이건강에게 </a:t>
            </a:r>
            <a:r>
              <a:rPr lang="en-US" altLang="ko-KR" sz="1200" dirty="0">
                <a:solidFill>
                  <a:schemeClr val="tx1"/>
                </a:solidFill>
              </a:rPr>
              <a:t>100 </a:t>
            </a:r>
            <a:r>
              <a:rPr lang="ko-KR" altLang="en-US" sz="1200" dirty="0">
                <a:solidFill>
                  <a:schemeClr val="tx1"/>
                </a:solidFill>
              </a:rPr>
              <a:t>코인 송금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F9CDBF-8B23-6873-4236-C5F99A355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084" y="4269853"/>
            <a:ext cx="3254874" cy="1645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B65FFB-E0FD-8163-ADAA-A5B7A7893018}"/>
              </a:ext>
            </a:extLst>
          </p:cNvPr>
          <p:cNvSpPr txBox="1"/>
          <p:nvPr/>
        </p:nvSpPr>
        <p:spPr>
          <a:xfrm>
            <a:off x="7173373" y="6182344"/>
            <a:ext cx="14907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세계 </a:t>
            </a:r>
            <a:r>
              <a:rPr lang="en-US" altLang="ko-KR" sz="1500" dirty="0"/>
              <a:t>1</a:t>
            </a:r>
            <a:r>
              <a:rPr lang="ko-KR" altLang="en-US" sz="1500" dirty="0"/>
              <a:t>만개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205555-1238-2589-0682-F3BA0C7B2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151" y="5990153"/>
            <a:ext cx="593294" cy="5881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1F1FB0-DF9A-42C3-BC4E-A1CBBD70B9FE}"/>
              </a:ext>
            </a:extLst>
          </p:cNvPr>
          <p:cNvSpPr txBox="1"/>
          <p:nvPr/>
        </p:nvSpPr>
        <p:spPr>
          <a:xfrm>
            <a:off x="5768870" y="609957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44880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525A-4542-65BF-3FCE-564C810A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B9848C05-14C2-9BF3-C41E-5C6392FF591B}"/>
              </a:ext>
            </a:extLst>
          </p:cNvPr>
          <p:cNvSpPr/>
          <p:nvPr/>
        </p:nvSpPr>
        <p:spPr>
          <a:xfrm>
            <a:off x="821048" y="4406342"/>
            <a:ext cx="1885941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 err="1">
                <a:solidFill>
                  <a:schemeClr val="tx1"/>
                </a:solidFill>
              </a:rPr>
              <a:t>이더리움</a:t>
            </a:r>
            <a:r>
              <a:rPr lang="ko-KR" altLang="en-US" sz="1500" b="1" dirty="0">
                <a:solidFill>
                  <a:schemeClr val="tx1"/>
                </a:solidFill>
              </a:rPr>
              <a:t> 네트워크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201086-5CF0-2476-76E9-93473C247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108" y="4296919"/>
            <a:ext cx="593294" cy="5881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55DE35-5D5C-8FD8-2D08-B514E566DAF4}"/>
              </a:ext>
            </a:extLst>
          </p:cNvPr>
          <p:cNvSpPr txBox="1"/>
          <p:nvPr/>
        </p:nvSpPr>
        <p:spPr>
          <a:xfrm>
            <a:off x="3559827" y="4406342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81E472-4AD9-6BD2-D593-BE60583D1018}"/>
              </a:ext>
            </a:extLst>
          </p:cNvPr>
          <p:cNvSpPr/>
          <p:nvPr/>
        </p:nvSpPr>
        <p:spPr>
          <a:xfrm>
            <a:off x="821047" y="1412913"/>
            <a:ext cx="1885941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</a:rPr>
              <a:t>자체 네트워크</a:t>
            </a:r>
          </a:p>
        </p:txBody>
      </p:sp>
      <p:pic>
        <p:nvPicPr>
          <p:cNvPr id="8" name="그림 7" descr="파일:Bitcoin logo.svg">
            <a:extLst>
              <a:ext uri="{FF2B5EF4-FFF2-40B4-BE49-F238E27FC236}">
                <a16:creationId xmlns:a16="http://schemas.microsoft.com/office/drawing/2014/main" id="{777493CD-427D-57D7-B316-B8AFDEB5B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124" y="1444657"/>
            <a:ext cx="1683518" cy="3520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7A777FA-64A0-36A9-EC3C-FC11B3163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964" y="1101559"/>
            <a:ext cx="913356" cy="103820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88291C-36CF-7BC9-6AB1-FBE48DF05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325" y="1333954"/>
            <a:ext cx="2213898" cy="462712"/>
          </a:xfrm>
          <a:prstGeom prst="rect">
            <a:avLst/>
          </a:prstGeom>
        </p:spPr>
      </p:pic>
      <p:pic>
        <p:nvPicPr>
          <p:cNvPr id="14" name="그림 13" descr="Shiba Inu (cryptocurrency) - Wikipedia">
            <a:extLst>
              <a:ext uri="{FF2B5EF4-FFF2-40B4-BE49-F238E27FC236}">
                <a16:creationId xmlns:a16="http://schemas.microsoft.com/office/drawing/2014/main" id="{D97EAA02-9405-D483-06D7-47B8AE1B48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4957" y="4170353"/>
            <a:ext cx="714745" cy="7147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2F035A-ADF9-97A7-AF0A-C4D5B9A28557}"/>
              </a:ext>
            </a:extLst>
          </p:cNvPr>
          <p:cNvSpPr txBox="1"/>
          <p:nvPr/>
        </p:nvSpPr>
        <p:spPr>
          <a:xfrm>
            <a:off x="6259702" y="4366355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시바이누</a:t>
            </a:r>
            <a:endParaRPr lang="ko-KR" altLang="en-US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DC3C69-13F7-27DA-CB48-AC9A4624C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6899" y="1101559"/>
            <a:ext cx="916710" cy="9263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2A9B0E-41AD-1CB7-0009-0859354F259C}"/>
              </a:ext>
            </a:extLst>
          </p:cNvPr>
          <p:cNvSpPr txBox="1"/>
          <p:nvPr/>
        </p:nvSpPr>
        <p:spPr>
          <a:xfrm>
            <a:off x="10911359" y="1371412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도지코인</a:t>
            </a:r>
            <a:endParaRPr lang="ko-KR" altLang="en-US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1163686-F51A-D1B8-26CF-B15D17A67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4814" y="4202537"/>
            <a:ext cx="2019758" cy="6503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26C96F-34C2-7690-73C5-9FE8EAF259AB}"/>
              </a:ext>
            </a:extLst>
          </p:cNvPr>
          <p:cNvSpPr txBox="1"/>
          <p:nvPr/>
        </p:nvSpPr>
        <p:spPr>
          <a:xfrm>
            <a:off x="10340340" y="4343058"/>
            <a:ext cx="1851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수백 종류 코인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4E9F15-7EE0-24D9-AB16-EAF080B35234}"/>
              </a:ext>
            </a:extLst>
          </p:cNvPr>
          <p:cNvSpPr/>
          <p:nvPr/>
        </p:nvSpPr>
        <p:spPr>
          <a:xfrm>
            <a:off x="8960426" y="4833968"/>
            <a:ext cx="3069655" cy="4154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chemeClr val="tx1"/>
                </a:solidFill>
              </a:rPr>
              <a:t>거래 수수료는 </a:t>
            </a:r>
            <a:r>
              <a:rPr lang="ko-KR" altLang="en-US" sz="1500" dirty="0" err="1">
                <a:solidFill>
                  <a:schemeClr val="tx1"/>
                </a:solidFill>
              </a:rPr>
              <a:t>이더리움으로</a:t>
            </a:r>
            <a:r>
              <a:rPr lang="ko-KR" altLang="en-US" sz="1500" dirty="0">
                <a:solidFill>
                  <a:schemeClr val="tx1"/>
                </a:solidFill>
              </a:rPr>
              <a:t> 지불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924C534-DB40-1EA1-AC64-A3338A37221B}"/>
              </a:ext>
            </a:extLst>
          </p:cNvPr>
          <p:cNvCxnSpPr>
            <a:cxnSpLocks/>
          </p:cNvCxnSpPr>
          <p:nvPr/>
        </p:nvCxnSpPr>
        <p:spPr>
          <a:xfrm>
            <a:off x="0" y="3083859"/>
            <a:ext cx="1219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636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A827-BE4D-D5CF-B91F-D76718F4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D42A35-0D8A-36BD-93C0-64930B787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27" y="1797065"/>
            <a:ext cx="8737493" cy="33996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0641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EAAD-CA1B-4E01-0B38-B578CAAC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C45070-CF54-4E38-C255-05754F45D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57" y="1539419"/>
            <a:ext cx="8125881" cy="40194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9701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9D25-4C44-081B-43AF-43198EAB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790C57-E637-90CF-F1A6-C3254774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10" y="767468"/>
            <a:ext cx="9905579" cy="51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98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245B-17C4-7806-C650-E12DA1F7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D13A2A-DD68-375C-901B-703D0CF7E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3" y="2855901"/>
            <a:ext cx="5621023" cy="32823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96B44D-CA07-E78B-76C4-F70CF6FDE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330" y="2108491"/>
            <a:ext cx="3023796" cy="2315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99F05526-B8C1-2EF7-8C77-97F1043C37C0}"/>
              </a:ext>
            </a:extLst>
          </p:cNvPr>
          <p:cNvSpPr/>
          <p:nvPr/>
        </p:nvSpPr>
        <p:spPr>
          <a:xfrm>
            <a:off x="8818645" y="1284624"/>
            <a:ext cx="2905592" cy="1086415"/>
          </a:xfrm>
          <a:prstGeom prst="wedgeRoundRectCallout">
            <a:avLst>
              <a:gd name="adj1" fmla="val -57483"/>
              <a:gd name="adj2" fmla="val 9333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이더리움은</a:t>
            </a:r>
            <a:r>
              <a:rPr lang="ko-KR" altLang="en-US" dirty="0">
                <a:solidFill>
                  <a:schemeClr val="tx1"/>
                </a:solidFill>
              </a:rPr>
              <a:t> 현실 자산의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500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디지털화에 활용됩니다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72C4A-60DD-EDF3-FE5C-29BFB141F282}"/>
              </a:ext>
            </a:extLst>
          </p:cNvPr>
          <p:cNvSpPr txBox="1"/>
          <p:nvPr/>
        </p:nvSpPr>
        <p:spPr>
          <a:xfrm>
            <a:off x="7285024" y="4423585"/>
            <a:ext cx="21124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뷰테릭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이더리움</a:t>
            </a:r>
            <a:r>
              <a:rPr lang="ko-KR" altLang="en-US" sz="1200" b="1" dirty="0"/>
              <a:t> 창시자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F59C16-DC69-5728-B7D1-6B8234EC6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37" y="193683"/>
            <a:ext cx="1888100" cy="2634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F3E85C2-E09D-CA7B-87B5-9BBB9EAB8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876" y="1402468"/>
            <a:ext cx="593294" cy="5881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60C248-6E01-CA35-44C7-B809F9F55C01}"/>
              </a:ext>
            </a:extLst>
          </p:cNvPr>
          <p:cNvSpPr txBox="1"/>
          <p:nvPr/>
        </p:nvSpPr>
        <p:spPr>
          <a:xfrm>
            <a:off x="7416595" y="1511891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3F6231-52F5-1D0A-9099-CD3874DE666A}"/>
              </a:ext>
            </a:extLst>
          </p:cNvPr>
          <p:cNvSpPr txBox="1"/>
          <p:nvPr/>
        </p:nvSpPr>
        <p:spPr>
          <a:xfrm>
            <a:off x="7076990" y="5247452"/>
            <a:ext cx="277613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분할 거래 </a:t>
            </a:r>
            <a:r>
              <a:rPr lang="en-US" altLang="ko-KR" dirty="0"/>
              <a:t>(</a:t>
            </a:r>
            <a:r>
              <a:rPr lang="ko-KR" altLang="en-US" dirty="0"/>
              <a:t>토큰화</a:t>
            </a:r>
            <a:r>
              <a:rPr lang="en-US" altLang="ko-KR" dirty="0"/>
              <a:t>)</a:t>
            </a:r>
          </a:p>
          <a:p>
            <a:endParaRPr lang="en-US" altLang="ko-KR" sz="500" dirty="0"/>
          </a:p>
          <a:p>
            <a:r>
              <a:rPr lang="ko-KR" altLang="en-US" dirty="0"/>
              <a:t>검증 </a:t>
            </a:r>
            <a:r>
              <a:rPr lang="en-US" altLang="ko-KR" dirty="0"/>
              <a:t>(</a:t>
            </a:r>
            <a:r>
              <a:rPr lang="ko-KR" altLang="en-US" dirty="0"/>
              <a:t>사기 계약 방지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436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91DA-9576-E28C-1350-5F5EC972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885E293-CDCD-D0DE-DA9D-9EDE0B51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780" y="1771084"/>
            <a:ext cx="6010275" cy="4800600"/>
          </a:xfrm>
          <a:prstGeom prst="rect">
            <a:avLst/>
          </a:prstGeom>
        </p:spPr>
      </p:pic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CA84EF6C-F7C9-647F-B6D0-A9FC51FC45A9}"/>
              </a:ext>
            </a:extLst>
          </p:cNvPr>
          <p:cNvSpPr/>
          <p:nvPr/>
        </p:nvSpPr>
        <p:spPr>
          <a:xfrm>
            <a:off x="1756941" y="2064191"/>
            <a:ext cx="3195304" cy="877217"/>
          </a:xfrm>
          <a:prstGeom prst="wedgeRoundRectCallout">
            <a:avLst>
              <a:gd name="adj1" fmla="val 84289"/>
              <a:gd name="adj2" fmla="val 1550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누구나 귀금속을 </a:t>
            </a:r>
            <a:r>
              <a:rPr lang="ko-KR" altLang="ko-KR" sz="1500" dirty="0" err="1">
                <a:solidFill>
                  <a:schemeClr val="tx1"/>
                </a:solidFill>
              </a:rPr>
              <a:t>NFT로</a:t>
            </a:r>
            <a:r>
              <a:rPr lang="ko-KR" altLang="ko-KR" sz="1500" dirty="0">
                <a:solidFill>
                  <a:schemeClr val="tx1"/>
                </a:solidFill>
              </a:rPr>
              <a:t> 등록하고,</a:t>
            </a:r>
            <a:endParaRPr lang="en-US" altLang="ko-KR" sz="1500" dirty="0">
              <a:solidFill>
                <a:schemeClr val="tx1"/>
              </a:solidFill>
            </a:endParaRPr>
          </a:p>
          <a:p>
            <a:pPr algn="ctr"/>
            <a:endParaRPr lang="en-US" altLang="ko-KR" sz="500" dirty="0">
              <a:solidFill>
                <a:schemeClr val="tx1"/>
              </a:solidFill>
            </a:endParaRPr>
          </a:p>
          <a:p>
            <a:pPr algn="ctr"/>
            <a:r>
              <a:rPr lang="ko-KR" altLang="ko-KR" sz="1500" dirty="0">
                <a:solidFill>
                  <a:schemeClr val="tx1"/>
                </a:solidFill>
              </a:rPr>
              <a:t>검증된 증명서까지 발급하게 됐다</a:t>
            </a:r>
            <a:r>
              <a:rPr lang="en-US" altLang="ko-KR" sz="1500" dirty="0">
                <a:solidFill>
                  <a:schemeClr val="tx1"/>
                </a:solidFill>
              </a:rPr>
              <a:t>.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120B85E-D30C-CC5F-F6B3-2B563BEC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46" y="3594225"/>
            <a:ext cx="3029559" cy="214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43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82FA-F7A8-56B6-1AFD-87ABB508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817EB2-7479-4545-B57C-480B72F41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039" y="1394138"/>
            <a:ext cx="3579043" cy="36277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8FB58-4C25-9822-41D9-ACFAD522A550}"/>
              </a:ext>
            </a:extLst>
          </p:cNvPr>
          <p:cNvSpPr txBox="1"/>
          <p:nvPr/>
        </p:nvSpPr>
        <p:spPr>
          <a:xfrm>
            <a:off x="3480790" y="5474963"/>
            <a:ext cx="2695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NFT </a:t>
            </a:r>
            <a:r>
              <a:rPr lang="ko-KR" altLang="en-US" dirty="0"/>
              <a:t>그림 </a:t>
            </a:r>
            <a:r>
              <a:rPr lang="en-US" altLang="ko-KR" dirty="0"/>
              <a:t>2</a:t>
            </a:r>
            <a:r>
              <a:rPr lang="ko-KR" altLang="en-US" dirty="0"/>
              <a:t>억원에 낙찰</a:t>
            </a:r>
          </a:p>
        </p:txBody>
      </p:sp>
    </p:spTree>
    <p:extLst>
      <p:ext uri="{BB962C8B-B14F-4D97-AF65-F5344CB8AC3E}">
        <p14:creationId xmlns:p14="http://schemas.microsoft.com/office/powerpoint/2010/main" val="2836473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91DC-9426-579D-5FCB-126064CB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CA03B-9733-92BD-6F21-252D4D20E828}"/>
              </a:ext>
            </a:extLst>
          </p:cNvPr>
          <p:cNvSpPr/>
          <p:nvPr/>
        </p:nvSpPr>
        <p:spPr>
          <a:xfrm>
            <a:off x="3711920" y="2333530"/>
            <a:ext cx="4553893" cy="1095470"/>
          </a:xfrm>
          <a:prstGeom prst="rect">
            <a:avLst/>
          </a:prstGeom>
          <a:solidFill>
            <a:srgbClr val="00B0F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800" b="1" err="1"/>
              <a:t>스테이블</a:t>
            </a:r>
            <a:r>
              <a:rPr lang="ko-KR" altLang="en-US" sz="3800" b="1" dirty="0"/>
              <a:t> 코인</a:t>
            </a:r>
          </a:p>
        </p:txBody>
      </p:sp>
    </p:spTree>
    <p:extLst>
      <p:ext uri="{BB962C8B-B14F-4D97-AF65-F5344CB8AC3E}">
        <p14:creationId xmlns:p14="http://schemas.microsoft.com/office/powerpoint/2010/main" val="3399743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642E-AA3C-7EC0-D578-3A8EAA51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EE0862-B62B-E362-15FA-52C744EA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28" y="2580238"/>
            <a:ext cx="4972843" cy="3761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1B8FE3-98D0-F381-15B5-64FEF7A05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68" y="1761181"/>
            <a:ext cx="6591109" cy="4581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23F304-63AD-5166-AB95-EA1913A3EA39}"/>
              </a:ext>
            </a:extLst>
          </p:cNvPr>
          <p:cNvSpPr txBox="1"/>
          <p:nvPr/>
        </p:nvSpPr>
        <p:spPr>
          <a:xfrm>
            <a:off x="2593550" y="6342235"/>
            <a:ext cx="1489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USDT </a:t>
            </a:r>
            <a:r>
              <a:rPr lang="ko-KR" altLang="en-US" dirty="0"/>
              <a:t>시세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92CFC-B261-3324-2D82-3687453BE3A8}"/>
              </a:ext>
            </a:extLst>
          </p:cNvPr>
          <p:cNvSpPr txBox="1"/>
          <p:nvPr/>
        </p:nvSpPr>
        <p:spPr>
          <a:xfrm>
            <a:off x="8937798" y="6342235"/>
            <a:ext cx="1489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원달러</a:t>
            </a:r>
            <a:r>
              <a:rPr lang="ko-KR" altLang="en-US" dirty="0"/>
              <a:t> 환율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50D07-0495-D0C0-70E5-B0DF540901C1}"/>
              </a:ext>
            </a:extLst>
          </p:cNvPr>
          <p:cNvSpPr txBox="1"/>
          <p:nvPr/>
        </p:nvSpPr>
        <p:spPr>
          <a:xfrm>
            <a:off x="236568" y="88767"/>
            <a:ext cx="155401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  <a:endParaRPr lang="ko-KR" altLang="en-US" sz="3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75F91-DF51-3AF1-30E4-9AA756BB65B6}"/>
              </a:ext>
            </a:extLst>
          </p:cNvPr>
          <p:cNvSpPr txBox="1"/>
          <p:nvPr/>
        </p:nvSpPr>
        <p:spPr>
          <a:xfrm>
            <a:off x="1880183" y="124385"/>
            <a:ext cx="3108278" cy="14003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300" b="1" dirty="0"/>
              <a:t>US : </a:t>
            </a:r>
            <a:r>
              <a:rPr lang="ko-KR" altLang="en-US" sz="2300" b="1" dirty="0"/>
              <a:t>미국</a:t>
            </a:r>
            <a:endParaRPr lang="en-US" altLang="ko-KR" sz="2300" b="1" dirty="0"/>
          </a:p>
          <a:p>
            <a:endParaRPr lang="en-US" altLang="ko-KR" sz="800" b="1" dirty="0"/>
          </a:p>
          <a:p>
            <a:r>
              <a:rPr lang="en-US" altLang="ko-KR" sz="2300" b="1" dirty="0"/>
              <a:t>D : </a:t>
            </a:r>
            <a:r>
              <a:rPr lang="ko-KR" altLang="en-US" sz="2300" b="1" dirty="0"/>
              <a:t>달러</a:t>
            </a:r>
            <a:endParaRPr lang="en-US" altLang="ko-KR" sz="2300" b="1" dirty="0"/>
          </a:p>
          <a:p>
            <a:endParaRPr lang="en-US" altLang="ko-KR" sz="800" b="1" dirty="0"/>
          </a:p>
          <a:p>
            <a:r>
              <a:rPr lang="en-US" altLang="ko-KR" sz="2300" b="1" dirty="0"/>
              <a:t>T : </a:t>
            </a:r>
            <a:r>
              <a:rPr lang="en-US" altLang="ko-KR" sz="2300" b="1" dirty="0" err="1"/>
              <a:t>Thether</a:t>
            </a:r>
            <a:r>
              <a:rPr lang="en-US" altLang="ko-KR" sz="2300" b="1" dirty="0"/>
              <a:t> (</a:t>
            </a:r>
            <a:r>
              <a:rPr lang="ko-KR" altLang="en-US" sz="2300" b="1" dirty="0"/>
              <a:t>테더社</a:t>
            </a:r>
            <a:r>
              <a:rPr lang="en-US" altLang="ko-KR" sz="2300" b="1" dirty="0"/>
              <a:t>) </a:t>
            </a:r>
            <a:endParaRPr lang="ko-KR" altLang="en-US" sz="23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E3252DD-7687-0E03-B7DD-69BB9C1F4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954" y="1146160"/>
            <a:ext cx="1173930" cy="34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66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48D7-C10E-F753-4057-5AB1C153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5DB0D61-555F-D1E7-AEF3-D88B6D9F2768}"/>
              </a:ext>
            </a:extLst>
          </p:cNvPr>
          <p:cNvSpPr txBox="1"/>
          <p:nvPr/>
        </p:nvSpPr>
        <p:spPr>
          <a:xfrm>
            <a:off x="718441" y="1409916"/>
            <a:ext cx="3708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무조건 미국 달러와 똑같은 시세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D8C6551-640C-79BC-2E22-A1E2EE3AA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48" y="3867968"/>
            <a:ext cx="558649" cy="6501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294B2FC-C571-3A4A-F59F-923A743B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30" y="5220347"/>
            <a:ext cx="1224306" cy="3441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EFF3F0-BA12-D289-2302-7F30CECF1A3F}"/>
              </a:ext>
            </a:extLst>
          </p:cNvPr>
          <p:cNvSpPr txBox="1"/>
          <p:nvPr/>
        </p:nvSpPr>
        <p:spPr>
          <a:xfrm>
            <a:off x="2030997" y="4104170"/>
            <a:ext cx="12916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1,361</a:t>
            </a:r>
            <a:r>
              <a:rPr lang="ko-KR" altLang="en-US" sz="1500" dirty="0"/>
              <a:t>원 지불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5B248A-AD6A-B164-3F50-D803EA365FC9}"/>
              </a:ext>
            </a:extLst>
          </p:cNvPr>
          <p:cNvSpPr txBox="1"/>
          <p:nvPr/>
        </p:nvSpPr>
        <p:spPr>
          <a:xfrm>
            <a:off x="1051713" y="4709421"/>
            <a:ext cx="17277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USDT 1</a:t>
            </a:r>
            <a:r>
              <a:rPr lang="ko-KR" altLang="en-US" dirty="0"/>
              <a:t>개 구매 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AC3A0664-DBD4-1311-AAE9-8D2D734E6B0B}"/>
              </a:ext>
            </a:extLst>
          </p:cNvPr>
          <p:cNvSpPr/>
          <p:nvPr/>
        </p:nvSpPr>
        <p:spPr>
          <a:xfrm>
            <a:off x="2987644" y="4636325"/>
            <a:ext cx="1195056" cy="534377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1D394BB-C93F-9669-4EAD-1C62746DF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3" y="423745"/>
            <a:ext cx="2350881" cy="68567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56083CF-3521-60B0-2FB6-DA392045E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770" y="3783091"/>
            <a:ext cx="2350881" cy="68567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3BDB5C-1A6D-EED5-F195-5139FE536734}"/>
              </a:ext>
            </a:extLst>
          </p:cNvPr>
          <p:cNvSpPr txBox="1"/>
          <p:nvPr/>
        </p:nvSpPr>
        <p:spPr>
          <a:xfrm>
            <a:off x="4390930" y="4718847"/>
            <a:ext cx="26526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1,361</a:t>
            </a:r>
            <a:r>
              <a:rPr lang="ko-KR" altLang="en-US" dirty="0"/>
              <a:t>원을 </a:t>
            </a:r>
            <a:r>
              <a:rPr lang="en-US" altLang="ko-KR" dirty="0"/>
              <a:t>1</a:t>
            </a:r>
            <a:r>
              <a:rPr lang="ko-KR" altLang="en-US" dirty="0"/>
              <a:t>달러로 환전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580D12-1135-4ED5-41A1-D2C2BA2F5624}"/>
              </a:ext>
            </a:extLst>
          </p:cNvPr>
          <p:cNvSpPr txBox="1"/>
          <p:nvPr/>
        </p:nvSpPr>
        <p:spPr>
          <a:xfrm>
            <a:off x="4390930" y="5338261"/>
            <a:ext cx="26526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달러로 미국 국채 구매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4274EC-A7CC-50A1-1572-72E84B1CA11C}"/>
              </a:ext>
            </a:extLst>
          </p:cNvPr>
          <p:cNvSpPr txBox="1"/>
          <p:nvPr/>
        </p:nvSpPr>
        <p:spPr>
          <a:xfrm>
            <a:off x="7043596" y="5347575"/>
            <a:ext cx="124032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연 이율 </a:t>
            </a:r>
            <a:r>
              <a:rPr lang="en-US" altLang="ko-KR" sz="1500" dirty="0"/>
              <a:t>4%</a:t>
            </a:r>
            <a:endParaRPr lang="ko-KR" altLang="en-US" sz="15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357258-1376-5FAD-6C7A-01F74D4250AC}"/>
              </a:ext>
            </a:extLst>
          </p:cNvPr>
          <p:cNvSpPr txBox="1"/>
          <p:nvPr/>
        </p:nvSpPr>
        <p:spPr>
          <a:xfrm>
            <a:off x="8990090" y="4694032"/>
            <a:ext cx="3058115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38</a:t>
            </a:r>
            <a:r>
              <a:rPr lang="ko-KR" altLang="en-US" dirty="0"/>
              <a:t>조원 국채 매입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en-US" altLang="ko-KR" dirty="0"/>
              <a:t>        =&gt; 1</a:t>
            </a:r>
            <a:r>
              <a:rPr lang="ko-KR" altLang="en-US" dirty="0"/>
              <a:t>년 수익 </a:t>
            </a:r>
            <a:r>
              <a:rPr lang="en-US" altLang="ko-KR" dirty="0"/>
              <a:t>: 13</a:t>
            </a:r>
            <a:r>
              <a:rPr lang="ko-KR" altLang="en-US" dirty="0"/>
              <a:t>조원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D659C3-04A0-0FA9-574E-FF69CB35F27E}"/>
              </a:ext>
            </a:extLst>
          </p:cNvPr>
          <p:cNvSpPr txBox="1"/>
          <p:nvPr/>
        </p:nvSpPr>
        <p:spPr>
          <a:xfrm>
            <a:off x="7720649" y="2751892"/>
            <a:ext cx="4327556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GENIUS Act : </a:t>
            </a:r>
            <a:r>
              <a:rPr lang="ko-KR" altLang="en-US" sz="1500" dirty="0"/>
              <a:t>달러 </a:t>
            </a:r>
            <a:r>
              <a:rPr lang="ko-KR" altLang="en-US" sz="1500" dirty="0" err="1"/>
              <a:t>스테이블</a:t>
            </a:r>
            <a:r>
              <a:rPr lang="ko-KR" altLang="en-US" sz="1500" dirty="0"/>
              <a:t> 코인 발행사는</a:t>
            </a:r>
            <a:endParaRPr lang="en-US" altLang="ko-KR" sz="1500" dirty="0"/>
          </a:p>
          <a:p>
            <a:endParaRPr lang="en-US" altLang="ko-KR" sz="800" dirty="0"/>
          </a:p>
          <a:p>
            <a:r>
              <a:rPr lang="en-US" altLang="ko-KR" sz="1500" dirty="0"/>
              <a:t>                  </a:t>
            </a:r>
            <a:r>
              <a:rPr lang="ko-KR" altLang="en-US" sz="1500" dirty="0"/>
              <a:t>국채를 준비자산으로 보유 해야함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B681906-4E94-9814-7A58-6E5113EBA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832" y="2080013"/>
            <a:ext cx="1009650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59559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D906-5D7C-DCF2-664B-0D6719A7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>
            <a:extLst>
              <a:ext uri="{FF2B5EF4-FFF2-40B4-BE49-F238E27FC236}">
                <a16:creationId xmlns:a16="http://schemas.microsoft.com/office/drawing/2014/main" id="{56689556-DF21-EEF3-9D2D-DCE56DA2D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84" y="2027156"/>
            <a:ext cx="1260309" cy="1260309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258329F9-9D05-0CE1-1FF0-73EF35D0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6" y="1311064"/>
            <a:ext cx="558649" cy="650152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C12CD76-EE8A-B776-A2D9-F8BCEAF93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542" y="1469287"/>
            <a:ext cx="1316453" cy="369332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F372248D-73F1-270B-192C-CB4FAC49B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852" y="1232316"/>
            <a:ext cx="1596735" cy="1589680"/>
          </a:xfrm>
          <a:prstGeom prst="rect">
            <a:avLst/>
          </a:prstGeom>
        </p:spPr>
      </p:pic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24EFE4FB-1816-8BFE-4F56-D3AAAEEF0296}"/>
              </a:ext>
            </a:extLst>
          </p:cNvPr>
          <p:cNvSpPr/>
          <p:nvPr/>
        </p:nvSpPr>
        <p:spPr>
          <a:xfrm>
            <a:off x="3383123" y="256922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710892-912B-616D-78B6-D2C2CC774CA4}"/>
              </a:ext>
            </a:extLst>
          </p:cNvPr>
          <p:cNvSpPr txBox="1"/>
          <p:nvPr/>
        </p:nvSpPr>
        <p:spPr>
          <a:xfrm>
            <a:off x="73604" y="2140377"/>
            <a:ext cx="3086503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1,300</a:t>
            </a:r>
            <a:r>
              <a:rPr lang="ko-KR" altLang="en-US" sz="1500" dirty="0"/>
              <a:t>만원 </a:t>
            </a:r>
            <a:r>
              <a:rPr lang="en-US" altLang="ko-KR" sz="1500" dirty="0"/>
              <a:t>=&gt; 10,000 </a:t>
            </a:r>
            <a:r>
              <a:rPr lang="ko-KR" altLang="en-US" sz="1500" dirty="0"/>
              <a:t>달러로 환전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C26F1C-2E63-E62C-E9BA-4AEDA058217D}"/>
              </a:ext>
            </a:extLst>
          </p:cNvPr>
          <p:cNvSpPr txBox="1"/>
          <p:nvPr/>
        </p:nvSpPr>
        <p:spPr>
          <a:xfrm>
            <a:off x="1456950" y="2523568"/>
            <a:ext cx="1717946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</a:t>
            </a:r>
            <a:r>
              <a:rPr lang="ko-KR" altLang="en-US" sz="1500" dirty="0"/>
              <a:t>달러 송금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ADC863-C5DE-28A3-08C6-71840A90EDD9}"/>
              </a:ext>
            </a:extLst>
          </p:cNvPr>
          <p:cNvSpPr txBox="1"/>
          <p:nvPr/>
        </p:nvSpPr>
        <p:spPr>
          <a:xfrm>
            <a:off x="73605" y="278890"/>
            <a:ext cx="82736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한국에서 미국으로 </a:t>
            </a:r>
            <a:r>
              <a:rPr lang="en-US" altLang="ko-KR" sz="3800" b="1" dirty="0"/>
              <a:t>10,000</a:t>
            </a:r>
            <a:r>
              <a:rPr lang="ko-KR" altLang="en-US" sz="3800" b="1" dirty="0"/>
              <a:t>달러 송금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7427872A-2226-0B40-3AD4-565049462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665" y="2117397"/>
            <a:ext cx="1596734" cy="1249001"/>
          </a:xfrm>
          <a:prstGeom prst="rect">
            <a:avLst/>
          </a:prstGeom>
        </p:spPr>
      </p:pic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C64F7A50-B528-B7AA-CFA7-D48794FD2314}"/>
              </a:ext>
            </a:extLst>
          </p:cNvPr>
          <p:cNvSpPr/>
          <p:nvPr/>
        </p:nvSpPr>
        <p:spPr>
          <a:xfrm>
            <a:off x="5662619" y="2580315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화살표: 오른쪽 86">
            <a:extLst>
              <a:ext uri="{FF2B5EF4-FFF2-40B4-BE49-F238E27FC236}">
                <a16:creationId xmlns:a16="http://schemas.microsoft.com/office/drawing/2014/main" id="{758CB41B-C5F6-4A44-956F-632720748CF6}"/>
              </a:ext>
            </a:extLst>
          </p:cNvPr>
          <p:cNvSpPr/>
          <p:nvPr/>
        </p:nvSpPr>
        <p:spPr>
          <a:xfrm>
            <a:off x="7679651" y="256147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24C1EBD8-3A5F-4FE9-5E50-DB01ED84CC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738" y="2279843"/>
            <a:ext cx="1986326" cy="573971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FB2CAE84-7807-4406-0891-9E36C2B0AC78}"/>
              </a:ext>
            </a:extLst>
          </p:cNvPr>
          <p:cNvSpPr txBox="1"/>
          <p:nvPr/>
        </p:nvSpPr>
        <p:spPr>
          <a:xfrm>
            <a:off x="6054570" y="3436274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중개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AA2E4B-547A-D3C7-535C-37634AE8C51C}"/>
              </a:ext>
            </a:extLst>
          </p:cNvPr>
          <p:cNvSpPr txBox="1"/>
          <p:nvPr/>
        </p:nvSpPr>
        <p:spPr>
          <a:xfrm>
            <a:off x="8495011" y="3429000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수취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5B9576-6DD1-7D8B-796B-56F32047EEBC}"/>
              </a:ext>
            </a:extLst>
          </p:cNvPr>
          <p:cNvSpPr txBox="1"/>
          <p:nvPr/>
        </p:nvSpPr>
        <p:spPr>
          <a:xfrm>
            <a:off x="10358534" y="3059247"/>
            <a:ext cx="1779148" cy="754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700" b="1" dirty="0"/>
              <a:t>수수료 </a:t>
            </a:r>
            <a:r>
              <a:rPr lang="en-US" altLang="ko-KR" sz="1700" b="1" dirty="0"/>
              <a:t>: 10</a:t>
            </a:r>
            <a:r>
              <a:rPr lang="ko-KR" altLang="en-US" sz="1700" b="1" dirty="0"/>
              <a:t>만원</a:t>
            </a:r>
            <a:endParaRPr lang="en-US" altLang="ko-KR" sz="1700" b="1" dirty="0"/>
          </a:p>
          <a:p>
            <a:endParaRPr lang="en-US" altLang="ko-KR" sz="800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일 소요</a:t>
            </a:r>
          </a:p>
        </p:txBody>
      </p:sp>
    </p:spTree>
    <p:extLst>
      <p:ext uri="{BB962C8B-B14F-4D97-AF65-F5344CB8AC3E}">
        <p14:creationId xmlns:p14="http://schemas.microsoft.com/office/powerpoint/2010/main" val="31691977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3958-8D4A-1338-424A-B6749E82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2F18C3-F70E-D58D-265C-E2105FBC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84" y="2027156"/>
            <a:ext cx="1260309" cy="12603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660EC1-518B-8754-8EB0-15B4EB3F1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6" y="1311064"/>
            <a:ext cx="558649" cy="6501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FAEAAD-59DA-E466-340A-C8580CB0F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542" y="1469287"/>
            <a:ext cx="1316453" cy="3693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69B553-2CF9-12B2-1459-87E7716A5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852" y="1232316"/>
            <a:ext cx="1596735" cy="158968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7C8AF80-B65D-2414-D4EC-1D35FA24A35C}"/>
              </a:ext>
            </a:extLst>
          </p:cNvPr>
          <p:cNvSpPr/>
          <p:nvPr/>
        </p:nvSpPr>
        <p:spPr>
          <a:xfrm>
            <a:off x="3383123" y="256922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DC540-3C2A-2B31-88C6-A0A6BCCAA224}"/>
              </a:ext>
            </a:extLst>
          </p:cNvPr>
          <p:cNvSpPr txBox="1"/>
          <p:nvPr/>
        </p:nvSpPr>
        <p:spPr>
          <a:xfrm>
            <a:off x="73604" y="2140377"/>
            <a:ext cx="3086503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1,300</a:t>
            </a:r>
            <a:r>
              <a:rPr lang="ko-KR" altLang="en-US" sz="1500" dirty="0"/>
              <a:t>만원 </a:t>
            </a:r>
            <a:r>
              <a:rPr lang="en-US" altLang="ko-KR" sz="1500" dirty="0"/>
              <a:t>=&gt; 10,000 </a:t>
            </a:r>
            <a:r>
              <a:rPr lang="ko-KR" altLang="en-US" sz="1500" dirty="0"/>
              <a:t>달러로 환전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93B52-71AA-EEE6-AEA4-8682814B12E9}"/>
              </a:ext>
            </a:extLst>
          </p:cNvPr>
          <p:cNvSpPr txBox="1"/>
          <p:nvPr/>
        </p:nvSpPr>
        <p:spPr>
          <a:xfrm>
            <a:off x="1456950" y="2523568"/>
            <a:ext cx="1717946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</a:t>
            </a:r>
            <a:r>
              <a:rPr lang="ko-KR" altLang="en-US" sz="1500" dirty="0"/>
              <a:t>달러 송금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B4618-5ECF-AE8C-0FC7-E7EE15DBFC7E}"/>
              </a:ext>
            </a:extLst>
          </p:cNvPr>
          <p:cNvSpPr txBox="1"/>
          <p:nvPr/>
        </p:nvSpPr>
        <p:spPr>
          <a:xfrm>
            <a:off x="73605" y="278890"/>
            <a:ext cx="82736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한국에서 미국으로 </a:t>
            </a:r>
            <a:r>
              <a:rPr lang="en-US" altLang="ko-KR" sz="3800" b="1" dirty="0"/>
              <a:t>10,000</a:t>
            </a:r>
            <a:r>
              <a:rPr lang="ko-KR" altLang="en-US" sz="3800" b="1" dirty="0"/>
              <a:t>달러 송금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D6C8388-7B0D-6E69-9358-853EA572E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665" y="2117397"/>
            <a:ext cx="1596734" cy="1249001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1A62495-8C97-0D22-545B-5E093DF5F7EC}"/>
              </a:ext>
            </a:extLst>
          </p:cNvPr>
          <p:cNvSpPr/>
          <p:nvPr/>
        </p:nvSpPr>
        <p:spPr>
          <a:xfrm>
            <a:off x="5662619" y="2580315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EA11650F-5973-2820-2D17-918A12BD797F}"/>
              </a:ext>
            </a:extLst>
          </p:cNvPr>
          <p:cNvSpPr/>
          <p:nvPr/>
        </p:nvSpPr>
        <p:spPr>
          <a:xfrm>
            <a:off x="7679651" y="256147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296898B-76FE-86CE-BEBE-C7DD7F9285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738" y="2279843"/>
            <a:ext cx="1986326" cy="57397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6E86179-E5D7-E0D9-2C61-FD79AE66F1DB}"/>
              </a:ext>
            </a:extLst>
          </p:cNvPr>
          <p:cNvSpPr txBox="1"/>
          <p:nvPr/>
        </p:nvSpPr>
        <p:spPr>
          <a:xfrm>
            <a:off x="6054570" y="3436274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중개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A19FC8-3303-8941-7C73-C2BBAD40235D}"/>
              </a:ext>
            </a:extLst>
          </p:cNvPr>
          <p:cNvSpPr txBox="1"/>
          <p:nvPr/>
        </p:nvSpPr>
        <p:spPr>
          <a:xfrm>
            <a:off x="8495011" y="3429000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수취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21978C-44A3-1FFE-8EFB-8EE8E23B5315}"/>
              </a:ext>
            </a:extLst>
          </p:cNvPr>
          <p:cNvSpPr txBox="1"/>
          <p:nvPr/>
        </p:nvSpPr>
        <p:spPr>
          <a:xfrm>
            <a:off x="10358534" y="3059247"/>
            <a:ext cx="1779148" cy="754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700" b="1" dirty="0"/>
              <a:t>수수료 </a:t>
            </a:r>
            <a:r>
              <a:rPr lang="en-US" altLang="ko-KR" sz="1700" b="1" dirty="0"/>
              <a:t>: 10</a:t>
            </a:r>
            <a:r>
              <a:rPr lang="ko-KR" altLang="en-US" sz="1700" b="1" dirty="0"/>
              <a:t>만원</a:t>
            </a:r>
            <a:endParaRPr lang="en-US" altLang="ko-KR" sz="1700" b="1" dirty="0"/>
          </a:p>
          <a:p>
            <a:endParaRPr lang="en-US" altLang="ko-KR" sz="800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일 소요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57E4BF-295E-317C-6D75-3F71E1642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6" y="4423947"/>
            <a:ext cx="558649" cy="650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14616F-0560-B75B-8368-EFBD4F141920}"/>
              </a:ext>
            </a:extLst>
          </p:cNvPr>
          <p:cNvSpPr txBox="1"/>
          <p:nvPr/>
        </p:nvSpPr>
        <p:spPr>
          <a:xfrm>
            <a:off x="73606" y="5253260"/>
            <a:ext cx="3046382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1,300</a:t>
            </a:r>
            <a:r>
              <a:rPr lang="ko-KR" altLang="en-US" sz="1500" dirty="0"/>
              <a:t>만원 </a:t>
            </a:r>
            <a:r>
              <a:rPr lang="en-US" altLang="ko-KR" sz="1500" dirty="0"/>
              <a:t>=&gt; 10,000 USDT </a:t>
            </a:r>
            <a:r>
              <a:rPr lang="ko-KR" altLang="en-US" sz="1500" dirty="0"/>
              <a:t>매수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3F756-CBF4-0CDE-7DE0-8DBD21C4A2A5}"/>
              </a:ext>
            </a:extLst>
          </p:cNvPr>
          <p:cNvSpPr txBox="1"/>
          <p:nvPr/>
        </p:nvSpPr>
        <p:spPr>
          <a:xfrm>
            <a:off x="1331435" y="5734415"/>
            <a:ext cx="1788554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USDT</a:t>
            </a:r>
            <a:r>
              <a:rPr lang="ko-KR" altLang="en-US" sz="1500" dirty="0"/>
              <a:t> 송금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58D832-2A0B-99B1-BD80-39FAE5F34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542" y="4606029"/>
            <a:ext cx="1224306" cy="344110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9A14EC4-18F9-2042-B3F8-C08ABD101CD1}"/>
              </a:ext>
            </a:extLst>
          </p:cNvPr>
          <p:cNvSpPr/>
          <p:nvPr/>
        </p:nvSpPr>
        <p:spPr>
          <a:xfrm>
            <a:off x="3314743" y="5734414"/>
            <a:ext cx="4552719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FB406A2-971E-702B-3056-901FC6BFF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090" y="4423947"/>
            <a:ext cx="1596735" cy="158968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3336347-480F-008A-3EAB-10CAA734E4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7737" y="5490570"/>
            <a:ext cx="1788554" cy="56701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4BE4B0F-F052-6BC0-541F-0BD36F9B052E}"/>
              </a:ext>
            </a:extLst>
          </p:cNvPr>
          <p:cNvSpPr txBox="1"/>
          <p:nvPr/>
        </p:nvSpPr>
        <p:spPr>
          <a:xfrm>
            <a:off x="8177737" y="6227338"/>
            <a:ext cx="1788554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USDT</a:t>
            </a:r>
            <a:r>
              <a:rPr lang="ko-KR" altLang="en-US" sz="1500" dirty="0"/>
              <a:t> 매도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B3345E-4B24-B645-732A-C1905B5F77B4}"/>
              </a:ext>
            </a:extLst>
          </p:cNvPr>
          <p:cNvSpPr txBox="1"/>
          <p:nvPr/>
        </p:nvSpPr>
        <p:spPr>
          <a:xfrm>
            <a:off x="10222248" y="6057580"/>
            <a:ext cx="1865526" cy="754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700" b="1" dirty="0"/>
              <a:t>수수료 </a:t>
            </a:r>
            <a:r>
              <a:rPr lang="en-US" altLang="ko-KR" sz="1700" b="1" dirty="0"/>
              <a:t>: 5,000</a:t>
            </a:r>
            <a:r>
              <a:rPr lang="ko-KR" altLang="en-US" sz="1700" b="1" dirty="0"/>
              <a:t>원</a:t>
            </a:r>
            <a:endParaRPr lang="en-US" altLang="ko-KR" sz="1700" b="1" dirty="0"/>
          </a:p>
          <a:p>
            <a:endParaRPr lang="en-US" altLang="ko-KR" sz="800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초 소요</a:t>
            </a:r>
          </a:p>
        </p:txBody>
      </p:sp>
    </p:spTree>
    <p:extLst>
      <p:ext uri="{BB962C8B-B14F-4D97-AF65-F5344CB8AC3E}">
        <p14:creationId xmlns:p14="http://schemas.microsoft.com/office/powerpoint/2010/main" val="3686967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00A9-0F5F-5C47-60C0-902F70FD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62179C-FAE6-D8BD-F2D9-EA0D210CB44E}"/>
              </a:ext>
            </a:extLst>
          </p:cNvPr>
          <p:cNvSpPr txBox="1"/>
          <p:nvPr/>
        </p:nvSpPr>
        <p:spPr>
          <a:xfrm>
            <a:off x="718441" y="1409916"/>
            <a:ext cx="3708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무조건 미국 달러와 똑같은 시세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B496BCB-29EA-F7AA-F2EB-A0DFEF6B0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48" y="3867968"/>
            <a:ext cx="558649" cy="6501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7CAD88A-90F7-EF9A-3253-540749AD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30" y="5220347"/>
            <a:ext cx="1224306" cy="3441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A989F95-A497-D5EF-583A-A76C034548C9}"/>
              </a:ext>
            </a:extLst>
          </p:cNvPr>
          <p:cNvSpPr txBox="1"/>
          <p:nvPr/>
        </p:nvSpPr>
        <p:spPr>
          <a:xfrm>
            <a:off x="2030997" y="4104170"/>
            <a:ext cx="12916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1,361</a:t>
            </a:r>
            <a:r>
              <a:rPr lang="ko-KR" altLang="en-US" sz="1500" dirty="0"/>
              <a:t>원 지불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11AAB-7926-B384-1C08-92978869B78B}"/>
              </a:ext>
            </a:extLst>
          </p:cNvPr>
          <p:cNvSpPr txBox="1"/>
          <p:nvPr/>
        </p:nvSpPr>
        <p:spPr>
          <a:xfrm>
            <a:off x="1051713" y="4709421"/>
            <a:ext cx="17277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USDT 1</a:t>
            </a:r>
            <a:r>
              <a:rPr lang="ko-KR" altLang="en-US" dirty="0"/>
              <a:t>개 구매 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ED43365-89BB-6626-1D3B-0ACB83427E22}"/>
              </a:ext>
            </a:extLst>
          </p:cNvPr>
          <p:cNvSpPr/>
          <p:nvPr/>
        </p:nvSpPr>
        <p:spPr>
          <a:xfrm>
            <a:off x="2987644" y="4636325"/>
            <a:ext cx="1195056" cy="534377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44F5BE5-281C-A929-55BB-34A29B926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3" y="423745"/>
            <a:ext cx="2350881" cy="68567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419696B-E9E4-3911-D1E7-1A4F37C7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770" y="3783091"/>
            <a:ext cx="2350881" cy="68567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6B883E4-A521-03F6-2D17-6D78CBC814F9}"/>
              </a:ext>
            </a:extLst>
          </p:cNvPr>
          <p:cNvSpPr txBox="1"/>
          <p:nvPr/>
        </p:nvSpPr>
        <p:spPr>
          <a:xfrm>
            <a:off x="4390930" y="4718847"/>
            <a:ext cx="26526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1,361</a:t>
            </a:r>
            <a:r>
              <a:rPr lang="ko-KR" altLang="en-US" dirty="0"/>
              <a:t>원을 </a:t>
            </a:r>
            <a:r>
              <a:rPr lang="en-US" altLang="ko-KR" dirty="0"/>
              <a:t>1</a:t>
            </a:r>
            <a:r>
              <a:rPr lang="ko-KR" altLang="en-US" dirty="0"/>
              <a:t>달러로 환전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AE0E3-DF74-DF34-3DD6-E7E938C73E9B}"/>
              </a:ext>
            </a:extLst>
          </p:cNvPr>
          <p:cNvSpPr txBox="1"/>
          <p:nvPr/>
        </p:nvSpPr>
        <p:spPr>
          <a:xfrm>
            <a:off x="4390930" y="5338261"/>
            <a:ext cx="26526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달러로 미국 국채 구매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48E071-CB8B-490E-D357-897F2F30201A}"/>
              </a:ext>
            </a:extLst>
          </p:cNvPr>
          <p:cNvSpPr txBox="1"/>
          <p:nvPr/>
        </p:nvSpPr>
        <p:spPr>
          <a:xfrm>
            <a:off x="7043596" y="5347575"/>
            <a:ext cx="124032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연 이율 </a:t>
            </a:r>
            <a:r>
              <a:rPr lang="en-US" altLang="ko-KR" sz="1500" dirty="0"/>
              <a:t>4%</a:t>
            </a:r>
            <a:endParaRPr lang="ko-KR" altLang="en-US" sz="15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9F1E1C-E104-D860-71AF-33ADBFF0B3FD}"/>
              </a:ext>
            </a:extLst>
          </p:cNvPr>
          <p:cNvSpPr txBox="1"/>
          <p:nvPr/>
        </p:nvSpPr>
        <p:spPr>
          <a:xfrm>
            <a:off x="8990090" y="4694032"/>
            <a:ext cx="3058115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38</a:t>
            </a:r>
            <a:r>
              <a:rPr lang="ko-KR" altLang="en-US" dirty="0"/>
              <a:t>조원 국채 매입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en-US" altLang="ko-KR" dirty="0"/>
              <a:t>        =&gt; 1</a:t>
            </a:r>
            <a:r>
              <a:rPr lang="ko-KR" altLang="en-US" dirty="0"/>
              <a:t>년 수익 </a:t>
            </a:r>
            <a:r>
              <a:rPr lang="en-US" altLang="ko-KR" dirty="0"/>
              <a:t>: 13</a:t>
            </a:r>
            <a:r>
              <a:rPr lang="ko-KR" altLang="en-US" dirty="0"/>
              <a:t>조원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63D7D3-EF5A-FF4B-0B72-F94E967A099B}"/>
              </a:ext>
            </a:extLst>
          </p:cNvPr>
          <p:cNvSpPr txBox="1"/>
          <p:nvPr/>
        </p:nvSpPr>
        <p:spPr>
          <a:xfrm>
            <a:off x="7720649" y="2751892"/>
            <a:ext cx="4327556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GENIUS Act : </a:t>
            </a:r>
            <a:r>
              <a:rPr lang="ko-KR" altLang="en-US" sz="1500" dirty="0"/>
              <a:t>달러 </a:t>
            </a:r>
            <a:r>
              <a:rPr lang="ko-KR" altLang="en-US" sz="1500" dirty="0" err="1"/>
              <a:t>스테이블</a:t>
            </a:r>
            <a:r>
              <a:rPr lang="ko-KR" altLang="en-US" sz="1500" dirty="0"/>
              <a:t> 코인 발행사는</a:t>
            </a:r>
            <a:endParaRPr lang="en-US" altLang="ko-KR" sz="1500" dirty="0"/>
          </a:p>
          <a:p>
            <a:endParaRPr lang="en-US" altLang="ko-KR" sz="800" dirty="0"/>
          </a:p>
          <a:p>
            <a:r>
              <a:rPr lang="en-US" altLang="ko-KR" sz="1500" dirty="0"/>
              <a:t>                  </a:t>
            </a:r>
            <a:r>
              <a:rPr lang="ko-KR" altLang="en-US" sz="1500" dirty="0"/>
              <a:t>국채를 준비자산으로 보유 해야함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D6ED668-9F2E-8EEE-67A4-D65954CD5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832" y="2080013"/>
            <a:ext cx="1009650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9178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3CE9-F33C-D3F5-0114-806C3095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326FF-832A-246E-98AA-3DAEF286E033}"/>
              </a:ext>
            </a:extLst>
          </p:cNvPr>
          <p:cNvSpPr txBox="1"/>
          <p:nvPr/>
        </p:nvSpPr>
        <p:spPr>
          <a:xfrm>
            <a:off x="4871993" y="1078981"/>
            <a:ext cx="13670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미국 정부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7CDE5-07B1-1B26-2B70-D9BF709B8050}"/>
              </a:ext>
            </a:extLst>
          </p:cNvPr>
          <p:cNvSpPr txBox="1"/>
          <p:nvPr/>
        </p:nvSpPr>
        <p:spPr>
          <a:xfrm>
            <a:off x="1961589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재무부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8E318-5532-13F5-5CF6-5733DBC6AB1E}"/>
              </a:ext>
            </a:extLst>
          </p:cNvPr>
          <p:cNvSpPr txBox="1"/>
          <p:nvPr/>
        </p:nvSpPr>
        <p:spPr>
          <a:xfrm>
            <a:off x="2835250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국무부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B6043-77A6-99B7-F643-ABF59894DADB}"/>
              </a:ext>
            </a:extLst>
          </p:cNvPr>
          <p:cNvSpPr txBox="1"/>
          <p:nvPr/>
        </p:nvSpPr>
        <p:spPr>
          <a:xfrm>
            <a:off x="3693398" y="2242991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국방부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497C05-9959-F1F8-81A6-D0206D8B44F2}"/>
              </a:ext>
            </a:extLst>
          </p:cNvPr>
          <p:cNvSpPr txBox="1"/>
          <p:nvPr/>
        </p:nvSpPr>
        <p:spPr>
          <a:xfrm>
            <a:off x="454893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법무부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D54DD-5186-95AB-9C94-C031E6738237}"/>
              </a:ext>
            </a:extLst>
          </p:cNvPr>
          <p:cNvSpPr txBox="1"/>
          <p:nvPr/>
        </p:nvSpPr>
        <p:spPr>
          <a:xfrm>
            <a:off x="539676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농무부</a:t>
            </a:r>
            <a:endParaRPr lang="ko-KR" altLang="en-US" sz="1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FAF2E7-DF8D-5276-D758-F9B96A4CE493}"/>
              </a:ext>
            </a:extLst>
          </p:cNvPr>
          <p:cNvSpPr txBox="1"/>
          <p:nvPr/>
        </p:nvSpPr>
        <p:spPr>
          <a:xfrm>
            <a:off x="9639190" y="2239969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안보부</a:t>
            </a:r>
            <a:endParaRPr lang="ko-KR" altLang="en-US" sz="1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5D22-4A8C-00D8-CF72-DCD05A8A4B47}"/>
              </a:ext>
            </a:extLst>
          </p:cNvPr>
          <p:cNvSpPr txBox="1"/>
          <p:nvPr/>
        </p:nvSpPr>
        <p:spPr>
          <a:xfrm>
            <a:off x="6261508" y="2231927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상무부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7B6F7D-BD5E-F3AC-2B01-C7736D170233}"/>
              </a:ext>
            </a:extLst>
          </p:cNvPr>
          <p:cNvSpPr txBox="1"/>
          <p:nvPr/>
        </p:nvSpPr>
        <p:spPr>
          <a:xfrm>
            <a:off x="7116753" y="2231926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내무부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760CCF-7516-08E4-09E8-7D4D83CDC600}"/>
              </a:ext>
            </a:extLst>
          </p:cNvPr>
          <p:cNvSpPr txBox="1"/>
          <p:nvPr/>
        </p:nvSpPr>
        <p:spPr>
          <a:xfrm>
            <a:off x="8775700" y="2231925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교육부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68F4EB-F35C-8376-C20A-F580ADC9A439}"/>
              </a:ext>
            </a:extLst>
          </p:cNvPr>
          <p:cNvSpPr txBox="1"/>
          <p:nvPr/>
        </p:nvSpPr>
        <p:spPr>
          <a:xfrm>
            <a:off x="7941204" y="2231924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보훈부</a:t>
            </a:r>
            <a:endParaRPr lang="ko-KR" altLang="en-US" sz="1500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7ECFF40-6469-4C50-ED6F-BAEE65224871}"/>
              </a:ext>
            </a:extLst>
          </p:cNvPr>
          <p:cNvCxnSpPr>
            <a:cxnSpLocks/>
          </p:cNvCxnSpPr>
          <p:nvPr/>
        </p:nvCxnSpPr>
        <p:spPr>
          <a:xfrm>
            <a:off x="2310044" y="1792588"/>
            <a:ext cx="77649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B88C4DC-E8BA-1D7B-CEFC-7915951EF7AF}"/>
              </a:ext>
            </a:extLst>
          </p:cNvPr>
          <p:cNvCxnSpPr>
            <a:cxnSpLocks/>
          </p:cNvCxnSpPr>
          <p:nvPr/>
        </p:nvCxnSpPr>
        <p:spPr>
          <a:xfrm flipV="1">
            <a:off x="5555529" y="1448313"/>
            <a:ext cx="0" cy="344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5CE7A6F-B701-24BC-8447-16CEB8D231B8}"/>
              </a:ext>
            </a:extLst>
          </p:cNvPr>
          <p:cNvCxnSpPr>
            <a:cxnSpLocks/>
          </p:cNvCxnSpPr>
          <p:nvPr/>
        </p:nvCxnSpPr>
        <p:spPr>
          <a:xfrm flipV="1">
            <a:off x="3225954" y="1792587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D601C2C-3F5B-2839-419C-B9AFC8192963}"/>
              </a:ext>
            </a:extLst>
          </p:cNvPr>
          <p:cNvCxnSpPr>
            <a:cxnSpLocks/>
          </p:cNvCxnSpPr>
          <p:nvPr/>
        </p:nvCxnSpPr>
        <p:spPr>
          <a:xfrm flipV="1">
            <a:off x="2310044" y="179108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5DD3636-7A0D-43D8-D2C7-75B821051868}"/>
              </a:ext>
            </a:extLst>
          </p:cNvPr>
          <p:cNvCxnSpPr>
            <a:cxnSpLocks/>
          </p:cNvCxnSpPr>
          <p:nvPr/>
        </p:nvCxnSpPr>
        <p:spPr>
          <a:xfrm flipV="1">
            <a:off x="4941050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3535626-7C98-731B-A48B-1D6F073CD2AF}"/>
              </a:ext>
            </a:extLst>
          </p:cNvPr>
          <p:cNvCxnSpPr>
            <a:cxnSpLocks/>
          </p:cNvCxnSpPr>
          <p:nvPr/>
        </p:nvCxnSpPr>
        <p:spPr>
          <a:xfrm flipV="1">
            <a:off x="5777507" y="1791079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C595128-B66A-4F60-2465-F5C62C30A11F}"/>
              </a:ext>
            </a:extLst>
          </p:cNvPr>
          <p:cNvCxnSpPr>
            <a:cxnSpLocks/>
          </p:cNvCxnSpPr>
          <p:nvPr/>
        </p:nvCxnSpPr>
        <p:spPr>
          <a:xfrm flipV="1">
            <a:off x="6636089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39D27D5-9909-64F6-A163-DB57324B8134}"/>
              </a:ext>
            </a:extLst>
          </p:cNvPr>
          <p:cNvCxnSpPr>
            <a:cxnSpLocks/>
          </p:cNvCxnSpPr>
          <p:nvPr/>
        </p:nvCxnSpPr>
        <p:spPr>
          <a:xfrm flipV="1">
            <a:off x="7514274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C5356D1-4A33-DEF3-22D8-0625B0AAFB76}"/>
              </a:ext>
            </a:extLst>
          </p:cNvPr>
          <p:cNvCxnSpPr>
            <a:cxnSpLocks/>
          </p:cNvCxnSpPr>
          <p:nvPr/>
        </p:nvCxnSpPr>
        <p:spPr>
          <a:xfrm flipV="1">
            <a:off x="8310989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EF3849C-5659-B491-9A7B-55FBD2AC7DF7}"/>
              </a:ext>
            </a:extLst>
          </p:cNvPr>
          <p:cNvCxnSpPr>
            <a:cxnSpLocks/>
          </p:cNvCxnSpPr>
          <p:nvPr/>
        </p:nvCxnSpPr>
        <p:spPr>
          <a:xfrm flipV="1">
            <a:off x="9134848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FD584E7-306D-68CC-40CC-CFBEC2F96AE4}"/>
              </a:ext>
            </a:extLst>
          </p:cNvPr>
          <p:cNvCxnSpPr>
            <a:cxnSpLocks/>
          </p:cNvCxnSpPr>
          <p:nvPr/>
        </p:nvCxnSpPr>
        <p:spPr>
          <a:xfrm flipV="1">
            <a:off x="10076415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3E621A3-6BD4-949B-9285-597B138A9CD1}"/>
              </a:ext>
            </a:extLst>
          </p:cNvPr>
          <p:cNvCxnSpPr>
            <a:cxnSpLocks/>
          </p:cNvCxnSpPr>
          <p:nvPr/>
        </p:nvCxnSpPr>
        <p:spPr>
          <a:xfrm flipV="1">
            <a:off x="2335593" y="256313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28537D2-1F7B-0393-2736-9198EEFF8296}"/>
              </a:ext>
            </a:extLst>
          </p:cNvPr>
          <p:cNvSpPr txBox="1"/>
          <p:nvPr/>
        </p:nvSpPr>
        <p:spPr>
          <a:xfrm>
            <a:off x="1961588" y="3008942"/>
            <a:ext cx="781409" cy="3231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</a:rPr>
              <a:t>IRS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0410C0A9-202C-886A-A08F-B9F6EB3F877E}"/>
              </a:ext>
            </a:extLst>
          </p:cNvPr>
          <p:cNvCxnSpPr>
            <a:cxnSpLocks/>
          </p:cNvCxnSpPr>
          <p:nvPr/>
        </p:nvCxnSpPr>
        <p:spPr>
          <a:xfrm flipV="1">
            <a:off x="4066414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61151A7-F436-58F7-F74D-4238CC6347C7}"/>
              </a:ext>
            </a:extLst>
          </p:cNvPr>
          <p:cNvSpPr txBox="1"/>
          <p:nvPr/>
        </p:nvSpPr>
        <p:spPr>
          <a:xfrm>
            <a:off x="4565068" y="3568541"/>
            <a:ext cx="2435456" cy="938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총수입 </a:t>
            </a:r>
            <a:r>
              <a:rPr lang="en-US" altLang="ko-KR" sz="1500" dirty="0"/>
              <a:t>: 7,000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ko-KR" altLang="en-US" sz="1500" dirty="0"/>
              <a:t>총지출 </a:t>
            </a:r>
            <a:r>
              <a:rPr lang="en-US" altLang="ko-KR" sz="1500" dirty="0"/>
              <a:t>: 9,000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en-US" altLang="ko-KR" sz="1500" dirty="0"/>
              <a:t>           2,000</a:t>
            </a:r>
            <a:r>
              <a:rPr lang="ko-KR" altLang="en-US" sz="1500" dirty="0"/>
              <a:t>조원 적자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E4B76B-4D04-B90B-4D1A-7E7D313C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78" y="573218"/>
            <a:ext cx="1353271" cy="906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493ADAD-CDD0-7EEB-F660-9DC6ADA2F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88" y="154668"/>
            <a:ext cx="917082" cy="90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B6873C-BAE6-A540-F38C-DFB4D516D760}"/>
              </a:ext>
            </a:extLst>
          </p:cNvPr>
          <p:cNvSpPr txBox="1"/>
          <p:nvPr/>
        </p:nvSpPr>
        <p:spPr>
          <a:xfrm>
            <a:off x="4574170" y="5409687"/>
            <a:ext cx="2167404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국채 이자만 </a:t>
            </a:r>
            <a:r>
              <a:rPr lang="en-US" altLang="ko-KR" sz="1500" dirty="0"/>
              <a:t>1,300</a:t>
            </a:r>
            <a:r>
              <a:rPr lang="ko-KR" altLang="en-US" sz="1500" dirty="0"/>
              <a:t>조원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BE483-0ABB-C983-B44F-801DFA95445E}"/>
              </a:ext>
            </a:extLst>
          </p:cNvPr>
          <p:cNvSpPr txBox="1"/>
          <p:nvPr/>
        </p:nvSpPr>
        <p:spPr>
          <a:xfrm>
            <a:off x="4575350" y="5806796"/>
            <a:ext cx="5738829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매년 </a:t>
            </a:r>
            <a:r>
              <a:rPr lang="en-US" altLang="ko-KR" sz="1500" dirty="0"/>
              <a:t>2,500</a:t>
            </a:r>
            <a:r>
              <a:rPr lang="ko-KR" altLang="en-US" sz="1500" dirty="0"/>
              <a:t>조원을 새로 빌린다</a:t>
            </a:r>
            <a:r>
              <a:rPr lang="en-US" altLang="ko-KR" sz="1500" dirty="0"/>
              <a:t>. =&gt; </a:t>
            </a:r>
            <a:r>
              <a:rPr lang="ko-KR" altLang="en-US" sz="1500" dirty="0"/>
              <a:t>해마다 이자 </a:t>
            </a:r>
            <a:r>
              <a:rPr lang="en-US" altLang="ko-KR" sz="1500" dirty="0"/>
              <a:t>100</a:t>
            </a:r>
            <a:r>
              <a:rPr lang="ko-KR" altLang="en-US" sz="1500" dirty="0"/>
              <a:t>조원 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FE0F6-933A-23A3-4186-08BDDAC3556C}"/>
              </a:ext>
            </a:extLst>
          </p:cNvPr>
          <p:cNvSpPr txBox="1"/>
          <p:nvPr/>
        </p:nvSpPr>
        <p:spPr>
          <a:xfrm>
            <a:off x="471937" y="5606741"/>
            <a:ext cx="4057188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b="1" dirty="0"/>
              <a:t>총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부채 </a:t>
            </a:r>
            <a:r>
              <a:rPr lang="en-US" altLang="ko-KR" sz="2800" b="1" dirty="0"/>
              <a:t>: 5</a:t>
            </a:r>
            <a:r>
              <a:rPr lang="ko-KR" altLang="en-US" sz="2800" b="1" dirty="0"/>
              <a:t>경 </a:t>
            </a:r>
            <a:r>
              <a:rPr lang="en-US" altLang="ko-KR" sz="2800" b="1" dirty="0"/>
              <a:t>5,000</a:t>
            </a:r>
            <a:r>
              <a:rPr lang="ko-KR" altLang="en-US" sz="2800" b="1" dirty="0"/>
              <a:t>조원</a:t>
            </a:r>
          </a:p>
        </p:txBody>
      </p:sp>
    </p:spTree>
    <p:extLst>
      <p:ext uri="{BB962C8B-B14F-4D97-AF65-F5344CB8AC3E}">
        <p14:creationId xmlns:p14="http://schemas.microsoft.com/office/powerpoint/2010/main" val="39177755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B00A-6C05-FD4B-D75F-E89C0725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BD01EC-2E1C-2506-A2E1-A9DFA2403979}"/>
              </a:ext>
            </a:extLst>
          </p:cNvPr>
          <p:cNvSpPr txBox="1"/>
          <p:nvPr/>
        </p:nvSpPr>
        <p:spPr>
          <a:xfrm>
            <a:off x="1011116" y="4132456"/>
            <a:ext cx="19646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b="1" dirty="0"/>
              <a:t>연봉 </a:t>
            </a:r>
            <a:r>
              <a:rPr lang="en-US" altLang="ko-KR" sz="2100" b="1" dirty="0"/>
              <a:t>5</a:t>
            </a:r>
            <a:r>
              <a:rPr lang="ko-KR" altLang="en-US" sz="2100" b="1" dirty="0"/>
              <a:t>천만원</a:t>
            </a:r>
          </a:p>
        </p:txBody>
      </p:sp>
      <p:pic>
        <p:nvPicPr>
          <p:cNvPr id="8" name="그림 7" descr="Emoticons 1.2">
            <a:extLst>
              <a:ext uri="{FF2B5EF4-FFF2-40B4-BE49-F238E27FC236}">
                <a16:creationId xmlns:a16="http://schemas.microsoft.com/office/drawing/2014/main" id="{B7B1FD59-7282-DFCF-3999-9E1569BF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7" y="1755901"/>
            <a:ext cx="228600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3FDA4D-055C-F746-7882-3037D9760A0C}"/>
              </a:ext>
            </a:extLst>
          </p:cNvPr>
          <p:cNvSpPr txBox="1"/>
          <p:nvPr/>
        </p:nvSpPr>
        <p:spPr>
          <a:xfrm>
            <a:off x="3610215" y="3824679"/>
            <a:ext cx="2718157" cy="723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대출 </a:t>
            </a:r>
            <a:r>
              <a:rPr lang="en-US" altLang="ko-KR" dirty="0"/>
              <a:t>: 3</a:t>
            </a:r>
            <a:r>
              <a:rPr lang="ko-KR" altLang="en-US" dirty="0"/>
              <a:t>억 </a:t>
            </a:r>
            <a:r>
              <a:rPr lang="en-US" altLang="ko-KR" dirty="0"/>
              <a:t>6</a:t>
            </a:r>
            <a:r>
              <a:rPr lang="ko-KR" altLang="en-US" dirty="0"/>
              <a:t>천만원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ko-KR" altLang="en-US" dirty="0"/>
              <a:t>이자 </a:t>
            </a:r>
            <a:r>
              <a:rPr lang="en-US" altLang="ko-KR" dirty="0"/>
              <a:t>: 1,200</a:t>
            </a:r>
            <a:r>
              <a:rPr lang="ko-KR" altLang="en-US" dirty="0"/>
              <a:t>만원 </a:t>
            </a:r>
            <a:r>
              <a:rPr lang="en-US" altLang="ko-KR" dirty="0"/>
              <a:t>(1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9092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09D1-B4A3-6957-4768-F6DDCB51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89E7B-B29D-BA42-033C-DCBC2B587637}"/>
              </a:ext>
            </a:extLst>
          </p:cNvPr>
          <p:cNvSpPr txBox="1"/>
          <p:nvPr/>
        </p:nvSpPr>
        <p:spPr>
          <a:xfrm>
            <a:off x="1011116" y="4132456"/>
            <a:ext cx="19646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b="1" dirty="0"/>
              <a:t>연봉 </a:t>
            </a:r>
            <a:r>
              <a:rPr lang="en-US" altLang="ko-KR" sz="2100" b="1" dirty="0"/>
              <a:t>5</a:t>
            </a:r>
            <a:r>
              <a:rPr lang="ko-KR" altLang="en-US" sz="2100" b="1" dirty="0"/>
              <a:t>천만원</a:t>
            </a:r>
          </a:p>
        </p:txBody>
      </p:sp>
      <p:pic>
        <p:nvPicPr>
          <p:cNvPr id="8" name="그림 7" descr="Emoticons 1.2">
            <a:extLst>
              <a:ext uri="{FF2B5EF4-FFF2-40B4-BE49-F238E27FC236}">
                <a16:creationId xmlns:a16="http://schemas.microsoft.com/office/drawing/2014/main" id="{D9026470-C3E9-E05E-8B34-5AC26EDD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7" y="1755901"/>
            <a:ext cx="228600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E920DF-A662-5666-DF39-D84A8B195B40}"/>
              </a:ext>
            </a:extLst>
          </p:cNvPr>
          <p:cNvSpPr txBox="1"/>
          <p:nvPr/>
        </p:nvSpPr>
        <p:spPr>
          <a:xfrm>
            <a:off x="3610215" y="3824679"/>
            <a:ext cx="2718157" cy="723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대출 </a:t>
            </a:r>
            <a:r>
              <a:rPr lang="en-US" altLang="ko-KR" dirty="0"/>
              <a:t>: 3</a:t>
            </a:r>
            <a:r>
              <a:rPr lang="ko-KR" altLang="en-US" dirty="0"/>
              <a:t>억 </a:t>
            </a:r>
            <a:r>
              <a:rPr lang="en-US" altLang="ko-KR" dirty="0"/>
              <a:t>6</a:t>
            </a:r>
            <a:r>
              <a:rPr lang="ko-KR" altLang="en-US" dirty="0"/>
              <a:t>천만원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ko-KR" altLang="en-US" dirty="0"/>
              <a:t>이자 </a:t>
            </a:r>
            <a:r>
              <a:rPr lang="en-US" altLang="ko-KR" dirty="0"/>
              <a:t>: 1,200</a:t>
            </a:r>
            <a:r>
              <a:rPr lang="ko-KR" altLang="en-US" dirty="0"/>
              <a:t>만원 </a:t>
            </a:r>
            <a:r>
              <a:rPr lang="en-US" altLang="ko-KR" dirty="0"/>
              <a:t>(1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5F62435A-788F-A228-09BD-875395563606}"/>
              </a:ext>
            </a:extLst>
          </p:cNvPr>
          <p:cNvSpPr/>
          <p:nvPr/>
        </p:nvSpPr>
        <p:spPr>
          <a:xfrm>
            <a:off x="2566657" y="1222218"/>
            <a:ext cx="2385589" cy="1113575"/>
          </a:xfrm>
          <a:prstGeom prst="wedgeRoundRectCallout">
            <a:avLst>
              <a:gd name="adj1" fmla="val -61586"/>
              <a:gd name="adj2" fmla="val 7102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내년에도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천만원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500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더 </a:t>
            </a:r>
            <a:r>
              <a:rPr lang="ko-KR" altLang="en-US" dirty="0" err="1">
                <a:solidFill>
                  <a:schemeClr val="tx1"/>
                </a:solidFill>
              </a:rPr>
              <a:t>빌릴꺼야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62CC6A-B51E-1F96-B8A2-9E7EA0168E49}"/>
              </a:ext>
            </a:extLst>
          </p:cNvPr>
          <p:cNvSpPr txBox="1"/>
          <p:nvPr/>
        </p:nvSpPr>
        <p:spPr>
          <a:xfrm>
            <a:off x="4969293" y="1903585"/>
            <a:ext cx="23855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(1</a:t>
            </a:r>
            <a:r>
              <a:rPr lang="ko-KR" altLang="en-US" sz="1500" dirty="0"/>
              <a:t>년 이자 </a:t>
            </a:r>
            <a:r>
              <a:rPr lang="en-US" altLang="ko-KR" sz="1500" dirty="0"/>
              <a:t>100</a:t>
            </a:r>
            <a:r>
              <a:rPr lang="ko-KR" altLang="en-US" sz="1500" dirty="0"/>
              <a:t>만원 증가</a:t>
            </a:r>
            <a:r>
              <a:rPr lang="en-US" altLang="ko-KR" sz="1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5947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799C3-2967-1473-4ACA-C074AF09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DDF46-52CC-53CA-FACC-5F109A15DF51}"/>
              </a:ext>
            </a:extLst>
          </p:cNvPr>
          <p:cNvSpPr txBox="1"/>
          <p:nvPr/>
        </p:nvSpPr>
        <p:spPr>
          <a:xfrm>
            <a:off x="1011116" y="4132456"/>
            <a:ext cx="19646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b="1" dirty="0"/>
              <a:t>연봉 </a:t>
            </a:r>
            <a:r>
              <a:rPr lang="en-US" altLang="ko-KR" sz="2100" b="1" dirty="0"/>
              <a:t>5</a:t>
            </a:r>
            <a:r>
              <a:rPr lang="ko-KR" altLang="en-US" sz="2100" b="1" dirty="0"/>
              <a:t>천만원</a:t>
            </a:r>
          </a:p>
        </p:txBody>
      </p:sp>
      <p:pic>
        <p:nvPicPr>
          <p:cNvPr id="8" name="그림 7" descr="Emoticons 1.2">
            <a:extLst>
              <a:ext uri="{FF2B5EF4-FFF2-40B4-BE49-F238E27FC236}">
                <a16:creationId xmlns:a16="http://schemas.microsoft.com/office/drawing/2014/main" id="{59503F8D-119C-37B8-35C5-63DF0648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7" y="1755901"/>
            <a:ext cx="228600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A8B611-47F4-C4C6-0302-E66935212208}"/>
              </a:ext>
            </a:extLst>
          </p:cNvPr>
          <p:cNvSpPr txBox="1"/>
          <p:nvPr/>
        </p:nvSpPr>
        <p:spPr>
          <a:xfrm>
            <a:off x="3610215" y="3824679"/>
            <a:ext cx="2718157" cy="723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대출 </a:t>
            </a:r>
            <a:r>
              <a:rPr lang="en-US" altLang="ko-KR" dirty="0"/>
              <a:t>: 3</a:t>
            </a:r>
            <a:r>
              <a:rPr lang="ko-KR" altLang="en-US" dirty="0"/>
              <a:t>억 </a:t>
            </a:r>
            <a:r>
              <a:rPr lang="en-US" altLang="ko-KR" dirty="0"/>
              <a:t>6</a:t>
            </a:r>
            <a:r>
              <a:rPr lang="ko-KR" altLang="en-US" dirty="0"/>
              <a:t>천만원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ko-KR" altLang="en-US" dirty="0"/>
              <a:t>이자 </a:t>
            </a:r>
            <a:r>
              <a:rPr lang="en-US" altLang="ko-KR" dirty="0"/>
              <a:t>: 1,200</a:t>
            </a:r>
            <a:r>
              <a:rPr lang="ko-KR" altLang="en-US" dirty="0"/>
              <a:t>만원 </a:t>
            </a:r>
            <a:r>
              <a:rPr lang="en-US" altLang="ko-KR" dirty="0"/>
              <a:t>(1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BCE66CD-076F-FEF7-E8BB-1B3E1BB72BFB}"/>
              </a:ext>
            </a:extLst>
          </p:cNvPr>
          <p:cNvSpPr/>
          <p:nvPr/>
        </p:nvSpPr>
        <p:spPr>
          <a:xfrm>
            <a:off x="2566657" y="1222218"/>
            <a:ext cx="2385589" cy="1113575"/>
          </a:xfrm>
          <a:prstGeom prst="wedgeRoundRectCallout">
            <a:avLst>
              <a:gd name="adj1" fmla="val -61586"/>
              <a:gd name="adj2" fmla="val 7102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내년에도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천만원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500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더 </a:t>
            </a:r>
            <a:r>
              <a:rPr lang="ko-KR" altLang="en-US" dirty="0" err="1">
                <a:solidFill>
                  <a:schemeClr val="tx1"/>
                </a:solidFill>
              </a:rPr>
              <a:t>빌릴꺼야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928B7-AB2B-6979-A47F-31269E0522AE}"/>
              </a:ext>
            </a:extLst>
          </p:cNvPr>
          <p:cNvSpPr txBox="1"/>
          <p:nvPr/>
        </p:nvSpPr>
        <p:spPr>
          <a:xfrm>
            <a:off x="4969293" y="1903585"/>
            <a:ext cx="23855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(1</a:t>
            </a:r>
            <a:r>
              <a:rPr lang="ko-KR" altLang="en-US" sz="1500" dirty="0"/>
              <a:t>년 이자 </a:t>
            </a:r>
            <a:r>
              <a:rPr lang="en-US" altLang="ko-KR" sz="1500" dirty="0"/>
              <a:t>100</a:t>
            </a:r>
            <a:r>
              <a:rPr lang="ko-KR" altLang="en-US" sz="1500" dirty="0"/>
              <a:t>만원 증가</a:t>
            </a:r>
            <a:r>
              <a:rPr lang="en-US" altLang="ko-KR" sz="15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4CF0D-6879-5871-3202-F8ED4F3FB69F}"/>
              </a:ext>
            </a:extLst>
          </p:cNvPr>
          <p:cNvSpPr txBox="1"/>
          <p:nvPr/>
        </p:nvSpPr>
        <p:spPr>
          <a:xfrm>
            <a:off x="6977714" y="3391569"/>
            <a:ext cx="51587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800" b="1" dirty="0"/>
              <a:t>화폐발행권</a:t>
            </a:r>
            <a:endParaRPr lang="en-US" altLang="ko-KR" sz="7800" b="1" dirty="0"/>
          </a:p>
        </p:txBody>
      </p:sp>
    </p:spTree>
    <p:extLst>
      <p:ext uri="{BB962C8B-B14F-4D97-AF65-F5344CB8AC3E}">
        <p14:creationId xmlns:p14="http://schemas.microsoft.com/office/powerpoint/2010/main" val="26068078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B9F2-282B-854B-DB99-269A503A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1D334-A588-FB53-1191-16F9731DDAEA}"/>
              </a:ext>
            </a:extLst>
          </p:cNvPr>
          <p:cNvSpPr txBox="1"/>
          <p:nvPr/>
        </p:nvSpPr>
        <p:spPr>
          <a:xfrm>
            <a:off x="4871993" y="1078981"/>
            <a:ext cx="13670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미국 정부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1B32F-527C-0AB2-386E-516466AE0388}"/>
              </a:ext>
            </a:extLst>
          </p:cNvPr>
          <p:cNvSpPr txBox="1"/>
          <p:nvPr/>
        </p:nvSpPr>
        <p:spPr>
          <a:xfrm>
            <a:off x="1961589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재무부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714B1-B627-04DE-9858-CBC26AB9E30E}"/>
              </a:ext>
            </a:extLst>
          </p:cNvPr>
          <p:cNvSpPr txBox="1"/>
          <p:nvPr/>
        </p:nvSpPr>
        <p:spPr>
          <a:xfrm>
            <a:off x="2835250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국무부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85469-F054-9316-BCF5-1879E756A8FB}"/>
              </a:ext>
            </a:extLst>
          </p:cNvPr>
          <p:cNvSpPr txBox="1"/>
          <p:nvPr/>
        </p:nvSpPr>
        <p:spPr>
          <a:xfrm>
            <a:off x="3693398" y="2242991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국방부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91C04-1F59-B6FD-6910-AB574607C3C3}"/>
              </a:ext>
            </a:extLst>
          </p:cNvPr>
          <p:cNvSpPr txBox="1"/>
          <p:nvPr/>
        </p:nvSpPr>
        <p:spPr>
          <a:xfrm>
            <a:off x="454893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법무부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89DCD7-3447-0D0C-23FB-CD0A5329B05D}"/>
              </a:ext>
            </a:extLst>
          </p:cNvPr>
          <p:cNvSpPr txBox="1"/>
          <p:nvPr/>
        </p:nvSpPr>
        <p:spPr>
          <a:xfrm>
            <a:off x="539676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농무부</a:t>
            </a:r>
            <a:endParaRPr lang="ko-KR" altLang="en-US" sz="1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39072C-CF79-D38E-59AA-FA73D0FAD0EA}"/>
              </a:ext>
            </a:extLst>
          </p:cNvPr>
          <p:cNvSpPr txBox="1"/>
          <p:nvPr/>
        </p:nvSpPr>
        <p:spPr>
          <a:xfrm>
            <a:off x="9639190" y="2239969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안보부</a:t>
            </a:r>
            <a:endParaRPr lang="ko-KR" altLang="en-US" sz="1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1D67BE-CCE5-6873-0FDB-3F920C311F4B}"/>
              </a:ext>
            </a:extLst>
          </p:cNvPr>
          <p:cNvSpPr txBox="1"/>
          <p:nvPr/>
        </p:nvSpPr>
        <p:spPr>
          <a:xfrm>
            <a:off x="6261508" y="2231927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상무부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AEB096-F7D0-101A-E10A-EB4738167307}"/>
              </a:ext>
            </a:extLst>
          </p:cNvPr>
          <p:cNvSpPr txBox="1"/>
          <p:nvPr/>
        </p:nvSpPr>
        <p:spPr>
          <a:xfrm>
            <a:off x="7116753" y="2231926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내무부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FCEE82-76BF-0D4F-571A-647CFADCB7FA}"/>
              </a:ext>
            </a:extLst>
          </p:cNvPr>
          <p:cNvSpPr txBox="1"/>
          <p:nvPr/>
        </p:nvSpPr>
        <p:spPr>
          <a:xfrm>
            <a:off x="8775700" y="2231925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교육부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AEE550-F4AF-252E-C321-A353BDF36B5C}"/>
              </a:ext>
            </a:extLst>
          </p:cNvPr>
          <p:cNvSpPr txBox="1"/>
          <p:nvPr/>
        </p:nvSpPr>
        <p:spPr>
          <a:xfrm>
            <a:off x="7941204" y="2231924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보훈부</a:t>
            </a:r>
            <a:endParaRPr lang="ko-KR" altLang="en-US" sz="1500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654331F-2936-F32A-5FB3-29783AB7BF68}"/>
              </a:ext>
            </a:extLst>
          </p:cNvPr>
          <p:cNvCxnSpPr>
            <a:cxnSpLocks/>
          </p:cNvCxnSpPr>
          <p:nvPr/>
        </p:nvCxnSpPr>
        <p:spPr>
          <a:xfrm>
            <a:off x="2310044" y="1792588"/>
            <a:ext cx="77649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343AB43-E6D2-6614-B25C-DC78272D1766}"/>
              </a:ext>
            </a:extLst>
          </p:cNvPr>
          <p:cNvCxnSpPr>
            <a:cxnSpLocks/>
          </p:cNvCxnSpPr>
          <p:nvPr/>
        </p:nvCxnSpPr>
        <p:spPr>
          <a:xfrm flipV="1">
            <a:off x="5555529" y="1448313"/>
            <a:ext cx="0" cy="344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41F075E-D764-8AF2-B0BF-D55939E53209}"/>
              </a:ext>
            </a:extLst>
          </p:cNvPr>
          <p:cNvCxnSpPr>
            <a:cxnSpLocks/>
          </p:cNvCxnSpPr>
          <p:nvPr/>
        </p:nvCxnSpPr>
        <p:spPr>
          <a:xfrm flipV="1">
            <a:off x="3225954" y="1792587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0854DB0-20F5-D85A-B3C7-699D80C00AC3}"/>
              </a:ext>
            </a:extLst>
          </p:cNvPr>
          <p:cNvCxnSpPr>
            <a:cxnSpLocks/>
          </p:cNvCxnSpPr>
          <p:nvPr/>
        </p:nvCxnSpPr>
        <p:spPr>
          <a:xfrm flipV="1">
            <a:off x="2310044" y="179108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7638397A-0385-E2F0-B3CF-B4F042D8174F}"/>
              </a:ext>
            </a:extLst>
          </p:cNvPr>
          <p:cNvCxnSpPr>
            <a:cxnSpLocks/>
          </p:cNvCxnSpPr>
          <p:nvPr/>
        </p:nvCxnSpPr>
        <p:spPr>
          <a:xfrm flipV="1">
            <a:off x="4941050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C6F8808-8F10-8542-52A8-4E0055AC92D0}"/>
              </a:ext>
            </a:extLst>
          </p:cNvPr>
          <p:cNvCxnSpPr>
            <a:cxnSpLocks/>
          </p:cNvCxnSpPr>
          <p:nvPr/>
        </p:nvCxnSpPr>
        <p:spPr>
          <a:xfrm flipV="1">
            <a:off x="5777507" y="1791079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D465B73-AE01-8898-D71C-A21127656B16}"/>
              </a:ext>
            </a:extLst>
          </p:cNvPr>
          <p:cNvCxnSpPr>
            <a:cxnSpLocks/>
          </p:cNvCxnSpPr>
          <p:nvPr/>
        </p:nvCxnSpPr>
        <p:spPr>
          <a:xfrm flipV="1">
            <a:off x="6636089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945EBA-D2E4-187F-6BDA-19A463EEE3ED}"/>
              </a:ext>
            </a:extLst>
          </p:cNvPr>
          <p:cNvCxnSpPr>
            <a:cxnSpLocks/>
          </p:cNvCxnSpPr>
          <p:nvPr/>
        </p:nvCxnSpPr>
        <p:spPr>
          <a:xfrm flipV="1">
            <a:off x="7514274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C17D87C-4DF1-3CF6-864B-CD1CF11F3B29}"/>
              </a:ext>
            </a:extLst>
          </p:cNvPr>
          <p:cNvCxnSpPr>
            <a:cxnSpLocks/>
          </p:cNvCxnSpPr>
          <p:nvPr/>
        </p:nvCxnSpPr>
        <p:spPr>
          <a:xfrm flipV="1">
            <a:off x="8310989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51750CD-E03C-25E5-6B65-091FB3AFA788}"/>
              </a:ext>
            </a:extLst>
          </p:cNvPr>
          <p:cNvCxnSpPr>
            <a:cxnSpLocks/>
          </p:cNvCxnSpPr>
          <p:nvPr/>
        </p:nvCxnSpPr>
        <p:spPr>
          <a:xfrm flipV="1">
            <a:off x="9134848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2DC3368-5089-0B10-4197-2DF5DE806762}"/>
              </a:ext>
            </a:extLst>
          </p:cNvPr>
          <p:cNvCxnSpPr>
            <a:cxnSpLocks/>
          </p:cNvCxnSpPr>
          <p:nvPr/>
        </p:nvCxnSpPr>
        <p:spPr>
          <a:xfrm flipV="1">
            <a:off x="10076415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6C63F95-079C-85EB-E081-228AEED004B3}"/>
              </a:ext>
            </a:extLst>
          </p:cNvPr>
          <p:cNvCxnSpPr>
            <a:cxnSpLocks/>
          </p:cNvCxnSpPr>
          <p:nvPr/>
        </p:nvCxnSpPr>
        <p:spPr>
          <a:xfrm flipV="1">
            <a:off x="2335593" y="256313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D78E828-25C7-D374-FAA3-84E5F3B63BED}"/>
              </a:ext>
            </a:extLst>
          </p:cNvPr>
          <p:cNvSpPr txBox="1"/>
          <p:nvPr/>
        </p:nvSpPr>
        <p:spPr>
          <a:xfrm>
            <a:off x="1961588" y="3008942"/>
            <a:ext cx="781409" cy="3231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</a:rPr>
              <a:t>IRS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7EFFF18-6D10-9CF5-8167-EFC5A34B0C21}"/>
              </a:ext>
            </a:extLst>
          </p:cNvPr>
          <p:cNvCxnSpPr>
            <a:cxnSpLocks/>
          </p:cNvCxnSpPr>
          <p:nvPr/>
        </p:nvCxnSpPr>
        <p:spPr>
          <a:xfrm flipV="1">
            <a:off x="4066414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E9E5A37-FC6E-8DAC-BE90-B9565C0DF059}"/>
              </a:ext>
            </a:extLst>
          </p:cNvPr>
          <p:cNvSpPr txBox="1"/>
          <p:nvPr/>
        </p:nvSpPr>
        <p:spPr>
          <a:xfrm>
            <a:off x="4565068" y="3568541"/>
            <a:ext cx="2435456" cy="938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총수입 </a:t>
            </a:r>
            <a:r>
              <a:rPr lang="en-US" altLang="ko-KR" sz="1500" dirty="0"/>
              <a:t>: 7,000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ko-KR" altLang="en-US" sz="1500" dirty="0"/>
              <a:t>총지출 </a:t>
            </a:r>
            <a:r>
              <a:rPr lang="en-US" altLang="ko-KR" sz="1500" dirty="0"/>
              <a:t>: 9,000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en-US" altLang="ko-KR" sz="1500" dirty="0"/>
              <a:t>           2,000</a:t>
            </a:r>
            <a:r>
              <a:rPr lang="ko-KR" altLang="en-US" sz="1500" dirty="0"/>
              <a:t>조원 적자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A530BD-8313-FBFF-0159-46B8A849F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78" y="573218"/>
            <a:ext cx="1353271" cy="906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FB4496-5F07-6B55-960F-BC37D5B1B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88" y="154668"/>
            <a:ext cx="917082" cy="90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F336DA-1888-806C-A550-BA32DB3A7F36}"/>
              </a:ext>
            </a:extLst>
          </p:cNvPr>
          <p:cNvSpPr txBox="1"/>
          <p:nvPr/>
        </p:nvSpPr>
        <p:spPr>
          <a:xfrm>
            <a:off x="4574170" y="5409687"/>
            <a:ext cx="2167404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국채 이자만 </a:t>
            </a:r>
            <a:r>
              <a:rPr lang="en-US" altLang="ko-KR" sz="1500" dirty="0"/>
              <a:t>1,300</a:t>
            </a:r>
            <a:r>
              <a:rPr lang="ko-KR" altLang="en-US" sz="1500" dirty="0"/>
              <a:t>조원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E6065-398E-B5C4-F12B-7583B3F650AB}"/>
              </a:ext>
            </a:extLst>
          </p:cNvPr>
          <p:cNvSpPr txBox="1"/>
          <p:nvPr/>
        </p:nvSpPr>
        <p:spPr>
          <a:xfrm>
            <a:off x="4575350" y="5806796"/>
            <a:ext cx="5738829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매년 </a:t>
            </a:r>
            <a:r>
              <a:rPr lang="en-US" altLang="ko-KR" sz="1500" dirty="0"/>
              <a:t>2,500</a:t>
            </a:r>
            <a:r>
              <a:rPr lang="ko-KR" altLang="en-US" sz="1500" dirty="0"/>
              <a:t>조원을 새로 빌린다</a:t>
            </a:r>
            <a:r>
              <a:rPr lang="en-US" altLang="ko-KR" sz="1500" dirty="0"/>
              <a:t>. =&gt; </a:t>
            </a:r>
            <a:r>
              <a:rPr lang="ko-KR" altLang="en-US" sz="1500" dirty="0"/>
              <a:t>해마다 이자 </a:t>
            </a:r>
            <a:r>
              <a:rPr lang="en-US" altLang="ko-KR" sz="1500" dirty="0"/>
              <a:t>100</a:t>
            </a:r>
            <a:r>
              <a:rPr lang="ko-KR" altLang="en-US" sz="1500" dirty="0"/>
              <a:t>조원 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30272-3C3B-BEB3-E801-CA21C227B643}"/>
              </a:ext>
            </a:extLst>
          </p:cNvPr>
          <p:cNvSpPr txBox="1"/>
          <p:nvPr/>
        </p:nvSpPr>
        <p:spPr>
          <a:xfrm>
            <a:off x="471937" y="5606741"/>
            <a:ext cx="4057188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b="1" dirty="0"/>
              <a:t>총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부채 </a:t>
            </a:r>
            <a:r>
              <a:rPr lang="en-US" altLang="ko-KR" sz="2800" b="1" dirty="0"/>
              <a:t>: 5</a:t>
            </a:r>
            <a:r>
              <a:rPr lang="ko-KR" altLang="en-US" sz="2800" b="1" dirty="0"/>
              <a:t>경 </a:t>
            </a:r>
            <a:r>
              <a:rPr lang="en-US" altLang="ko-KR" sz="2800" b="1" dirty="0"/>
              <a:t>5,000</a:t>
            </a:r>
            <a:r>
              <a:rPr lang="ko-KR" altLang="en-US" sz="2800" b="1" dirty="0"/>
              <a:t>조원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87693-DD2A-BF03-72E6-FB5E9D54E29D}"/>
              </a:ext>
            </a:extLst>
          </p:cNvPr>
          <p:cNvSpPr txBox="1"/>
          <p:nvPr/>
        </p:nvSpPr>
        <p:spPr>
          <a:xfrm>
            <a:off x="6977714" y="3391569"/>
            <a:ext cx="51587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800" b="1" dirty="0"/>
              <a:t>화폐발행권</a:t>
            </a:r>
            <a:endParaRPr lang="en-US" altLang="ko-KR" sz="7800" b="1" dirty="0"/>
          </a:p>
        </p:txBody>
      </p:sp>
    </p:spTree>
    <p:extLst>
      <p:ext uri="{BB962C8B-B14F-4D97-AF65-F5344CB8AC3E}">
        <p14:creationId xmlns:p14="http://schemas.microsoft.com/office/powerpoint/2010/main" val="28035967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BA16-623D-4DCF-1668-AF59C209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FA0887-DAC3-84EA-A067-DE9B3D2CF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64" y="1409817"/>
            <a:ext cx="10016888" cy="4545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CC1BF8-C7C3-16FC-259A-4A1C3174C2CF}"/>
              </a:ext>
            </a:extLst>
          </p:cNvPr>
          <p:cNvSpPr txBox="1"/>
          <p:nvPr/>
        </p:nvSpPr>
        <p:spPr>
          <a:xfrm>
            <a:off x="555441" y="459959"/>
            <a:ext cx="474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미국에게 돈 빌려준 나라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미국채</a:t>
            </a:r>
            <a:r>
              <a:rPr lang="ko-KR" altLang="en-US" sz="2000" dirty="0"/>
              <a:t> 매입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656020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141A-2829-85A4-A507-117B2D96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0D2ED-75B9-F0E5-E123-B83E22A58805}"/>
              </a:ext>
            </a:extLst>
          </p:cNvPr>
          <p:cNvSpPr txBox="1"/>
          <p:nvPr/>
        </p:nvSpPr>
        <p:spPr>
          <a:xfrm>
            <a:off x="4871993" y="1078981"/>
            <a:ext cx="13670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미국 정부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E8FDC-90E5-FC99-8CA7-878885BA29AB}"/>
              </a:ext>
            </a:extLst>
          </p:cNvPr>
          <p:cNvSpPr txBox="1"/>
          <p:nvPr/>
        </p:nvSpPr>
        <p:spPr>
          <a:xfrm>
            <a:off x="1961589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재무부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DC4C8-8E38-DD5D-7BBA-AE1D56FE00F0}"/>
              </a:ext>
            </a:extLst>
          </p:cNvPr>
          <p:cNvSpPr txBox="1"/>
          <p:nvPr/>
        </p:nvSpPr>
        <p:spPr>
          <a:xfrm>
            <a:off x="2835250" y="2242993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국무부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F74AD-5EFB-4DE4-256E-6C3DBCDF6620}"/>
              </a:ext>
            </a:extLst>
          </p:cNvPr>
          <p:cNvSpPr txBox="1"/>
          <p:nvPr/>
        </p:nvSpPr>
        <p:spPr>
          <a:xfrm>
            <a:off x="3693398" y="2242991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국방부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8460D-946D-8FAC-CFE7-9A679BDE4873}"/>
              </a:ext>
            </a:extLst>
          </p:cNvPr>
          <p:cNvSpPr txBox="1"/>
          <p:nvPr/>
        </p:nvSpPr>
        <p:spPr>
          <a:xfrm>
            <a:off x="454893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법무부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98625-07F5-D594-5661-FA4F8A90F6ED}"/>
              </a:ext>
            </a:extLst>
          </p:cNvPr>
          <p:cNvSpPr txBox="1"/>
          <p:nvPr/>
        </p:nvSpPr>
        <p:spPr>
          <a:xfrm>
            <a:off x="5396766" y="2242990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농무부</a:t>
            </a:r>
            <a:endParaRPr lang="ko-KR" altLang="en-US" sz="1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812B5C-19FB-A8B6-B768-9C56F429FC84}"/>
              </a:ext>
            </a:extLst>
          </p:cNvPr>
          <p:cNvSpPr txBox="1"/>
          <p:nvPr/>
        </p:nvSpPr>
        <p:spPr>
          <a:xfrm>
            <a:off x="9639190" y="2239969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안보부</a:t>
            </a:r>
            <a:endParaRPr lang="ko-KR" altLang="en-US" sz="1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A7B71-9B6E-C0D9-0B1D-7E75AA9FF7E4}"/>
              </a:ext>
            </a:extLst>
          </p:cNvPr>
          <p:cNvSpPr txBox="1"/>
          <p:nvPr/>
        </p:nvSpPr>
        <p:spPr>
          <a:xfrm>
            <a:off x="6261508" y="2231927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상무부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1A4AA1-E37E-4E32-38DB-754FA20EBDA2}"/>
              </a:ext>
            </a:extLst>
          </p:cNvPr>
          <p:cNvSpPr txBox="1"/>
          <p:nvPr/>
        </p:nvSpPr>
        <p:spPr>
          <a:xfrm>
            <a:off x="7116753" y="2231926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내무부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7BF5B-C02F-49F6-BC49-7E6560BAAA3F}"/>
              </a:ext>
            </a:extLst>
          </p:cNvPr>
          <p:cNvSpPr txBox="1"/>
          <p:nvPr/>
        </p:nvSpPr>
        <p:spPr>
          <a:xfrm>
            <a:off x="8775700" y="2231925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교육부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6CB0C5-1409-87F7-2C00-28693E108F67}"/>
              </a:ext>
            </a:extLst>
          </p:cNvPr>
          <p:cNvSpPr txBox="1"/>
          <p:nvPr/>
        </p:nvSpPr>
        <p:spPr>
          <a:xfrm>
            <a:off x="7941204" y="2231924"/>
            <a:ext cx="781409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보훈부</a:t>
            </a:r>
            <a:endParaRPr lang="ko-KR" altLang="en-US" sz="1500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5B9F84B-2AA0-5D1E-C4EB-84E954178C7E}"/>
              </a:ext>
            </a:extLst>
          </p:cNvPr>
          <p:cNvCxnSpPr>
            <a:cxnSpLocks/>
          </p:cNvCxnSpPr>
          <p:nvPr/>
        </p:nvCxnSpPr>
        <p:spPr>
          <a:xfrm>
            <a:off x="2310044" y="1792588"/>
            <a:ext cx="77649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151B0F2-F704-7343-2E88-8C9D8C5B8C41}"/>
              </a:ext>
            </a:extLst>
          </p:cNvPr>
          <p:cNvCxnSpPr>
            <a:cxnSpLocks/>
          </p:cNvCxnSpPr>
          <p:nvPr/>
        </p:nvCxnSpPr>
        <p:spPr>
          <a:xfrm flipV="1">
            <a:off x="5555529" y="1448313"/>
            <a:ext cx="0" cy="344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E450274-C60B-942C-8246-0B8D6E66DCAA}"/>
              </a:ext>
            </a:extLst>
          </p:cNvPr>
          <p:cNvCxnSpPr>
            <a:cxnSpLocks/>
          </p:cNvCxnSpPr>
          <p:nvPr/>
        </p:nvCxnSpPr>
        <p:spPr>
          <a:xfrm flipV="1">
            <a:off x="3225954" y="1792587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6741378-A55F-11F5-CFD1-EA944DB15086}"/>
              </a:ext>
            </a:extLst>
          </p:cNvPr>
          <p:cNvCxnSpPr>
            <a:cxnSpLocks/>
          </p:cNvCxnSpPr>
          <p:nvPr/>
        </p:nvCxnSpPr>
        <p:spPr>
          <a:xfrm flipV="1">
            <a:off x="2310044" y="179108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4BDF327-E2C5-25E2-7B2D-72DB0AAD3A65}"/>
              </a:ext>
            </a:extLst>
          </p:cNvPr>
          <p:cNvCxnSpPr>
            <a:cxnSpLocks/>
          </p:cNvCxnSpPr>
          <p:nvPr/>
        </p:nvCxnSpPr>
        <p:spPr>
          <a:xfrm flipV="1">
            <a:off x="4941050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765E90A-5EB4-A9D2-E4A5-593D77ED4672}"/>
              </a:ext>
            </a:extLst>
          </p:cNvPr>
          <p:cNvCxnSpPr>
            <a:cxnSpLocks/>
          </p:cNvCxnSpPr>
          <p:nvPr/>
        </p:nvCxnSpPr>
        <p:spPr>
          <a:xfrm flipV="1">
            <a:off x="5777507" y="1791079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7C23EC7-9849-39DC-1EAF-9FAF8253BE8C}"/>
              </a:ext>
            </a:extLst>
          </p:cNvPr>
          <p:cNvCxnSpPr>
            <a:cxnSpLocks/>
          </p:cNvCxnSpPr>
          <p:nvPr/>
        </p:nvCxnSpPr>
        <p:spPr>
          <a:xfrm flipV="1">
            <a:off x="6636089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5B5156D-80BE-4218-A9C5-FDAF42A76677}"/>
              </a:ext>
            </a:extLst>
          </p:cNvPr>
          <p:cNvCxnSpPr>
            <a:cxnSpLocks/>
          </p:cNvCxnSpPr>
          <p:nvPr/>
        </p:nvCxnSpPr>
        <p:spPr>
          <a:xfrm flipV="1">
            <a:off x="7514274" y="1780518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9A9FC3D-31F8-36ED-CD34-D88980EED7B6}"/>
              </a:ext>
            </a:extLst>
          </p:cNvPr>
          <p:cNvCxnSpPr>
            <a:cxnSpLocks/>
          </p:cNvCxnSpPr>
          <p:nvPr/>
        </p:nvCxnSpPr>
        <p:spPr>
          <a:xfrm flipV="1">
            <a:off x="8310989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81FA010-4CED-0ABA-ACBB-328069B24DE6}"/>
              </a:ext>
            </a:extLst>
          </p:cNvPr>
          <p:cNvCxnSpPr>
            <a:cxnSpLocks/>
          </p:cNvCxnSpPr>
          <p:nvPr/>
        </p:nvCxnSpPr>
        <p:spPr>
          <a:xfrm flipV="1">
            <a:off x="9134848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DE7B868-1AD2-DFD3-E13D-9FE144226E35}"/>
              </a:ext>
            </a:extLst>
          </p:cNvPr>
          <p:cNvCxnSpPr>
            <a:cxnSpLocks/>
          </p:cNvCxnSpPr>
          <p:nvPr/>
        </p:nvCxnSpPr>
        <p:spPr>
          <a:xfrm flipV="1">
            <a:off x="10076415" y="178957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B3319E1-228A-2D7D-7D0A-81F740827B88}"/>
              </a:ext>
            </a:extLst>
          </p:cNvPr>
          <p:cNvCxnSpPr>
            <a:cxnSpLocks/>
          </p:cNvCxnSpPr>
          <p:nvPr/>
        </p:nvCxnSpPr>
        <p:spPr>
          <a:xfrm flipV="1">
            <a:off x="2335593" y="2563133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FA31140-7A4D-3563-4948-CF242528CA79}"/>
              </a:ext>
            </a:extLst>
          </p:cNvPr>
          <p:cNvSpPr txBox="1"/>
          <p:nvPr/>
        </p:nvSpPr>
        <p:spPr>
          <a:xfrm>
            <a:off x="1961588" y="3008942"/>
            <a:ext cx="781409" cy="3231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</a:rPr>
              <a:t>IRS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216D8FA-795E-15F0-525E-DE034B9E160E}"/>
              </a:ext>
            </a:extLst>
          </p:cNvPr>
          <p:cNvCxnSpPr>
            <a:cxnSpLocks/>
          </p:cNvCxnSpPr>
          <p:nvPr/>
        </p:nvCxnSpPr>
        <p:spPr>
          <a:xfrm flipV="1">
            <a:off x="4066414" y="1789571"/>
            <a:ext cx="0" cy="44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CEF1519-A101-5F4C-3B09-10AAC75E173C}"/>
              </a:ext>
            </a:extLst>
          </p:cNvPr>
          <p:cNvSpPr txBox="1"/>
          <p:nvPr/>
        </p:nvSpPr>
        <p:spPr>
          <a:xfrm>
            <a:off x="4565068" y="3568541"/>
            <a:ext cx="2435456" cy="938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총수입 </a:t>
            </a:r>
            <a:r>
              <a:rPr lang="en-US" altLang="ko-KR" sz="1500" dirty="0"/>
              <a:t>: 7,000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ko-KR" altLang="en-US" sz="1500" dirty="0"/>
              <a:t>총지출 </a:t>
            </a:r>
            <a:r>
              <a:rPr lang="en-US" altLang="ko-KR" sz="1500" dirty="0"/>
              <a:t>: 9,000</a:t>
            </a:r>
            <a:r>
              <a:rPr lang="ko-KR" altLang="en-US" sz="1500" dirty="0"/>
              <a:t>조원</a:t>
            </a:r>
            <a:endParaRPr lang="en-US" altLang="ko-KR" sz="1500" dirty="0"/>
          </a:p>
          <a:p>
            <a:endParaRPr lang="en-US" altLang="ko-KR" sz="500" dirty="0"/>
          </a:p>
          <a:p>
            <a:r>
              <a:rPr lang="en-US" altLang="ko-KR" sz="1500" dirty="0"/>
              <a:t>           2,000</a:t>
            </a:r>
            <a:r>
              <a:rPr lang="ko-KR" altLang="en-US" sz="1500" dirty="0"/>
              <a:t>조원 적자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7793C2-3EB4-2124-B8B1-0DFB6BAB1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78" y="573218"/>
            <a:ext cx="1353271" cy="906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DEB25E-DA3B-0B1A-A05C-76E9F41E9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88" y="154668"/>
            <a:ext cx="917082" cy="90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897594-070B-3EE0-CB22-84E6368E4E07}"/>
              </a:ext>
            </a:extLst>
          </p:cNvPr>
          <p:cNvSpPr txBox="1"/>
          <p:nvPr/>
        </p:nvSpPr>
        <p:spPr>
          <a:xfrm>
            <a:off x="4574170" y="5409687"/>
            <a:ext cx="2167404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국채 이자만 </a:t>
            </a:r>
            <a:r>
              <a:rPr lang="en-US" altLang="ko-KR" sz="1500" dirty="0"/>
              <a:t>1,300</a:t>
            </a:r>
            <a:r>
              <a:rPr lang="ko-KR" altLang="en-US" sz="1500" dirty="0"/>
              <a:t>조원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FD6B1-67B0-4F0E-6CB6-A936246C65A6}"/>
              </a:ext>
            </a:extLst>
          </p:cNvPr>
          <p:cNvSpPr txBox="1"/>
          <p:nvPr/>
        </p:nvSpPr>
        <p:spPr>
          <a:xfrm>
            <a:off x="4575350" y="5806796"/>
            <a:ext cx="5738829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매년 </a:t>
            </a:r>
            <a:r>
              <a:rPr lang="en-US" altLang="ko-KR" sz="1500" dirty="0"/>
              <a:t>2,500</a:t>
            </a:r>
            <a:r>
              <a:rPr lang="ko-KR" altLang="en-US" sz="1500" dirty="0"/>
              <a:t>조원을 새로 빌린다</a:t>
            </a:r>
            <a:r>
              <a:rPr lang="en-US" altLang="ko-KR" sz="1500" dirty="0"/>
              <a:t>. =&gt; </a:t>
            </a:r>
            <a:r>
              <a:rPr lang="ko-KR" altLang="en-US" sz="1500" dirty="0"/>
              <a:t>해마다 이자 </a:t>
            </a:r>
            <a:r>
              <a:rPr lang="en-US" altLang="ko-KR" sz="1500" dirty="0"/>
              <a:t>100</a:t>
            </a:r>
            <a:r>
              <a:rPr lang="ko-KR" altLang="en-US" sz="1500" dirty="0"/>
              <a:t>조원 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97A06-050B-785C-30F5-0BBE07FFCE3E}"/>
              </a:ext>
            </a:extLst>
          </p:cNvPr>
          <p:cNvSpPr txBox="1"/>
          <p:nvPr/>
        </p:nvSpPr>
        <p:spPr>
          <a:xfrm>
            <a:off x="471937" y="5606741"/>
            <a:ext cx="4057188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b="1" dirty="0"/>
              <a:t>총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부채 </a:t>
            </a:r>
            <a:r>
              <a:rPr lang="en-US" altLang="ko-KR" sz="2800" b="1" dirty="0"/>
              <a:t>: 5</a:t>
            </a:r>
            <a:r>
              <a:rPr lang="ko-KR" altLang="en-US" sz="2800" b="1" dirty="0"/>
              <a:t>경 </a:t>
            </a:r>
            <a:r>
              <a:rPr lang="en-US" altLang="ko-KR" sz="2800" b="1" dirty="0"/>
              <a:t>5,000</a:t>
            </a:r>
            <a:r>
              <a:rPr lang="ko-KR" altLang="en-US" sz="2800" b="1" dirty="0"/>
              <a:t>조원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43342-4DB0-D604-2A2D-384D3023203E}"/>
              </a:ext>
            </a:extLst>
          </p:cNvPr>
          <p:cNvSpPr txBox="1"/>
          <p:nvPr/>
        </p:nvSpPr>
        <p:spPr>
          <a:xfrm>
            <a:off x="6977714" y="3391569"/>
            <a:ext cx="51587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800" b="1" dirty="0"/>
              <a:t>화폐발행권</a:t>
            </a:r>
            <a:endParaRPr lang="en-US" altLang="ko-KR" sz="7800" b="1" dirty="0"/>
          </a:p>
        </p:txBody>
      </p:sp>
    </p:spTree>
    <p:extLst>
      <p:ext uri="{BB962C8B-B14F-4D97-AF65-F5344CB8AC3E}">
        <p14:creationId xmlns:p14="http://schemas.microsoft.com/office/powerpoint/2010/main" val="1618289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9B89-01F3-C3DC-2BDA-51F254BA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F7A80D7-2A83-FDE6-5237-50173FC2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78" y="573218"/>
            <a:ext cx="1353271" cy="906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44E58-AC30-5AE4-AED6-7A8BB35F3B9E}"/>
              </a:ext>
            </a:extLst>
          </p:cNvPr>
          <p:cNvSpPr txBox="1"/>
          <p:nvPr/>
        </p:nvSpPr>
        <p:spPr>
          <a:xfrm>
            <a:off x="6977714" y="3391569"/>
            <a:ext cx="51587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800" b="1" dirty="0"/>
              <a:t>화폐발행권</a:t>
            </a:r>
            <a:endParaRPr lang="en-US" altLang="ko-KR" sz="7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A4C4D-0782-E76C-DB47-95C0C5B6C48C}"/>
              </a:ext>
            </a:extLst>
          </p:cNvPr>
          <p:cNvSpPr txBox="1"/>
          <p:nvPr/>
        </p:nvSpPr>
        <p:spPr>
          <a:xfrm>
            <a:off x="2158812" y="3391569"/>
            <a:ext cx="1869980" cy="16773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500" b="1" dirty="0"/>
              <a:t>인플레이션</a:t>
            </a:r>
            <a:endParaRPr lang="en-US" altLang="ko-KR" sz="2500" b="1" dirty="0"/>
          </a:p>
          <a:p>
            <a:endParaRPr lang="en-US" altLang="ko-KR" sz="800" dirty="0"/>
          </a:p>
          <a:p>
            <a:r>
              <a:rPr lang="ko-KR" altLang="en-US" dirty="0" err="1"/>
              <a:t>생필품값</a:t>
            </a:r>
            <a:r>
              <a:rPr lang="ko-KR" altLang="en-US" dirty="0"/>
              <a:t> 폭등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ko-KR" altLang="en-US" dirty="0"/>
              <a:t>부동산 폭등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ko-KR" altLang="en-US" dirty="0"/>
              <a:t>금값 폭등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54693-480F-3D51-1F84-B60050EE643D}"/>
              </a:ext>
            </a:extLst>
          </p:cNvPr>
          <p:cNvSpPr txBox="1"/>
          <p:nvPr/>
        </p:nvSpPr>
        <p:spPr>
          <a:xfrm>
            <a:off x="2158812" y="5200094"/>
            <a:ext cx="186998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/>
              <a:t>환율 </a:t>
            </a:r>
            <a:r>
              <a:rPr lang="ko-KR" altLang="en-US" dirty="0"/>
              <a:t>폭락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9118460-7153-8318-6F96-02032F8A8F51}"/>
              </a:ext>
            </a:extLst>
          </p:cNvPr>
          <p:cNvSpPr/>
          <p:nvPr/>
        </p:nvSpPr>
        <p:spPr>
          <a:xfrm rot="10800000">
            <a:off x="4568263" y="3512799"/>
            <a:ext cx="1869980" cy="105020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3018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791B-AEB1-6C04-5E19-F4A89076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남아메리카 국가를 색상으로 구분한 지도 이미지">
            <a:extLst>
              <a:ext uri="{FF2B5EF4-FFF2-40B4-BE49-F238E27FC236}">
                <a16:creationId xmlns:a16="http://schemas.microsoft.com/office/drawing/2014/main" id="{A471508B-20AF-A136-10A4-1F8C9768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68" y="302914"/>
            <a:ext cx="4423707" cy="62521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7273B-305E-230E-71AB-C72341255CAC}"/>
              </a:ext>
            </a:extLst>
          </p:cNvPr>
          <p:cNvSpPr txBox="1"/>
          <p:nvPr/>
        </p:nvSpPr>
        <p:spPr>
          <a:xfrm>
            <a:off x="423250" y="1997839"/>
            <a:ext cx="340636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에콰도르     </a:t>
            </a:r>
            <a:r>
              <a:rPr lang="en-US" altLang="ko-KR" dirty="0"/>
              <a:t>— </a:t>
            </a:r>
            <a:r>
              <a:rPr lang="ko-KR" altLang="en-US" dirty="0"/>
              <a:t>미국 달러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아르헨티나  </a:t>
            </a:r>
            <a:r>
              <a:rPr lang="en-US" altLang="ko-KR" dirty="0"/>
              <a:t>— </a:t>
            </a:r>
            <a:r>
              <a:rPr lang="ko-KR" altLang="en-US" dirty="0"/>
              <a:t>페소</a:t>
            </a:r>
            <a:endParaRPr lang="en-US" altLang="ko-KR" dirty="0"/>
          </a:p>
          <a:p>
            <a:endParaRPr lang="ko-KR" altLang="en-US" sz="500" dirty="0"/>
          </a:p>
          <a:p>
            <a:r>
              <a:rPr lang="ko-KR" altLang="en-US" dirty="0"/>
              <a:t>볼리비아     </a:t>
            </a:r>
            <a:r>
              <a:rPr lang="en-US" altLang="ko-KR" dirty="0"/>
              <a:t>— </a:t>
            </a:r>
            <a:r>
              <a:rPr lang="ko-KR" altLang="en-US" dirty="0"/>
              <a:t>볼리비아노</a:t>
            </a:r>
          </a:p>
          <a:p>
            <a:endParaRPr lang="en-US" altLang="ko-KR" sz="500" dirty="0"/>
          </a:p>
          <a:p>
            <a:r>
              <a:rPr lang="ko-KR" altLang="en-US" dirty="0"/>
              <a:t>파라과이     </a:t>
            </a:r>
            <a:r>
              <a:rPr lang="en-US" altLang="ko-KR" dirty="0"/>
              <a:t>— </a:t>
            </a:r>
            <a:r>
              <a:rPr lang="ko-KR" altLang="en-US" dirty="0"/>
              <a:t>과라니</a:t>
            </a:r>
          </a:p>
          <a:p>
            <a:endParaRPr lang="en-US" altLang="ko-KR" sz="500" dirty="0"/>
          </a:p>
          <a:p>
            <a:r>
              <a:rPr lang="ko-KR" altLang="en-US" dirty="0"/>
              <a:t>페루           </a:t>
            </a:r>
            <a:r>
              <a:rPr lang="en-US" altLang="ko-KR" dirty="0"/>
              <a:t>— </a:t>
            </a:r>
            <a:r>
              <a:rPr lang="ko-KR" altLang="en-US" dirty="0"/>
              <a:t>솔</a:t>
            </a:r>
          </a:p>
          <a:p>
            <a:endParaRPr lang="en-US" altLang="ko-KR" sz="500" dirty="0"/>
          </a:p>
          <a:p>
            <a:r>
              <a:rPr lang="ko-KR" altLang="en-US" dirty="0"/>
              <a:t>수리남        </a:t>
            </a:r>
            <a:r>
              <a:rPr lang="en-US" altLang="ko-KR" dirty="0"/>
              <a:t>— </a:t>
            </a:r>
            <a:r>
              <a:rPr lang="ko-KR" altLang="en-US" dirty="0"/>
              <a:t>수리남 달러</a:t>
            </a:r>
          </a:p>
          <a:p>
            <a:endParaRPr lang="en-US" altLang="ko-KR" sz="500" dirty="0"/>
          </a:p>
          <a:p>
            <a:r>
              <a:rPr lang="ko-KR" altLang="en-US" dirty="0"/>
              <a:t>우루과이     </a:t>
            </a:r>
            <a:r>
              <a:rPr lang="en-US" altLang="ko-KR" dirty="0"/>
              <a:t>— </a:t>
            </a:r>
            <a:r>
              <a:rPr lang="ko-KR" altLang="en-US" dirty="0"/>
              <a:t>우루과이 페소</a:t>
            </a:r>
          </a:p>
          <a:p>
            <a:endParaRPr lang="en-US" altLang="ko-KR" sz="500" dirty="0"/>
          </a:p>
          <a:p>
            <a:r>
              <a:rPr lang="ko-KR" altLang="en-US" dirty="0"/>
              <a:t>베네수엘라  </a:t>
            </a:r>
            <a:r>
              <a:rPr lang="en-US" altLang="ko-KR" dirty="0"/>
              <a:t>— </a:t>
            </a:r>
            <a:r>
              <a:rPr lang="ko-KR" altLang="en-US" dirty="0" err="1"/>
              <a:t>볼리바르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24691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D453-FA88-E405-D9F3-6FD003D0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3CB8B5-E70A-26D4-E7D3-96B638EE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C180AB-E4BD-62F8-BEAB-27A88730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650" y="2932754"/>
            <a:ext cx="2028353" cy="20283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3BE434-E59E-593F-8B5A-51DDAC3D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07" y="1918578"/>
            <a:ext cx="2028353" cy="20283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984EA22-E7C5-D13F-1272-BE8AEE510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30" y="1717706"/>
            <a:ext cx="2028353" cy="202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430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DA84B-D30A-1C8E-BB31-D489FBFF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86ABCC-C090-AC86-B8A8-894A6E89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0CA544-4ACD-FFC9-6187-948BC1BC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650" y="2932754"/>
            <a:ext cx="2028353" cy="20283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15E616-DE1E-A24F-F996-5FFAB123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07" y="1918578"/>
            <a:ext cx="2028353" cy="20283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6F0310-0D68-376F-811D-BC6AC7898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30" y="1717706"/>
            <a:ext cx="2028353" cy="20283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F45455-78F6-670D-4B38-0431FF607115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077A9-6176-FB5F-BC01-5CCE7D04F698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E95AE0A6-4BBF-73D9-0FBE-A80B85B0E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365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3DE0-E05B-9E77-2C97-538EC281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113C94-44F5-301E-9485-79745F9E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FDE30-833D-BE21-45C0-CD9EB4A7C06B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A0614-3CF6-43DF-D438-9605D52C97EA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2A866BAE-3607-12D9-352D-6A214106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pic>
        <p:nvPicPr>
          <p:cNvPr id="4" name="그림 3" descr="Tether USD (USDT) 오늘의 가격">
            <a:extLst>
              <a:ext uri="{FF2B5EF4-FFF2-40B4-BE49-F238E27FC236}">
                <a16:creationId xmlns:a16="http://schemas.microsoft.com/office/drawing/2014/main" id="{3416BC9D-1BFF-0D05-CCD0-EEA4978FC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18" y="3668368"/>
            <a:ext cx="737010" cy="737010"/>
          </a:xfrm>
          <a:prstGeom prst="rect">
            <a:avLst/>
          </a:prstGeom>
        </p:spPr>
      </p:pic>
      <p:pic>
        <p:nvPicPr>
          <p:cNvPr id="10" name="그림 9" descr="Tether USD (USDT) 오늘의 가격">
            <a:extLst>
              <a:ext uri="{FF2B5EF4-FFF2-40B4-BE49-F238E27FC236}">
                <a16:creationId xmlns:a16="http://schemas.microsoft.com/office/drawing/2014/main" id="{7FABBAA6-3D8A-64AD-A18A-6849F19E4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02" y="2409936"/>
            <a:ext cx="737010" cy="737010"/>
          </a:xfrm>
          <a:prstGeom prst="rect">
            <a:avLst/>
          </a:prstGeom>
        </p:spPr>
      </p:pic>
      <p:pic>
        <p:nvPicPr>
          <p:cNvPr id="14" name="그림 13" descr="Tether USD (USDT) 오늘의 가격">
            <a:extLst>
              <a:ext uri="{FF2B5EF4-FFF2-40B4-BE49-F238E27FC236}">
                <a16:creationId xmlns:a16="http://schemas.microsoft.com/office/drawing/2014/main" id="{9E6E6EE7-7B74-C34E-D66F-0C200831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6" y="2210760"/>
            <a:ext cx="737010" cy="737010"/>
          </a:xfrm>
          <a:prstGeom prst="rect">
            <a:avLst/>
          </a:prstGeom>
        </p:spPr>
      </p:pic>
      <p:pic>
        <p:nvPicPr>
          <p:cNvPr id="16" name="그림 15" descr="Tether USD (USDT) 오늘의 가격">
            <a:extLst>
              <a:ext uri="{FF2B5EF4-FFF2-40B4-BE49-F238E27FC236}">
                <a16:creationId xmlns:a16="http://schemas.microsoft.com/office/drawing/2014/main" id="{FB268F28-1EF0-0F26-A708-9A8E71C3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97" y="3668368"/>
            <a:ext cx="737010" cy="737010"/>
          </a:xfrm>
          <a:prstGeom prst="rect">
            <a:avLst/>
          </a:prstGeom>
        </p:spPr>
      </p:pic>
      <p:pic>
        <p:nvPicPr>
          <p:cNvPr id="18" name="그림 17" descr="Tether USD (USDT) 오늘의 가격">
            <a:extLst>
              <a:ext uri="{FF2B5EF4-FFF2-40B4-BE49-F238E27FC236}">
                <a16:creationId xmlns:a16="http://schemas.microsoft.com/office/drawing/2014/main" id="{9F8AF8F5-0A0A-9114-9B42-49F4A93F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76" y="4036873"/>
            <a:ext cx="737010" cy="737010"/>
          </a:xfrm>
          <a:prstGeom prst="rect">
            <a:avLst/>
          </a:prstGeom>
        </p:spPr>
      </p:pic>
      <p:pic>
        <p:nvPicPr>
          <p:cNvPr id="20" name="그림 19" descr="Tether USD (USDT) 오늘의 가격">
            <a:extLst>
              <a:ext uri="{FF2B5EF4-FFF2-40B4-BE49-F238E27FC236}">
                <a16:creationId xmlns:a16="http://schemas.microsoft.com/office/drawing/2014/main" id="{908ADFF4-7905-72D1-3DCD-002D6C4D6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9" y="1807447"/>
            <a:ext cx="737010" cy="737010"/>
          </a:xfrm>
          <a:prstGeom prst="rect">
            <a:avLst/>
          </a:prstGeom>
        </p:spPr>
      </p:pic>
      <p:pic>
        <p:nvPicPr>
          <p:cNvPr id="22" name="그림 21" descr="Tether USD (USDT) 오늘의 가격">
            <a:extLst>
              <a:ext uri="{FF2B5EF4-FFF2-40B4-BE49-F238E27FC236}">
                <a16:creationId xmlns:a16="http://schemas.microsoft.com/office/drawing/2014/main" id="{C40F5314-7A4F-1852-8B10-4348C044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74" y="1672926"/>
            <a:ext cx="737010" cy="7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962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1AB1-EA83-4FF7-0D23-5D6B0DF4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6F4B9B-BB8C-9ACF-5E8C-AA6AD0638E0E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2D333-6CA8-A4E8-5B24-847E63FADD91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C2B3047D-D9D7-02A4-639C-19F4EB13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DE698-83E2-64D8-D46C-C7C8643A6EA7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42206727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40CA-4FD0-9DDF-3D79-56F92AF6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A8AEFE-56B5-6E6C-293C-95570E47B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161925"/>
            <a:ext cx="10048875" cy="6534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74984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D7A8-3CA5-5633-1E46-FE98AC98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389416-BFA3-53B0-75D0-E3D78FA6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06" y="282516"/>
            <a:ext cx="9351806" cy="62929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5895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962A-DD31-C9D1-26F7-6DCFAF55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5106B6-7B17-B93C-79EB-3E0F0B22E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83" y="431014"/>
            <a:ext cx="9415132" cy="61553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11609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DD4B-316A-1424-D3A5-7827460D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0934FE3-4746-1F9C-1C96-B8BD7411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33" y="977728"/>
            <a:ext cx="10945734" cy="4485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05468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F02E7-BB6D-5469-18EB-D398C00A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A77EEE-DDA5-06A1-C256-71E73541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824809"/>
            <a:ext cx="11953875" cy="4991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80509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7CF7-B1D8-665E-F713-6FC7F776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938536-E27D-B111-4403-E7856850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23" y="90487"/>
            <a:ext cx="10810875" cy="66770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19907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636C-5AB4-DF8E-C7A8-5751B1FE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E3D192-3F5E-3558-9F09-E7F6A2F2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72" y="246235"/>
            <a:ext cx="10183167" cy="61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358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F11B-18F5-296C-84AB-A472AE83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42455-19C6-E20E-726B-378316983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28" y="227563"/>
            <a:ext cx="10572750" cy="6076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14445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693F-2D63-E2CC-57F0-634DBF1E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27FC3B-5E4D-9523-1088-C078465D7D73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5FB3F-886C-E071-D8D2-BC82841F8CD8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2A9571A6-EDD2-1B10-D976-E18F991A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A8E123-FB81-B85E-4F58-D340D662D515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8CDC30-0E29-F2B6-A42D-EC96A1E65BD3}"/>
              </a:ext>
            </a:extLst>
          </p:cNvPr>
          <p:cNvSpPr/>
          <p:nvPr/>
        </p:nvSpPr>
        <p:spPr>
          <a:xfrm>
            <a:off x="1095470" y="4617268"/>
            <a:ext cx="3693813" cy="1294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자국화폐 </a:t>
            </a:r>
            <a:r>
              <a:rPr lang="en-US" altLang="ko-KR" dirty="0">
                <a:solidFill>
                  <a:schemeClr val="tx1"/>
                </a:solidFill>
              </a:rPr>
              <a:t>=&gt; </a:t>
            </a:r>
            <a:r>
              <a:rPr lang="ko-KR" altLang="en-US" dirty="0">
                <a:solidFill>
                  <a:schemeClr val="tx1"/>
                </a:solidFill>
              </a:rPr>
              <a:t>쓰레기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환율 폭등 </a:t>
            </a:r>
            <a:r>
              <a:rPr lang="en-US" altLang="ko-KR" dirty="0">
                <a:solidFill>
                  <a:schemeClr val="tx1"/>
                </a:solidFill>
              </a:rPr>
              <a:t>: 2,000</a:t>
            </a:r>
            <a:r>
              <a:rPr lang="ko-KR" altLang="en-US" dirty="0">
                <a:solidFill>
                  <a:schemeClr val="tx1"/>
                </a:solidFill>
              </a:rPr>
              <a:t>원 돌파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3698906-980C-15D7-E46B-6C78874A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965" y="4704960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DB47CAF-503B-58DE-FAF5-48F1FA1A2933}"/>
              </a:ext>
            </a:extLst>
          </p:cNvPr>
          <p:cNvSpPr txBox="1"/>
          <p:nvPr/>
        </p:nvSpPr>
        <p:spPr>
          <a:xfrm>
            <a:off x="5190907" y="4741371"/>
            <a:ext cx="60897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월급 받으면 바로 </a:t>
            </a:r>
            <a:r>
              <a:rPr lang="en-US" altLang="ko-KR" sz="2800" dirty="0"/>
              <a:t>USDT</a:t>
            </a:r>
            <a:r>
              <a:rPr lang="ko-KR" altLang="en-US" sz="2800" dirty="0"/>
              <a:t>로 </a:t>
            </a:r>
            <a:r>
              <a:rPr lang="ko-KR" altLang="en-US" sz="2800" dirty="0" err="1"/>
              <a:t>바꿔야죠</a:t>
            </a:r>
            <a:r>
              <a:rPr lang="en-US" altLang="ko-KR" sz="2800" dirty="0"/>
              <a:t>.</a:t>
            </a:r>
          </a:p>
          <a:p>
            <a:endParaRPr lang="en-US" altLang="ko-KR" sz="800" dirty="0"/>
          </a:p>
          <a:p>
            <a:r>
              <a:rPr lang="en-US" altLang="ko-KR" dirty="0"/>
              <a:t>USDT</a:t>
            </a:r>
            <a:r>
              <a:rPr lang="ko-KR" altLang="en-US" dirty="0"/>
              <a:t>로도 결제 잘 되니</a:t>
            </a:r>
            <a:r>
              <a:rPr lang="en-US" altLang="ko-K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793728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C1FC-EAC7-256C-6A06-EB891EE8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E80630-4DF8-03EB-2885-F26B348E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5C10EF-37E4-95B0-1ED4-C2D3DCFAA80E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39480-B73C-1EB0-4C6B-C062778C412C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1B07A48E-5359-4C5E-A310-978FDDE82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pic>
        <p:nvPicPr>
          <p:cNvPr id="4" name="그림 3" descr="Tether USD (USDT) 오늘의 가격">
            <a:extLst>
              <a:ext uri="{FF2B5EF4-FFF2-40B4-BE49-F238E27FC236}">
                <a16:creationId xmlns:a16="http://schemas.microsoft.com/office/drawing/2014/main" id="{5613C59A-EE7D-EADB-E7D1-E94B52482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18" y="3668368"/>
            <a:ext cx="737010" cy="737010"/>
          </a:xfrm>
          <a:prstGeom prst="rect">
            <a:avLst/>
          </a:prstGeom>
        </p:spPr>
      </p:pic>
      <p:pic>
        <p:nvPicPr>
          <p:cNvPr id="10" name="그림 9" descr="Tether USD (USDT) 오늘의 가격">
            <a:extLst>
              <a:ext uri="{FF2B5EF4-FFF2-40B4-BE49-F238E27FC236}">
                <a16:creationId xmlns:a16="http://schemas.microsoft.com/office/drawing/2014/main" id="{EAB76086-DCF2-CA21-D449-16F814DD7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02" y="2409936"/>
            <a:ext cx="737010" cy="737010"/>
          </a:xfrm>
          <a:prstGeom prst="rect">
            <a:avLst/>
          </a:prstGeom>
        </p:spPr>
      </p:pic>
      <p:pic>
        <p:nvPicPr>
          <p:cNvPr id="14" name="그림 13" descr="Tether USD (USDT) 오늘의 가격">
            <a:extLst>
              <a:ext uri="{FF2B5EF4-FFF2-40B4-BE49-F238E27FC236}">
                <a16:creationId xmlns:a16="http://schemas.microsoft.com/office/drawing/2014/main" id="{5CA5B9BD-6FE4-5856-947A-89571A405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6" y="2210760"/>
            <a:ext cx="737010" cy="737010"/>
          </a:xfrm>
          <a:prstGeom prst="rect">
            <a:avLst/>
          </a:prstGeom>
        </p:spPr>
      </p:pic>
      <p:pic>
        <p:nvPicPr>
          <p:cNvPr id="16" name="그림 15" descr="Tether USD (USDT) 오늘의 가격">
            <a:extLst>
              <a:ext uri="{FF2B5EF4-FFF2-40B4-BE49-F238E27FC236}">
                <a16:creationId xmlns:a16="http://schemas.microsoft.com/office/drawing/2014/main" id="{DEB7739F-7CB4-504D-DAD4-4F1BE4A99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97" y="3668368"/>
            <a:ext cx="737010" cy="737010"/>
          </a:xfrm>
          <a:prstGeom prst="rect">
            <a:avLst/>
          </a:prstGeom>
        </p:spPr>
      </p:pic>
      <p:pic>
        <p:nvPicPr>
          <p:cNvPr id="18" name="그림 17" descr="Tether USD (USDT) 오늘의 가격">
            <a:extLst>
              <a:ext uri="{FF2B5EF4-FFF2-40B4-BE49-F238E27FC236}">
                <a16:creationId xmlns:a16="http://schemas.microsoft.com/office/drawing/2014/main" id="{6E0CF314-DE2B-4DF3-373F-A8096FC04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76" y="4036873"/>
            <a:ext cx="737010" cy="737010"/>
          </a:xfrm>
          <a:prstGeom prst="rect">
            <a:avLst/>
          </a:prstGeom>
        </p:spPr>
      </p:pic>
      <p:pic>
        <p:nvPicPr>
          <p:cNvPr id="20" name="그림 19" descr="Tether USD (USDT) 오늘의 가격">
            <a:extLst>
              <a:ext uri="{FF2B5EF4-FFF2-40B4-BE49-F238E27FC236}">
                <a16:creationId xmlns:a16="http://schemas.microsoft.com/office/drawing/2014/main" id="{6FB4CFB7-5209-B605-B61E-E67FA257C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9" y="1807447"/>
            <a:ext cx="737010" cy="737010"/>
          </a:xfrm>
          <a:prstGeom prst="rect">
            <a:avLst/>
          </a:prstGeom>
        </p:spPr>
      </p:pic>
      <p:pic>
        <p:nvPicPr>
          <p:cNvPr id="22" name="그림 21" descr="Tether USD (USDT) 오늘의 가격">
            <a:extLst>
              <a:ext uri="{FF2B5EF4-FFF2-40B4-BE49-F238E27FC236}">
                <a16:creationId xmlns:a16="http://schemas.microsoft.com/office/drawing/2014/main" id="{0D0CACBE-BCBD-E09E-1E10-0BC903CFF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74" y="1672926"/>
            <a:ext cx="737010" cy="7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196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24C55-488F-FE30-144E-00C9B0BF7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9C2F19-8D92-2396-590C-322BF5E89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D9F5BB3-43E2-CE18-8194-35499C433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650" y="2932754"/>
            <a:ext cx="2028353" cy="20283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C5F6E6-DAF6-045D-7092-A1F010605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07" y="1918578"/>
            <a:ext cx="2028353" cy="20283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210056-037D-6CCC-9A25-8834D7EB1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30" y="1717706"/>
            <a:ext cx="2028353" cy="20283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C88264-49AC-301D-512D-52C8CEC593C2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F58DF-174B-5F4E-99D9-FA7263E3464F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4E561F3A-01AD-C420-B829-106A925D3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005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A9C0-8204-5675-D333-D92F6160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4CAC6C-75D9-1A7F-646C-8FE36E6C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65" y="1420546"/>
            <a:ext cx="7947031" cy="4016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7AC555-9948-210F-E13C-7E9695ED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650" y="2932754"/>
            <a:ext cx="2028353" cy="20283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A72831-846C-DDF1-25D3-89B53EDE0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07" y="1918578"/>
            <a:ext cx="2028353" cy="20283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1DE74E-7221-A1C8-EFD1-784A7CF1B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30" y="1717706"/>
            <a:ext cx="2028353" cy="20283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E66591-6C21-3446-422D-C7F406C0A564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4AD40-C23B-E76E-BEB8-588E66798D0A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D3ADE7E2-0ED5-AA80-0888-A8DDFDB03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5F35BBD-8B4D-9966-DE51-61FFCE6ACDDD}"/>
              </a:ext>
            </a:extLst>
          </p:cNvPr>
          <p:cNvSpPr/>
          <p:nvPr/>
        </p:nvSpPr>
        <p:spPr>
          <a:xfrm>
            <a:off x="1086416" y="5251009"/>
            <a:ext cx="10402431" cy="6609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자국화폐 </a:t>
            </a:r>
            <a:r>
              <a:rPr lang="en-US" altLang="ko-KR" dirty="0">
                <a:solidFill>
                  <a:schemeClr val="tx1"/>
                </a:solidFill>
              </a:rPr>
              <a:t>=&gt; </a:t>
            </a:r>
            <a:r>
              <a:rPr lang="ko-KR" altLang="en-US" dirty="0">
                <a:solidFill>
                  <a:schemeClr val="tx1"/>
                </a:solidFill>
              </a:rPr>
              <a:t>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E0D924-E596-83AD-9FBF-3260B9049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126" y="5345217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356E08-A6E0-FD18-29B5-8FE7DC71B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3369" y="6006121"/>
            <a:ext cx="754456" cy="49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084412C-3776-16EE-EAB4-AA5CB25C2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8794" y="6025865"/>
            <a:ext cx="836455" cy="54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E092B67-BBF4-8F43-5BDA-9D2CB57D4A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361" y="6025865"/>
            <a:ext cx="754457" cy="500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1108C0-509E-60B7-B44B-CD9BB2EF5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6383" y="5345217"/>
            <a:ext cx="1112130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46C73E-178E-96F3-91B5-2F6F82941D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687" y="5318058"/>
            <a:ext cx="1112130" cy="538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190CADF-81A6-174F-B260-E9FB07439A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3783" y="5305597"/>
            <a:ext cx="1115179" cy="517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4B40568-90A7-83F2-7B5A-2E85610A14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8389" y="6006122"/>
            <a:ext cx="833530" cy="52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21821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019C-E5CA-9CDF-B580-A4788E92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93B113-B1C6-041F-9763-2F8EC066DF50}"/>
              </a:ext>
            </a:extLst>
          </p:cNvPr>
          <p:cNvSpPr/>
          <p:nvPr/>
        </p:nvSpPr>
        <p:spPr>
          <a:xfrm>
            <a:off x="1086416" y="5251009"/>
            <a:ext cx="10402431" cy="6609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자국화폐 </a:t>
            </a:r>
            <a:r>
              <a:rPr lang="en-US" altLang="ko-KR" dirty="0">
                <a:solidFill>
                  <a:schemeClr val="tx1"/>
                </a:solidFill>
              </a:rPr>
              <a:t>=&gt; </a:t>
            </a:r>
            <a:r>
              <a:rPr lang="ko-KR" altLang="en-US" dirty="0">
                <a:solidFill>
                  <a:schemeClr val="tx1"/>
                </a:solidFill>
              </a:rPr>
              <a:t>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7C9254E-20C5-B24C-E570-4FEB8899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26" y="5345217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3B96A77-4BCF-6108-7DA6-7904EA20F2F9}"/>
              </a:ext>
            </a:extLst>
          </p:cNvPr>
          <p:cNvSpPr/>
          <p:nvPr/>
        </p:nvSpPr>
        <p:spPr>
          <a:xfrm>
            <a:off x="1086416" y="4008719"/>
            <a:ext cx="10402431" cy="9589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달러를 쓰자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5F57B9-6BA1-5D96-5F6F-5F7C1BCBD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126" y="4008719"/>
            <a:ext cx="958942" cy="9589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7F12273-F22B-2EC8-5443-6BFB69850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164" y="4008719"/>
            <a:ext cx="958942" cy="9589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5A663F6-CB56-5BAE-E0C8-50AF918E3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82" y="4008719"/>
            <a:ext cx="958942" cy="95894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B992479-E2DD-D359-6C83-0CB2BEB2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977" y="4008719"/>
            <a:ext cx="958942" cy="958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3406474-6C4A-2175-730E-19CAA51F2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369" y="6006121"/>
            <a:ext cx="754456" cy="49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732905-422C-C2BA-5E6C-C63A1C0F0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794" y="6025865"/>
            <a:ext cx="836455" cy="54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661723-B288-7BB7-8185-547B145BF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361" y="6025865"/>
            <a:ext cx="754457" cy="500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F51D99-3D66-5AE5-470B-7A0E40FAE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383" y="5345217"/>
            <a:ext cx="1112130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1AC4D3-2225-E930-03DE-A7BEB51B46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687" y="5318058"/>
            <a:ext cx="1112130" cy="538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EF6DFDE-C1A9-1242-C747-D874DB02E4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783" y="5305597"/>
            <a:ext cx="1115179" cy="517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D5DD083-36D0-DD1E-116D-A8615A58F0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8389" y="6006122"/>
            <a:ext cx="833530" cy="52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16600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032B-68BE-DE59-706B-5895DED6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C8B0CB-C67F-DB1B-6349-0B6DC48AF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78" y="573218"/>
            <a:ext cx="1353271" cy="906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05B77-9AC8-D06E-0BF3-519AEECCF4CE}"/>
              </a:ext>
            </a:extLst>
          </p:cNvPr>
          <p:cNvSpPr txBox="1"/>
          <p:nvPr/>
        </p:nvSpPr>
        <p:spPr>
          <a:xfrm>
            <a:off x="6977714" y="3391569"/>
            <a:ext cx="51587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800" b="1" dirty="0"/>
              <a:t>화폐발행권</a:t>
            </a:r>
            <a:endParaRPr lang="en-US" altLang="ko-KR" sz="7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0B1CA-3FD3-0D2E-9953-043B0EE84250}"/>
              </a:ext>
            </a:extLst>
          </p:cNvPr>
          <p:cNvSpPr txBox="1"/>
          <p:nvPr/>
        </p:nvSpPr>
        <p:spPr>
          <a:xfrm>
            <a:off x="2158812" y="3391569"/>
            <a:ext cx="1869980" cy="16773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500" b="1" dirty="0"/>
              <a:t>인플레이션</a:t>
            </a:r>
            <a:endParaRPr lang="en-US" altLang="ko-KR" sz="2500" b="1" dirty="0"/>
          </a:p>
          <a:p>
            <a:endParaRPr lang="en-US" altLang="ko-KR" sz="800" dirty="0"/>
          </a:p>
          <a:p>
            <a:r>
              <a:rPr lang="ko-KR" altLang="en-US" dirty="0" err="1"/>
              <a:t>생필품값</a:t>
            </a:r>
            <a:r>
              <a:rPr lang="ko-KR" altLang="en-US" dirty="0"/>
              <a:t> 폭등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ko-KR" altLang="en-US" dirty="0"/>
              <a:t>부동산 폭등</a:t>
            </a:r>
            <a:endParaRPr lang="en-US" altLang="ko-KR" dirty="0"/>
          </a:p>
          <a:p>
            <a:endParaRPr lang="en-US" altLang="ko-KR" sz="800" dirty="0"/>
          </a:p>
          <a:p>
            <a:r>
              <a:rPr lang="ko-KR" altLang="en-US" dirty="0"/>
              <a:t>금값 폭등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A658F-A952-A107-649F-6E966E689E45}"/>
              </a:ext>
            </a:extLst>
          </p:cNvPr>
          <p:cNvSpPr txBox="1"/>
          <p:nvPr/>
        </p:nvSpPr>
        <p:spPr>
          <a:xfrm>
            <a:off x="2158812" y="5200094"/>
            <a:ext cx="186998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환율 폭락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1296C49-8B14-5534-F201-47C7BD388D56}"/>
              </a:ext>
            </a:extLst>
          </p:cNvPr>
          <p:cNvSpPr/>
          <p:nvPr/>
        </p:nvSpPr>
        <p:spPr>
          <a:xfrm rot="10800000">
            <a:off x="4568263" y="3512799"/>
            <a:ext cx="1869980" cy="105020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414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DAB07-D8FB-53B0-A5D8-98024C2E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DC2C04-A221-4C99-7707-50F350BAC0B1}"/>
              </a:ext>
            </a:extLst>
          </p:cNvPr>
          <p:cNvSpPr/>
          <p:nvPr/>
        </p:nvSpPr>
        <p:spPr>
          <a:xfrm>
            <a:off x="1086416" y="5251009"/>
            <a:ext cx="10402431" cy="6609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자국화폐 </a:t>
            </a:r>
            <a:r>
              <a:rPr lang="en-US" altLang="ko-KR" dirty="0">
                <a:solidFill>
                  <a:schemeClr val="tx1"/>
                </a:solidFill>
              </a:rPr>
              <a:t>=&gt; </a:t>
            </a:r>
            <a:r>
              <a:rPr lang="ko-KR" altLang="en-US" dirty="0">
                <a:solidFill>
                  <a:schemeClr val="tx1"/>
                </a:solidFill>
              </a:rPr>
              <a:t>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E036BD5-82B8-DC88-870A-EC585E22D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26" y="5345217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676BC0B-3D31-69DC-F4DA-FED52E607744}"/>
              </a:ext>
            </a:extLst>
          </p:cNvPr>
          <p:cNvSpPr/>
          <p:nvPr/>
        </p:nvSpPr>
        <p:spPr>
          <a:xfrm>
            <a:off x="1086416" y="4008719"/>
            <a:ext cx="10402431" cy="9589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달러도 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3D466F-9F9B-C6E6-A6C5-A777D665D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126" y="4008719"/>
            <a:ext cx="958942" cy="9589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50E75A-CF4A-BB60-A3C5-AF3A7BB57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164" y="4008719"/>
            <a:ext cx="958942" cy="9589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0C89E5F-1088-A26B-4183-A1B7F5C9B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82" y="4008719"/>
            <a:ext cx="958942" cy="95894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19C11B7-049D-DCAF-56E0-0BF02DAF6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977" y="4008719"/>
            <a:ext cx="958942" cy="958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4732B2-8C22-F59F-CB03-E5D53C868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369" y="6006121"/>
            <a:ext cx="754456" cy="49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B34E23A-1D01-E5B9-91D4-E9D99BD95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794" y="6025865"/>
            <a:ext cx="836455" cy="54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DA34F8-A5B7-EF2D-BE95-91908648F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361" y="6025865"/>
            <a:ext cx="754457" cy="500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4AF56A-55A1-F0F1-2CBE-AD89C9901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383" y="5345217"/>
            <a:ext cx="1112130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305F72-CDD8-2F6E-5C2E-119A0CB2CA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687" y="5318058"/>
            <a:ext cx="1112130" cy="538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D7B0EEF-E497-588B-DA58-B5AE1345A6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783" y="5305597"/>
            <a:ext cx="1115179" cy="517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E97FF8D-638B-1E29-1C4B-4066BDA4E8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8389" y="6006122"/>
            <a:ext cx="833530" cy="52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05071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3016-0F33-AACA-F209-61DCE4C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396E45-B7F5-413F-1682-A21F7CAD41B4}"/>
              </a:ext>
            </a:extLst>
          </p:cNvPr>
          <p:cNvSpPr/>
          <p:nvPr/>
        </p:nvSpPr>
        <p:spPr>
          <a:xfrm>
            <a:off x="1086416" y="5251009"/>
            <a:ext cx="10402431" cy="6609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자국화폐 </a:t>
            </a:r>
            <a:r>
              <a:rPr lang="en-US" altLang="ko-KR" dirty="0">
                <a:solidFill>
                  <a:schemeClr val="tx1"/>
                </a:solidFill>
              </a:rPr>
              <a:t>=&gt; </a:t>
            </a:r>
            <a:r>
              <a:rPr lang="ko-KR" altLang="en-US" dirty="0">
                <a:solidFill>
                  <a:schemeClr val="tx1"/>
                </a:solidFill>
              </a:rPr>
              <a:t>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F03C957-74CB-E37F-8F6B-2F89DC1C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26" y="5345217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3694ECB-1C4E-D54D-2C10-BF8EC9CD6BFC}"/>
              </a:ext>
            </a:extLst>
          </p:cNvPr>
          <p:cNvSpPr/>
          <p:nvPr/>
        </p:nvSpPr>
        <p:spPr>
          <a:xfrm>
            <a:off x="1086416" y="4008719"/>
            <a:ext cx="10402431" cy="9589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달러도 쓰레기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D8FCC5B-9D0A-66B5-830F-82EDFBC48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126" y="4008719"/>
            <a:ext cx="958942" cy="9589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AEE201E-2178-9CC2-F3BE-0E3B0849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164" y="4008719"/>
            <a:ext cx="958942" cy="9589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6E516DA-DC85-6B5A-EF81-83517BB3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82" y="4008719"/>
            <a:ext cx="958942" cy="95894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B5B7E64-6AB9-AE99-F3FC-EF6F7B81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977" y="4008719"/>
            <a:ext cx="958942" cy="958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1C612C7-221B-59B3-0306-2CC294E4E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369" y="6006121"/>
            <a:ext cx="754456" cy="49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3EA467-498C-2FBB-5A98-DC3AF58F0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794" y="6025865"/>
            <a:ext cx="836455" cy="54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4BA99F-260E-B38C-4E85-447F2952D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361" y="6025865"/>
            <a:ext cx="754457" cy="500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5ED8F3-F565-E981-2F62-606361149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383" y="5345217"/>
            <a:ext cx="1112130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7AD874A-F410-D15E-F309-9E6F580C0A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687" y="5318058"/>
            <a:ext cx="1112130" cy="538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36B0A7F-7DA8-9D4C-4AA2-BD62EE8594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783" y="5305597"/>
            <a:ext cx="1115179" cy="517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2F7AF19-27D2-4678-7791-941574608A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8389" y="6006122"/>
            <a:ext cx="833530" cy="5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5743B9-C45E-FD43-8A96-054FF8C2A4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3083" y="1445260"/>
            <a:ext cx="1633107" cy="185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44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F24F4-F0C8-1D6A-3C76-D8C79F6D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7EE2B7-4282-7507-8DC3-7797EE127CE3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BEC29-7942-77CF-29F1-C41C370F6068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8CB1D7FC-67D8-4B4F-5F06-B5318927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9EAF7B-70EF-DC13-7A79-AA839C3463EC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21689486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3353-00C3-DC04-FDC7-C29E705E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1003C3-D40D-BF32-0BEC-53EE063FA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84" y="2027156"/>
            <a:ext cx="1260309" cy="12603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9F21F2-6EF2-382D-19BC-0118D6EA0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6" y="1311064"/>
            <a:ext cx="558649" cy="6501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B3FAE4-F10A-C026-82E0-1DE340FE2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542" y="1469287"/>
            <a:ext cx="1316453" cy="3693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EA4CDA-0277-DC7B-30B7-4F83741A8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852" y="1232316"/>
            <a:ext cx="1596735" cy="158968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4FE0DE-4D66-0A39-2A7E-8645518558D6}"/>
              </a:ext>
            </a:extLst>
          </p:cNvPr>
          <p:cNvSpPr/>
          <p:nvPr/>
        </p:nvSpPr>
        <p:spPr>
          <a:xfrm>
            <a:off x="3383123" y="256922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92D7C-C10B-C974-97C6-E2DE7832D3BC}"/>
              </a:ext>
            </a:extLst>
          </p:cNvPr>
          <p:cNvSpPr txBox="1"/>
          <p:nvPr/>
        </p:nvSpPr>
        <p:spPr>
          <a:xfrm>
            <a:off x="73604" y="2140377"/>
            <a:ext cx="3086503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1,300</a:t>
            </a:r>
            <a:r>
              <a:rPr lang="ko-KR" altLang="en-US" sz="1500" dirty="0"/>
              <a:t>만원 </a:t>
            </a:r>
            <a:r>
              <a:rPr lang="en-US" altLang="ko-KR" sz="1500" dirty="0"/>
              <a:t>=&gt; 10,000 </a:t>
            </a:r>
            <a:r>
              <a:rPr lang="ko-KR" altLang="en-US" sz="1500" dirty="0"/>
              <a:t>달러로 환전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8456CC-2D04-1CF8-F63E-43790DEBE3F6}"/>
              </a:ext>
            </a:extLst>
          </p:cNvPr>
          <p:cNvSpPr txBox="1"/>
          <p:nvPr/>
        </p:nvSpPr>
        <p:spPr>
          <a:xfrm>
            <a:off x="1456950" y="2523568"/>
            <a:ext cx="1717946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</a:t>
            </a:r>
            <a:r>
              <a:rPr lang="ko-KR" altLang="en-US" sz="1500" dirty="0"/>
              <a:t>달러 송금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03FDC-2A9F-093D-03AF-5251D7DDF196}"/>
              </a:ext>
            </a:extLst>
          </p:cNvPr>
          <p:cNvSpPr txBox="1"/>
          <p:nvPr/>
        </p:nvSpPr>
        <p:spPr>
          <a:xfrm>
            <a:off x="73605" y="278890"/>
            <a:ext cx="82736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한국에서 미국으로 </a:t>
            </a:r>
            <a:r>
              <a:rPr lang="en-US" altLang="ko-KR" sz="3800" b="1" dirty="0"/>
              <a:t>10,000</a:t>
            </a:r>
            <a:r>
              <a:rPr lang="ko-KR" altLang="en-US" sz="3800" b="1" dirty="0"/>
              <a:t>달러 송금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3ED0135-DAB5-A0AA-BCF9-494EE0B04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665" y="2117397"/>
            <a:ext cx="1596734" cy="1249001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38B679EA-DB4A-3A9C-A5BA-19DBE110C6C5}"/>
              </a:ext>
            </a:extLst>
          </p:cNvPr>
          <p:cNvSpPr/>
          <p:nvPr/>
        </p:nvSpPr>
        <p:spPr>
          <a:xfrm>
            <a:off x="5662619" y="2580315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0F8E7D7B-E309-939B-7698-CC8E3FD018D9}"/>
              </a:ext>
            </a:extLst>
          </p:cNvPr>
          <p:cNvSpPr/>
          <p:nvPr/>
        </p:nvSpPr>
        <p:spPr>
          <a:xfrm>
            <a:off x="7679651" y="2561473"/>
            <a:ext cx="470755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21520B0-B022-9D5B-1FBD-A2C341C2E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738" y="2279843"/>
            <a:ext cx="1986326" cy="57397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44C63D5-86BD-71B9-99E2-D00F4E72F980}"/>
              </a:ext>
            </a:extLst>
          </p:cNvPr>
          <p:cNvSpPr txBox="1"/>
          <p:nvPr/>
        </p:nvSpPr>
        <p:spPr>
          <a:xfrm>
            <a:off x="6054570" y="3436274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중개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29292B-B054-5DEB-142F-841FDA14EE0D}"/>
              </a:ext>
            </a:extLst>
          </p:cNvPr>
          <p:cNvSpPr txBox="1"/>
          <p:nvPr/>
        </p:nvSpPr>
        <p:spPr>
          <a:xfrm>
            <a:off x="8495011" y="3429000"/>
            <a:ext cx="1674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수취 은행</a:t>
            </a:r>
            <a:r>
              <a:rPr lang="en-US" altLang="ko-KR" sz="1500" dirty="0"/>
              <a:t>(</a:t>
            </a:r>
            <a:r>
              <a:rPr lang="ko-KR" altLang="en-US" sz="1500" dirty="0"/>
              <a:t>수수료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26D2B4-CCE7-F079-388E-59177D057C0A}"/>
              </a:ext>
            </a:extLst>
          </p:cNvPr>
          <p:cNvSpPr txBox="1"/>
          <p:nvPr/>
        </p:nvSpPr>
        <p:spPr>
          <a:xfrm>
            <a:off x="10358534" y="3059247"/>
            <a:ext cx="1779148" cy="754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700" b="1" dirty="0"/>
              <a:t>수수료 </a:t>
            </a:r>
            <a:r>
              <a:rPr lang="en-US" altLang="ko-KR" sz="1700" b="1" dirty="0"/>
              <a:t>: 10</a:t>
            </a:r>
            <a:r>
              <a:rPr lang="ko-KR" altLang="en-US" sz="1700" b="1" dirty="0"/>
              <a:t>만원</a:t>
            </a:r>
            <a:endParaRPr lang="en-US" altLang="ko-KR" sz="1700" b="1" dirty="0"/>
          </a:p>
          <a:p>
            <a:endParaRPr lang="en-US" altLang="ko-KR" sz="800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일 소요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DE18D8-0EF6-C403-F952-71866A50C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6" y="4423947"/>
            <a:ext cx="558649" cy="650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7696D-F004-B5DC-9162-A48998B70102}"/>
              </a:ext>
            </a:extLst>
          </p:cNvPr>
          <p:cNvSpPr txBox="1"/>
          <p:nvPr/>
        </p:nvSpPr>
        <p:spPr>
          <a:xfrm>
            <a:off x="73606" y="5253260"/>
            <a:ext cx="3046382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1,300</a:t>
            </a:r>
            <a:r>
              <a:rPr lang="ko-KR" altLang="en-US" sz="1500" dirty="0"/>
              <a:t>만원 </a:t>
            </a:r>
            <a:r>
              <a:rPr lang="en-US" altLang="ko-KR" sz="1500" dirty="0"/>
              <a:t>=&gt; 10,000 USDT </a:t>
            </a:r>
            <a:r>
              <a:rPr lang="ko-KR" altLang="en-US" sz="1500" dirty="0"/>
              <a:t>매수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0D5DE0-69EF-B87C-D574-E4F16BC5F609}"/>
              </a:ext>
            </a:extLst>
          </p:cNvPr>
          <p:cNvSpPr txBox="1"/>
          <p:nvPr/>
        </p:nvSpPr>
        <p:spPr>
          <a:xfrm>
            <a:off x="1331435" y="5734415"/>
            <a:ext cx="1788554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USDT</a:t>
            </a:r>
            <a:r>
              <a:rPr lang="ko-KR" altLang="en-US" sz="1500" dirty="0"/>
              <a:t> 송금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EDF55E-DDE0-D700-6574-E944B77B2F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542" y="4606029"/>
            <a:ext cx="1224306" cy="344110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4F1805B-3AB6-2F1B-7BC6-25B709BEE911}"/>
              </a:ext>
            </a:extLst>
          </p:cNvPr>
          <p:cNvSpPr/>
          <p:nvPr/>
        </p:nvSpPr>
        <p:spPr>
          <a:xfrm>
            <a:off x="3314743" y="5734414"/>
            <a:ext cx="4552719" cy="323166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E7A4932-843B-36B2-653A-D28FF299E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090" y="4423947"/>
            <a:ext cx="1596735" cy="158968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B982EE5-08D5-8975-DA71-0DF19D6814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7737" y="5490570"/>
            <a:ext cx="1788554" cy="56701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73CB457-D198-88DB-1153-EC61815329E0}"/>
              </a:ext>
            </a:extLst>
          </p:cNvPr>
          <p:cNvSpPr txBox="1"/>
          <p:nvPr/>
        </p:nvSpPr>
        <p:spPr>
          <a:xfrm>
            <a:off x="8177737" y="6227338"/>
            <a:ext cx="1788554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10,000 USDT</a:t>
            </a:r>
            <a:r>
              <a:rPr lang="ko-KR" altLang="en-US" sz="1500" dirty="0"/>
              <a:t> 매도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AB3C71-E265-0160-2002-1FE027CD3BD0}"/>
              </a:ext>
            </a:extLst>
          </p:cNvPr>
          <p:cNvSpPr txBox="1"/>
          <p:nvPr/>
        </p:nvSpPr>
        <p:spPr>
          <a:xfrm>
            <a:off x="10222248" y="6057580"/>
            <a:ext cx="1865526" cy="754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700" b="1" dirty="0"/>
              <a:t>수수료 </a:t>
            </a:r>
            <a:r>
              <a:rPr lang="en-US" altLang="ko-KR" sz="1700" b="1" dirty="0"/>
              <a:t>: 5,000</a:t>
            </a:r>
            <a:r>
              <a:rPr lang="ko-KR" altLang="en-US" sz="1700" b="1" dirty="0"/>
              <a:t>원</a:t>
            </a:r>
            <a:endParaRPr lang="en-US" altLang="ko-KR" sz="1700" b="1" dirty="0"/>
          </a:p>
          <a:p>
            <a:endParaRPr lang="en-US" altLang="ko-KR" sz="800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초 소요</a:t>
            </a:r>
          </a:p>
        </p:txBody>
      </p:sp>
    </p:spTree>
    <p:extLst>
      <p:ext uri="{BB962C8B-B14F-4D97-AF65-F5344CB8AC3E}">
        <p14:creationId xmlns:p14="http://schemas.microsoft.com/office/powerpoint/2010/main" val="40384771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04E08-7E0F-539B-DBA1-41A647107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1BFFDB-D500-24A8-852E-2D5721B8ECCA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1B2F3-3459-A258-D9C7-AFC74FB85883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F9FA572E-514D-8FDF-8622-02984EA8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B05AB-D4C6-C4E8-D5B4-F13B2294B4D1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5A051-9787-73C8-EB5F-F064037140DB}"/>
              </a:ext>
            </a:extLst>
          </p:cNvPr>
          <p:cNvSpPr txBox="1"/>
          <p:nvPr/>
        </p:nvSpPr>
        <p:spPr>
          <a:xfrm>
            <a:off x="2220390" y="4758985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6" name="그림 5" descr="Tether USD (USDT) 오늘의 가격">
            <a:extLst>
              <a:ext uri="{FF2B5EF4-FFF2-40B4-BE49-F238E27FC236}">
                <a16:creationId xmlns:a16="http://schemas.microsoft.com/office/drawing/2014/main" id="{DAA2C020-C434-0D6E-9F49-3E435669C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77" y="4699083"/>
            <a:ext cx="737010" cy="737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61F80C-C235-F9CC-945A-A707040635F3}"/>
              </a:ext>
            </a:extLst>
          </p:cNvPr>
          <p:cNvSpPr txBox="1"/>
          <p:nvPr/>
        </p:nvSpPr>
        <p:spPr>
          <a:xfrm>
            <a:off x="3873612" y="4774374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SWIFT </a:t>
            </a:r>
            <a:r>
              <a:rPr lang="ko-KR" altLang="en-US" sz="1500" dirty="0"/>
              <a:t>보다 해외 송금 빠름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1262A-4041-5B75-BD75-A86DC5360E30}"/>
              </a:ext>
            </a:extLst>
          </p:cNvPr>
          <p:cNvSpPr txBox="1"/>
          <p:nvPr/>
        </p:nvSpPr>
        <p:spPr>
          <a:xfrm>
            <a:off x="3873612" y="5149140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국내 </a:t>
            </a:r>
            <a:r>
              <a:rPr lang="ko-KR" altLang="en-US" sz="1500" dirty="0" err="1"/>
              <a:t>결제망</a:t>
            </a:r>
            <a:r>
              <a:rPr lang="ko-KR" altLang="en-US" sz="1500" dirty="0"/>
              <a:t> 도입</a:t>
            </a:r>
          </a:p>
        </p:txBody>
      </p:sp>
    </p:spTree>
    <p:extLst>
      <p:ext uri="{BB962C8B-B14F-4D97-AF65-F5344CB8AC3E}">
        <p14:creationId xmlns:p14="http://schemas.microsoft.com/office/powerpoint/2010/main" val="33161611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46C8-EDD4-2B37-1E59-580BB654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FB7E65-3AD1-993A-E545-57A7F444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23" y="132248"/>
            <a:ext cx="9985154" cy="6593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74758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27E6-2903-5656-667E-FC51B21B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9ED5DC-3771-C9F8-0F98-FDECC4D0E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160" y="250011"/>
            <a:ext cx="5456846" cy="63579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44444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4A50-509E-2CE3-4FFD-80C148EE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EE1DE1-55D1-DB58-362E-02B30CE1F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314325"/>
            <a:ext cx="9486900" cy="6229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43115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E1B1-D7CA-9EF8-1B10-AB8BA329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710F29-63CF-2B1E-54C8-763C789B970D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8EE7C-17B0-5A3E-CA65-2A8632C364A4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5102F910-7B4F-34FA-F8D1-135F0A67F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AE453A-61F1-F937-037D-4E15F1750A11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6034D-97FC-2CAB-01C0-F5CB9A42A504}"/>
              </a:ext>
            </a:extLst>
          </p:cNvPr>
          <p:cNvSpPr txBox="1"/>
          <p:nvPr/>
        </p:nvSpPr>
        <p:spPr>
          <a:xfrm>
            <a:off x="2220390" y="4758985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6" name="그림 5" descr="Tether USD (USDT) 오늘의 가격">
            <a:extLst>
              <a:ext uri="{FF2B5EF4-FFF2-40B4-BE49-F238E27FC236}">
                <a16:creationId xmlns:a16="http://schemas.microsoft.com/office/drawing/2014/main" id="{54767358-BF8B-0FB8-37C2-1D7C8A9A9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77" y="4699083"/>
            <a:ext cx="737010" cy="737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3FDC0D-4CED-2AD1-13C0-5541D82D0923}"/>
              </a:ext>
            </a:extLst>
          </p:cNvPr>
          <p:cNvSpPr txBox="1"/>
          <p:nvPr/>
        </p:nvSpPr>
        <p:spPr>
          <a:xfrm>
            <a:off x="3873612" y="4774374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SWIFT </a:t>
            </a:r>
            <a:r>
              <a:rPr lang="ko-KR" altLang="en-US" sz="1500" dirty="0"/>
              <a:t>보다 해외 송금 빠름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EA973D-4B9C-40FA-E717-DFE6159FD41B}"/>
              </a:ext>
            </a:extLst>
          </p:cNvPr>
          <p:cNvSpPr txBox="1"/>
          <p:nvPr/>
        </p:nvSpPr>
        <p:spPr>
          <a:xfrm>
            <a:off x="3873612" y="5149140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국내 </a:t>
            </a:r>
            <a:r>
              <a:rPr lang="ko-KR" altLang="en-US" sz="1500" dirty="0" err="1"/>
              <a:t>결제망</a:t>
            </a:r>
            <a:r>
              <a:rPr lang="ko-KR" altLang="en-US" sz="1500" dirty="0"/>
              <a:t> 도입</a:t>
            </a:r>
          </a:p>
        </p:txBody>
      </p:sp>
    </p:spTree>
    <p:extLst>
      <p:ext uri="{BB962C8B-B14F-4D97-AF65-F5344CB8AC3E}">
        <p14:creationId xmlns:p14="http://schemas.microsoft.com/office/powerpoint/2010/main" val="7860014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F456-C2CB-E123-230E-D34CAFB6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909E61-9AB8-394B-B005-7FA7994EB6AB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AF4B5-CF6B-0296-646B-9800FBAF52E2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474EF8B2-ED50-F121-0235-B13869A0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B79655-FAEA-1A9C-F2F6-5DD9E1BF67B5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443F8-43B4-8201-37D4-1D9ABB78BE9F}"/>
              </a:ext>
            </a:extLst>
          </p:cNvPr>
          <p:cNvSpPr txBox="1"/>
          <p:nvPr/>
        </p:nvSpPr>
        <p:spPr>
          <a:xfrm>
            <a:off x="2220390" y="4758985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6" name="그림 5" descr="Tether USD (USDT) 오늘의 가격">
            <a:extLst>
              <a:ext uri="{FF2B5EF4-FFF2-40B4-BE49-F238E27FC236}">
                <a16:creationId xmlns:a16="http://schemas.microsoft.com/office/drawing/2014/main" id="{FEE4B527-3476-FF7D-1A7B-6A71B9E5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77" y="4699083"/>
            <a:ext cx="737010" cy="737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38B338-EB33-C652-329A-083F470A0F1A}"/>
              </a:ext>
            </a:extLst>
          </p:cNvPr>
          <p:cNvSpPr txBox="1"/>
          <p:nvPr/>
        </p:nvSpPr>
        <p:spPr>
          <a:xfrm>
            <a:off x="3873612" y="4774374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SWIFT </a:t>
            </a:r>
            <a:r>
              <a:rPr lang="ko-KR" altLang="en-US" sz="1500" dirty="0"/>
              <a:t>보다 해외 송금 빠름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014DA-2F0D-8604-0597-CA32D805C748}"/>
              </a:ext>
            </a:extLst>
          </p:cNvPr>
          <p:cNvSpPr txBox="1"/>
          <p:nvPr/>
        </p:nvSpPr>
        <p:spPr>
          <a:xfrm>
            <a:off x="3873612" y="5149140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국내 </a:t>
            </a:r>
            <a:r>
              <a:rPr lang="ko-KR" altLang="en-US" sz="1500" dirty="0" err="1"/>
              <a:t>결제망</a:t>
            </a:r>
            <a:r>
              <a:rPr lang="ko-KR" altLang="en-US" sz="1500" dirty="0"/>
              <a:t> 도입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851195-F9DC-F7DA-04A0-E134B5F01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92" y="4430376"/>
            <a:ext cx="1065916" cy="1211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0E3F7A-DFB3-FE82-F6EC-4F7581B20BB4}"/>
              </a:ext>
            </a:extLst>
          </p:cNvPr>
          <p:cNvSpPr txBox="1"/>
          <p:nvPr/>
        </p:nvSpPr>
        <p:spPr>
          <a:xfrm>
            <a:off x="1826082" y="5613758"/>
            <a:ext cx="1124139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시세 안정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245B1-5FD3-6F0E-0C8F-FB88AFA38EF0}"/>
              </a:ext>
            </a:extLst>
          </p:cNvPr>
          <p:cNvSpPr txBox="1"/>
          <p:nvPr/>
        </p:nvSpPr>
        <p:spPr>
          <a:xfrm>
            <a:off x="6892422" y="5775340"/>
            <a:ext cx="1304455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시세 불안정</a:t>
            </a:r>
          </a:p>
        </p:txBody>
      </p:sp>
    </p:spTree>
    <p:extLst>
      <p:ext uri="{BB962C8B-B14F-4D97-AF65-F5344CB8AC3E}">
        <p14:creationId xmlns:p14="http://schemas.microsoft.com/office/powerpoint/2010/main" val="40869015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161C-0BB5-282D-9C2D-1DB5BEAB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8AACC9-452A-6B02-B343-78A33DE3B444}"/>
              </a:ext>
            </a:extLst>
          </p:cNvPr>
          <p:cNvSpPr txBox="1"/>
          <p:nvPr/>
        </p:nvSpPr>
        <p:spPr>
          <a:xfrm>
            <a:off x="975266" y="428055"/>
            <a:ext cx="75259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스테이블</a:t>
            </a:r>
            <a:r>
              <a:rPr lang="ko-KR" altLang="en-US" sz="3800" b="1" dirty="0"/>
              <a:t> 코인이 각국 화폐 점령</a:t>
            </a:r>
            <a:endParaRPr lang="en-US" altLang="ko-KR" sz="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E7B0F-C213-D406-2A01-CB7AE1DABAD3}"/>
              </a:ext>
            </a:extLst>
          </p:cNvPr>
          <p:cNvSpPr txBox="1"/>
          <p:nvPr/>
        </p:nvSpPr>
        <p:spPr>
          <a:xfrm>
            <a:off x="10605409" y="398104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12" name="그림 11" descr="Tether USD (USDT) 오늘의 가격">
            <a:extLst>
              <a:ext uri="{FF2B5EF4-FFF2-40B4-BE49-F238E27FC236}">
                <a16:creationId xmlns:a16="http://schemas.microsoft.com/office/drawing/2014/main" id="{6551DC21-7516-E565-D8E1-B3D221AA0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96" y="338202"/>
            <a:ext cx="737010" cy="73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10FE19-BCE3-D6D4-F74F-D2E2263E713D}"/>
              </a:ext>
            </a:extLst>
          </p:cNvPr>
          <p:cNvSpPr txBox="1"/>
          <p:nvPr/>
        </p:nvSpPr>
        <p:spPr>
          <a:xfrm>
            <a:off x="975266" y="1829833"/>
            <a:ext cx="662059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해외송금 점령</a:t>
            </a:r>
            <a:endParaRPr lang="en-US" altLang="ko-KR" sz="2800" dirty="0"/>
          </a:p>
          <a:p>
            <a:endParaRPr lang="en-US" altLang="ko-KR" sz="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국내의 외국인 점령 </a:t>
            </a:r>
            <a:r>
              <a:rPr lang="en-US" altLang="ko-KR" sz="2800" dirty="0"/>
              <a:t>(</a:t>
            </a:r>
            <a:r>
              <a:rPr lang="ko-KR" altLang="en-US" sz="2800" dirty="0"/>
              <a:t>여행객</a:t>
            </a:r>
            <a:r>
              <a:rPr lang="en-US" altLang="ko-KR" sz="2800" dirty="0"/>
              <a:t>, </a:t>
            </a:r>
            <a:r>
              <a:rPr lang="ko-KR" altLang="en-US" sz="2800" dirty="0"/>
              <a:t>노동자</a:t>
            </a:r>
            <a:r>
              <a:rPr lang="en-US" altLang="ko-KR" sz="2800" dirty="0"/>
              <a:t>)</a:t>
            </a:r>
          </a:p>
          <a:p>
            <a:endParaRPr lang="en-US" altLang="ko-KR" sz="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국내 결제 점령</a:t>
            </a:r>
            <a:endParaRPr lang="en-US" altLang="ko-KR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A1799-7B29-39AD-5385-0CDDD82E40AB}"/>
              </a:ext>
            </a:extLst>
          </p:cNvPr>
          <p:cNvSpPr txBox="1"/>
          <p:nvPr/>
        </p:nvSpPr>
        <p:spPr>
          <a:xfrm>
            <a:off x="2220390" y="4758985"/>
            <a:ext cx="1489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800" b="1" dirty="0"/>
              <a:t>USDT</a:t>
            </a:r>
          </a:p>
        </p:txBody>
      </p:sp>
      <p:pic>
        <p:nvPicPr>
          <p:cNvPr id="6" name="그림 5" descr="Tether USD (USDT) 오늘의 가격">
            <a:extLst>
              <a:ext uri="{FF2B5EF4-FFF2-40B4-BE49-F238E27FC236}">
                <a16:creationId xmlns:a16="http://schemas.microsoft.com/office/drawing/2014/main" id="{67950FF3-FAD9-FEAB-397D-12FB4E37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77" y="4699083"/>
            <a:ext cx="737010" cy="737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984703-D0F8-3531-61A9-6997A2B30F5A}"/>
              </a:ext>
            </a:extLst>
          </p:cNvPr>
          <p:cNvSpPr txBox="1"/>
          <p:nvPr/>
        </p:nvSpPr>
        <p:spPr>
          <a:xfrm>
            <a:off x="3873612" y="4774374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/>
              <a:t>SWIFT </a:t>
            </a:r>
            <a:r>
              <a:rPr lang="ko-KR" altLang="en-US" sz="1500" dirty="0"/>
              <a:t>보다 해외 송금 빠름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C571C-2C3D-9D48-CB83-B1D2FF616E42}"/>
              </a:ext>
            </a:extLst>
          </p:cNvPr>
          <p:cNvSpPr txBox="1"/>
          <p:nvPr/>
        </p:nvSpPr>
        <p:spPr>
          <a:xfrm>
            <a:off x="3873612" y="5149140"/>
            <a:ext cx="2699204" cy="323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국내 </a:t>
            </a:r>
            <a:r>
              <a:rPr lang="ko-KR" altLang="en-US" sz="1500" dirty="0" err="1"/>
              <a:t>결제망</a:t>
            </a:r>
            <a:r>
              <a:rPr lang="ko-KR" altLang="en-US" sz="1500" dirty="0"/>
              <a:t> 도입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C52517-2599-9433-A69A-C9D9B662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92" y="4430376"/>
            <a:ext cx="1065916" cy="1211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25F4E-5760-47AD-3CA9-51B93B51A64F}"/>
              </a:ext>
            </a:extLst>
          </p:cNvPr>
          <p:cNvSpPr txBox="1"/>
          <p:nvPr/>
        </p:nvSpPr>
        <p:spPr>
          <a:xfrm>
            <a:off x="1826082" y="5613758"/>
            <a:ext cx="1304455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/>
              <a:t>시세 불안정</a:t>
            </a:r>
            <a:endParaRPr lang="ko-KR" alt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449FE-CE2A-E5D2-8E12-AB6790B111FF}"/>
              </a:ext>
            </a:extLst>
          </p:cNvPr>
          <p:cNvSpPr txBox="1"/>
          <p:nvPr/>
        </p:nvSpPr>
        <p:spPr>
          <a:xfrm>
            <a:off x="7011692" y="5775340"/>
            <a:ext cx="1065916" cy="323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500" dirty="0"/>
              <a:t>시세 안정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657DA-6A49-9D28-263D-72F7ACC7FC5D}"/>
              </a:ext>
            </a:extLst>
          </p:cNvPr>
          <p:cNvSpPr txBox="1"/>
          <p:nvPr/>
        </p:nvSpPr>
        <p:spPr>
          <a:xfrm>
            <a:off x="1871412" y="6164480"/>
            <a:ext cx="180168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00" b="1" dirty="0"/>
              <a:t>화폐발행권</a:t>
            </a:r>
            <a:endParaRPr lang="en-US" altLang="ko-KR" sz="23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6EDDF-42F5-58CC-E4B9-7685FD013275}"/>
              </a:ext>
            </a:extLst>
          </p:cNvPr>
          <p:cNvSpPr txBox="1"/>
          <p:nvPr/>
        </p:nvSpPr>
        <p:spPr>
          <a:xfrm>
            <a:off x="49353" y="6181908"/>
            <a:ext cx="140825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/>
              <a:t>인플레이션</a:t>
            </a:r>
            <a:endParaRPr lang="en-US" altLang="ko-KR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B45E1794-1D95-BA64-B510-C5CC3D000D70}"/>
              </a:ext>
            </a:extLst>
          </p:cNvPr>
          <p:cNvSpPr/>
          <p:nvPr/>
        </p:nvSpPr>
        <p:spPr>
          <a:xfrm rot="10800000">
            <a:off x="1521573" y="6228074"/>
            <a:ext cx="349838" cy="32316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4095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855C6-FB95-C25B-115E-937CA6BF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CB7617F-4F67-6F61-CC33-BF9D67EA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17" y="1843290"/>
            <a:ext cx="2701634" cy="29939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938233-4CAA-BB30-292A-1D60A12EB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857" y="3092313"/>
            <a:ext cx="1051287" cy="472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CDC5C41-6237-9038-2117-F8A303ED2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0624" y="3077467"/>
            <a:ext cx="1051287" cy="446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7B26A74-6041-F18B-74E5-D9E171A77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557" y="3102256"/>
            <a:ext cx="954714" cy="462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7434A2F-0547-67A8-3DCA-62AF6CDBF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488" y="3092313"/>
            <a:ext cx="954714" cy="442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8A53BF2-AE70-FBD5-4F0B-A3D8E6AB4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423" y="2249501"/>
            <a:ext cx="1051286" cy="1051286"/>
          </a:xfrm>
          <a:prstGeom prst="rect">
            <a:avLst/>
          </a:prstGeom>
        </p:spPr>
      </p:pic>
      <p:pic>
        <p:nvPicPr>
          <p:cNvPr id="29" name="그림 28" descr="Tether USD (USDT) 오늘의 가격">
            <a:extLst>
              <a:ext uri="{FF2B5EF4-FFF2-40B4-BE49-F238E27FC236}">
                <a16:creationId xmlns:a16="http://schemas.microsoft.com/office/drawing/2014/main" id="{165B2EF0-E1BB-8D80-9F46-AF5AAD1DA2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2075" y="3300787"/>
            <a:ext cx="857446" cy="85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774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DC79-E359-9C43-4F8D-EB1877BB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293232-9502-F7B3-7BB3-189D5EE6D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74" y="157835"/>
            <a:ext cx="5804940" cy="64330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89EA648-A976-1362-488A-C8776200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17" y="1843290"/>
            <a:ext cx="2701634" cy="299397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308D82F-FABD-C6F3-6E3C-45590B17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423" y="2249501"/>
            <a:ext cx="1051286" cy="1051286"/>
          </a:xfrm>
          <a:prstGeom prst="rect">
            <a:avLst/>
          </a:prstGeom>
        </p:spPr>
      </p:pic>
      <p:pic>
        <p:nvPicPr>
          <p:cNvPr id="29" name="그림 28" descr="Tether USD (USDT) 오늘의 가격">
            <a:extLst>
              <a:ext uri="{FF2B5EF4-FFF2-40B4-BE49-F238E27FC236}">
                <a16:creationId xmlns:a16="http://schemas.microsoft.com/office/drawing/2014/main" id="{E3183655-9B6A-244B-48FB-C5262C920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075" y="3300787"/>
            <a:ext cx="857446" cy="8574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891E62-48ED-9B65-5A07-4F6CC8FB3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791" y="1048187"/>
            <a:ext cx="1398977" cy="1590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58258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C5AA-DF70-9E9B-34E1-DB775370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12E7C9-A46F-CD0A-1EBB-B594DF0C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45" y="1780609"/>
            <a:ext cx="7201221" cy="2103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4EE153-42B6-8EE3-A3D0-55C59127506B}"/>
              </a:ext>
            </a:extLst>
          </p:cNvPr>
          <p:cNvSpPr txBox="1"/>
          <p:nvPr/>
        </p:nvSpPr>
        <p:spPr>
          <a:xfrm>
            <a:off x="395844" y="600070"/>
            <a:ext cx="554322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세계 단일 화폐의 조건</a:t>
            </a:r>
            <a:endParaRPr lang="en-US" altLang="ko-KR" sz="3800" b="1" dirty="0"/>
          </a:p>
        </p:txBody>
      </p:sp>
    </p:spTree>
    <p:extLst>
      <p:ext uri="{BB962C8B-B14F-4D97-AF65-F5344CB8AC3E}">
        <p14:creationId xmlns:p14="http://schemas.microsoft.com/office/powerpoint/2010/main" val="229223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12FB-2F38-69FF-1A10-A1FA91DC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4759B1-7408-FEAE-49EF-8AB79EEC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87" y="1833607"/>
            <a:ext cx="7130590" cy="2880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B3AAE-659C-2AC7-7D99-555835FB7506}"/>
              </a:ext>
            </a:extLst>
          </p:cNvPr>
          <p:cNvSpPr txBox="1"/>
          <p:nvPr/>
        </p:nvSpPr>
        <p:spPr>
          <a:xfrm>
            <a:off x="395844" y="600070"/>
            <a:ext cx="554322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/>
              <a:t>세계 단일 화폐의 조건</a:t>
            </a:r>
            <a:endParaRPr lang="en-US" altLang="ko-KR" sz="3800" b="1" dirty="0"/>
          </a:p>
        </p:txBody>
      </p:sp>
    </p:spTree>
    <p:extLst>
      <p:ext uri="{BB962C8B-B14F-4D97-AF65-F5344CB8AC3E}">
        <p14:creationId xmlns:p14="http://schemas.microsoft.com/office/powerpoint/2010/main" val="29540401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AA29-6055-86A2-A19F-59EF7662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C48AD64-687D-4EF0-B309-A02F0BCDAB67}"/>
              </a:ext>
            </a:extLst>
          </p:cNvPr>
          <p:cNvSpPr/>
          <p:nvPr/>
        </p:nvSpPr>
        <p:spPr>
          <a:xfrm>
            <a:off x="3304515" y="1964602"/>
            <a:ext cx="5341544" cy="11950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err="1"/>
              <a:t>브릿지통화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4847683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D465-3F42-0B6E-17EA-EC7B2106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4A9C3A-4190-915C-1A1E-347ED063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1" y="1325062"/>
            <a:ext cx="2392756" cy="4131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EB8A61-5452-E058-F160-B88696918019}"/>
              </a:ext>
            </a:extLst>
          </p:cNvPr>
          <p:cNvSpPr txBox="1"/>
          <p:nvPr/>
        </p:nvSpPr>
        <p:spPr>
          <a:xfrm>
            <a:off x="450165" y="391842"/>
            <a:ext cx="55070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ko-KR" altLang="en-US" sz="3800" b="1" dirty="0"/>
              <a:t>국제 결제</a:t>
            </a:r>
            <a:r>
              <a:rPr lang="en-US" altLang="ko-KR" sz="3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0471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865A-2C99-3067-53B1-E01601B7C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4F1DC3-231A-AE6E-AA4D-567F2DB0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4" y="1344133"/>
            <a:ext cx="11414232" cy="4169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095D79-044D-4A07-1BFE-FDB9D97F5F0B}"/>
              </a:ext>
            </a:extLst>
          </p:cNvPr>
          <p:cNvSpPr txBox="1"/>
          <p:nvPr/>
        </p:nvSpPr>
        <p:spPr>
          <a:xfrm>
            <a:off x="450165" y="391842"/>
            <a:ext cx="554322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브릿지통화가</a:t>
            </a:r>
            <a:r>
              <a:rPr lang="ko-KR" altLang="en-US" sz="3800" b="1" dirty="0"/>
              <a:t> 없으면</a:t>
            </a:r>
            <a:r>
              <a:rPr lang="en-US" altLang="ko-KR" sz="3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69960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D8F9-2200-836D-C15B-8DFFFD54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E6A8A1-DF4C-3A29-BCCA-4E32A95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9" y="1261921"/>
            <a:ext cx="1233205" cy="4195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53B71-DD97-99AD-F26A-15B3AA732698}"/>
              </a:ext>
            </a:extLst>
          </p:cNvPr>
          <p:cNvSpPr txBox="1"/>
          <p:nvPr/>
        </p:nvSpPr>
        <p:spPr>
          <a:xfrm>
            <a:off x="450165" y="391842"/>
            <a:ext cx="55070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ko-KR" altLang="en-US" sz="3800" b="1" dirty="0"/>
              <a:t>국제 결제</a:t>
            </a:r>
            <a:r>
              <a:rPr lang="en-US" altLang="ko-KR" sz="3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81372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D85D-86E2-0AFD-5B46-3BB5446B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58ACBC-6017-F0FE-E464-886E2C986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9" y="1261921"/>
            <a:ext cx="1233205" cy="4195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66267B-1EBC-14C0-946E-64158FD10348}"/>
              </a:ext>
            </a:extLst>
          </p:cNvPr>
          <p:cNvSpPr txBox="1"/>
          <p:nvPr/>
        </p:nvSpPr>
        <p:spPr>
          <a:xfrm>
            <a:off x="450165" y="391842"/>
            <a:ext cx="55070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ko-KR" altLang="en-US" sz="3800" b="1" dirty="0"/>
              <a:t>국제 결제</a:t>
            </a:r>
            <a:r>
              <a:rPr lang="en-US" altLang="ko-KR" sz="3800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807A2D-5644-DE9E-44B9-77DFEAF0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49" y="1068950"/>
            <a:ext cx="3316586" cy="2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963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8431-1F36-8B6A-E243-4A89620D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9E7D70-379B-8B8A-CD49-61042B46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9" y="1261921"/>
            <a:ext cx="1233205" cy="4195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69C78F-CFE5-D831-1D4B-4D1F55C7EDA8}"/>
              </a:ext>
            </a:extLst>
          </p:cNvPr>
          <p:cNvSpPr txBox="1"/>
          <p:nvPr/>
        </p:nvSpPr>
        <p:spPr>
          <a:xfrm>
            <a:off x="450165" y="391842"/>
            <a:ext cx="55070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ko-KR" altLang="en-US" sz="3800" b="1" dirty="0"/>
              <a:t>국제 결제</a:t>
            </a:r>
            <a:r>
              <a:rPr lang="en-US" altLang="ko-KR" sz="3800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B0FB62-BA4E-37C7-0F32-2E128CA5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49" y="1068950"/>
            <a:ext cx="3316586" cy="21320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A290FD-C653-6718-9031-29913C7FF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182" y="3132452"/>
            <a:ext cx="3346855" cy="13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42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A331-3076-1822-1327-6B83C1AA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0A2652-8345-6C6C-0118-B77792D2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9" y="1261921"/>
            <a:ext cx="1233205" cy="4195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7F20E-F887-779C-EBD0-65944C459587}"/>
              </a:ext>
            </a:extLst>
          </p:cNvPr>
          <p:cNvSpPr txBox="1"/>
          <p:nvPr/>
        </p:nvSpPr>
        <p:spPr>
          <a:xfrm>
            <a:off x="450165" y="391842"/>
            <a:ext cx="55070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 err="1"/>
              <a:t>브릿지통화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ko-KR" altLang="en-US" sz="3800" b="1" dirty="0"/>
              <a:t>국제 결제</a:t>
            </a:r>
            <a:r>
              <a:rPr lang="en-US" altLang="ko-KR" sz="3800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68169B-6352-AF1F-C4B9-D9E1E51D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49" y="1068950"/>
            <a:ext cx="3316586" cy="21320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BBCFDB-EDDC-AC52-175C-FE35DEC76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182" y="3132452"/>
            <a:ext cx="3346855" cy="13761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30591B-F12C-E0A4-D521-6FCFADD86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944" y="4143841"/>
            <a:ext cx="3254874" cy="16452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0EF8B9-9F16-A77D-C368-E06CE1628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637" y="5817308"/>
            <a:ext cx="613830" cy="697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AAF003-51F2-56DB-C475-C46B3700A193}"/>
              </a:ext>
            </a:extLst>
          </p:cNvPr>
          <p:cNvSpPr txBox="1"/>
          <p:nvPr/>
        </p:nvSpPr>
        <p:spPr>
          <a:xfrm>
            <a:off x="7478216" y="6004592"/>
            <a:ext cx="15832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세계 </a:t>
            </a:r>
            <a:r>
              <a:rPr lang="en-US" altLang="ko-KR" sz="1500" dirty="0"/>
              <a:t>35</a:t>
            </a:r>
            <a:r>
              <a:rPr lang="ko-KR" altLang="en-US" sz="1500" dirty="0"/>
              <a:t>개 서버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C614D88-5D4D-4FA1-BAEE-7268B9A4C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0625" y="4031065"/>
            <a:ext cx="3731512" cy="18657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169AD4-944A-2A04-FDCA-3717694DE93D}"/>
              </a:ext>
            </a:extLst>
          </p:cNvPr>
          <p:cNvSpPr txBox="1"/>
          <p:nvPr/>
        </p:nvSpPr>
        <p:spPr>
          <a:xfrm>
            <a:off x="10083542" y="4333001"/>
            <a:ext cx="158327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ISO 20022 </a:t>
            </a:r>
            <a:r>
              <a:rPr lang="ko-KR" altLang="en-US" sz="1500" dirty="0"/>
              <a:t>준수</a:t>
            </a:r>
            <a:endParaRPr lang="en-US" altLang="ko-KR" sz="1500" dirty="0"/>
          </a:p>
          <a:p>
            <a:endParaRPr lang="en-US" altLang="ko-KR" sz="8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세계 금융통신 표준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286210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39AD-69EA-D420-CCDE-C4DC8C2F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B8F0AA7-86A7-F439-7AF9-4C97C9E72541}"/>
              </a:ext>
            </a:extLst>
          </p:cNvPr>
          <p:cNvSpPr/>
          <p:nvPr/>
        </p:nvSpPr>
        <p:spPr>
          <a:xfrm>
            <a:off x="3304515" y="1964602"/>
            <a:ext cx="5341544" cy="11950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RWA : </a:t>
            </a:r>
            <a:r>
              <a:rPr lang="ko-KR" altLang="en-US" sz="3600" b="1" dirty="0"/>
              <a:t>자산의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3000B-255D-3750-D7B2-9A5E2195ABF3}"/>
              </a:ext>
            </a:extLst>
          </p:cNvPr>
          <p:cNvSpPr txBox="1"/>
          <p:nvPr/>
        </p:nvSpPr>
        <p:spPr>
          <a:xfrm>
            <a:off x="3657599" y="3707353"/>
            <a:ext cx="445430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300" b="0" i="0" dirty="0" err="1">
                <a:solidFill>
                  <a:schemeClr val="tx1"/>
                </a:solidFill>
                <a:effectLst/>
                <a:latin typeface="+mn-lt"/>
              </a:rPr>
              <a:t>Real</a:t>
            </a:r>
            <a:r>
              <a:rPr lang="ko-KR" altLang="ko-KR" sz="2300" b="0" i="0" dirty="0">
                <a:solidFill>
                  <a:schemeClr val="tx1"/>
                </a:solidFill>
                <a:effectLst/>
                <a:latin typeface="+mn-lt"/>
              </a:rPr>
              <a:t> World </a:t>
            </a:r>
            <a:r>
              <a:rPr lang="ko-KR" altLang="ko-KR" sz="2300" b="0" i="0" dirty="0" err="1">
                <a:solidFill>
                  <a:schemeClr val="tx1"/>
                </a:solidFill>
                <a:effectLst/>
                <a:latin typeface="+mn-lt"/>
              </a:rPr>
              <a:t>Asset</a:t>
            </a:r>
            <a:r>
              <a:rPr lang="ko-KR" altLang="ko-KR" sz="23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2300" b="0" i="0" dirty="0" err="1">
                <a:solidFill>
                  <a:schemeClr val="tx1"/>
                </a:solidFill>
                <a:effectLst/>
                <a:latin typeface="+mn-lt"/>
              </a:rPr>
              <a:t>Tokenization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9128953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C79F-5E04-8069-8798-D24EC72F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62B9E1-AC7F-FDA6-D77B-30AD24C73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616" y="511285"/>
            <a:ext cx="8844105" cy="5103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A55E03-3C5B-A61C-AF41-DDD81AEDD880}"/>
              </a:ext>
            </a:extLst>
          </p:cNvPr>
          <p:cNvSpPr txBox="1"/>
          <p:nvPr/>
        </p:nvSpPr>
        <p:spPr>
          <a:xfrm>
            <a:off x="6708617" y="4991894"/>
            <a:ext cx="412838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00" dirty="0"/>
              <a:t>모든 자산에 디지털 토큰 부여</a:t>
            </a:r>
          </a:p>
        </p:txBody>
      </p:sp>
    </p:spTree>
    <p:extLst>
      <p:ext uri="{BB962C8B-B14F-4D97-AF65-F5344CB8AC3E}">
        <p14:creationId xmlns:p14="http://schemas.microsoft.com/office/powerpoint/2010/main" val="284206885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0AA7-F473-5BE5-3195-7B6497B1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실물자산토큰화">
            <a:extLst>
              <a:ext uri="{FF2B5EF4-FFF2-40B4-BE49-F238E27FC236}">
                <a16:creationId xmlns:a16="http://schemas.microsoft.com/office/drawing/2014/main" id="{43506FD4-7BB9-46B3-6DE7-FE347123D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87" y="767281"/>
            <a:ext cx="9179242" cy="5561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8870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BADA5-CE27-BAA3-C8EF-87E1DD55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83BDFC0-7F12-E867-ECA6-AF625E98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49" y="837923"/>
            <a:ext cx="6487421" cy="4856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84487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0CA4-96F4-529A-691F-DF035B53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72DC24-3074-E3C7-2A5B-290D5B83960B}"/>
              </a:ext>
            </a:extLst>
          </p:cNvPr>
          <p:cNvSpPr txBox="1"/>
          <p:nvPr/>
        </p:nvSpPr>
        <p:spPr>
          <a:xfrm>
            <a:off x="658395" y="925996"/>
            <a:ext cx="5887260" cy="5847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3200" dirty="0"/>
              <a:t>CBDC : </a:t>
            </a:r>
            <a:r>
              <a:rPr lang="ko-KR" altLang="en-US" sz="3200" dirty="0"/>
              <a:t>프로그래밍 가능한 돈</a:t>
            </a:r>
            <a:endParaRPr lang="en-US" altLang="ko-KR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37146-A7BB-2085-D8BB-8860757A4EBB}"/>
              </a:ext>
            </a:extLst>
          </p:cNvPr>
          <p:cNvSpPr txBox="1"/>
          <p:nvPr/>
        </p:nvSpPr>
        <p:spPr>
          <a:xfrm>
            <a:off x="2507809" y="1906379"/>
            <a:ext cx="4128382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00" dirty="0"/>
              <a:t>강원도 밖에서는 결제 안됨</a:t>
            </a:r>
            <a:endParaRPr lang="en-US" altLang="ko-KR" sz="2300" dirty="0"/>
          </a:p>
          <a:p>
            <a:endParaRPr lang="en-US" altLang="ko-KR" sz="700" dirty="0"/>
          </a:p>
          <a:p>
            <a:r>
              <a:rPr lang="ko-KR" altLang="en-US" sz="2300" dirty="0"/>
              <a:t>대형마트에서는 결제 안됨</a:t>
            </a:r>
            <a:endParaRPr lang="en-US" altLang="ko-KR" sz="2300" dirty="0"/>
          </a:p>
          <a:p>
            <a:endParaRPr lang="en-US" altLang="ko-KR" sz="700" dirty="0"/>
          </a:p>
          <a:p>
            <a:r>
              <a:rPr lang="ko-KR" altLang="en-US" sz="2300" dirty="0"/>
              <a:t>불온 서적 구매 불가</a:t>
            </a:r>
            <a:endParaRPr lang="en-US" altLang="ko-KR" sz="2300" dirty="0"/>
          </a:p>
          <a:p>
            <a:endParaRPr lang="en-US" altLang="ko-KR" sz="700" dirty="0"/>
          </a:p>
          <a:p>
            <a:r>
              <a:rPr lang="en-US" altLang="ko-KR" sz="2300" dirty="0"/>
              <a:t>2026</a:t>
            </a:r>
            <a:r>
              <a:rPr lang="ko-KR" altLang="en-US" sz="2300" dirty="0"/>
              <a:t>년이 지나면 국가로 귀속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7EE66-9102-643E-0F16-65C9D5846686}"/>
              </a:ext>
            </a:extLst>
          </p:cNvPr>
          <p:cNvSpPr txBox="1"/>
          <p:nvPr/>
        </p:nvSpPr>
        <p:spPr>
          <a:xfrm>
            <a:off x="658395" y="1935803"/>
            <a:ext cx="178504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00" b="1"/>
              <a:t>디지털 원화</a:t>
            </a:r>
            <a:endParaRPr lang="ko-KR" altLang="en-US" sz="23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D42BD-03FE-BB7D-6743-F267772FF5B5}"/>
              </a:ext>
            </a:extLst>
          </p:cNvPr>
          <p:cNvSpPr txBox="1"/>
          <p:nvPr/>
        </p:nvSpPr>
        <p:spPr>
          <a:xfrm>
            <a:off x="443618" y="5223320"/>
            <a:ext cx="558066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/>
              <a:t>Central Bank    Digital    Currency</a:t>
            </a:r>
          </a:p>
          <a:p>
            <a:endParaRPr lang="en-US" altLang="ko-KR" sz="700" dirty="0"/>
          </a:p>
          <a:p>
            <a:r>
              <a:rPr lang="ko-KR" altLang="en-US" sz="2300" dirty="0"/>
              <a:t>  중앙은행       디지털      통화</a:t>
            </a:r>
          </a:p>
        </p:txBody>
      </p:sp>
    </p:spTree>
    <p:extLst>
      <p:ext uri="{BB962C8B-B14F-4D97-AF65-F5344CB8AC3E}">
        <p14:creationId xmlns:p14="http://schemas.microsoft.com/office/powerpoint/2010/main" val="35759778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2BBA-2F56-571F-53C7-3E290182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F3298E-25C9-C425-D3C4-04D7DF64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582" y="1320013"/>
            <a:ext cx="5906907" cy="4066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112A7E2-1F57-6A5A-8514-CA31EB88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2" y="1320014"/>
            <a:ext cx="5664810" cy="4066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08486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2201-B4B5-FC88-0586-A60D2D0C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9AF555-F397-95A8-067C-C8355D85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50" y="164531"/>
            <a:ext cx="8187336" cy="65289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665994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AFF0-4CBA-828C-F057-904B6A3D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A15F8C-0721-5199-F755-9D848F2E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49" y="2538412"/>
            <a:ext cx="5836793" cy="264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959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2F36-0D9D-6492-CA5C-D98180E2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9403AF-E037-C2F5-2864-32AE7770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781050"/>
            <a:ext cx="93059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587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ED49-2FA1-6284-5961-057BE35A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79BCC-D57C-C489-D6C7-F9D3A5562F05}"/>
              </a:ext>
            </a:extLst>
          </p:cNvPr>
          <p:cNvSpPr txBox="1"/>
          <p:nvPr/>
        </p:nvSpPr>
        <p:spPr>
          <a:xfrm>
            <a:off x="495433" y="1577846"/>
            <a:ext cx="8186840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금 </a:t>
            </a:r>
            <a:r>
              <a:rPr lang="en-US" altLang="ko-KR" sz="3200" dirty="0"/>
              <a:t>1</a:t>
            </a:r>
            <a:r>
              <a:rPr lang="ko-KR" altLang="en-US" sz="3200" dirty="0"/>
              <a:t>억원 어치 보유자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못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AE4D5-6918-CF25-C9A3-A7CF03B1468F}"/>
              </a:ext>
            </a:extLst>
          </p:cNvPr>
          <p:cNvSpPr txBox="1"/>
          <p:nvPr/>
        </p:nvSpPr>
        <p:spPr>
          <a:xfrm>
            <a:off x="588985" y="5166159"/>
            <a:ext cx="550701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현금 </a:t>
            </a:r>
            <a:r>
              <a:rPr lang="en-US" altLang="ko-KR" sz="3200" dirty="0"/>
              <a:t>1</a:t>
            </a:r>
            <a:r>
              <a:rPr lang="ko-KR" altLang="en-US" sz="3200" dirty="0"/>
              <a:t>억원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647BB-F5E7-BEF5-2C4A-2A3E1A3E9442}"/>
              </a:ext>
            </a:extLst>
          </p:cNvPr>
          <p:cNvSpPr txBox="1"/>
          <p:nvPr/>
        </p:nvSpPr>
        <p:spPr>
          <a:xfrm>
            <a:off x="495433" y="2397928"/>
            <a:ext cx="8186840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부동산 </a:t>
            </a:r>
            <a:r>
              <a:rPr lang="en-US" altLang="ko-KR" sz="3200" dirty="0"/>
              <a:t>1</a:t>
            </a:r>
            <a:r>
              <a:rPr lang="ko-KR" altLang="en-US" sz="3200" dirty="0"/>
              <a:t>억원 보유자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못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1922379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F9B9-BF4F-976A-EC85-FE20D333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0BB9EA-8A79-7298-1719-F3F4EACD8110}"/>
              </a:ext>
            </a:extLst>
          </p:cNvPr>
          <p:cNvSpPr txBox="1"/>
          <p:nvPr/>
        </p:nvSpPr>
        <p:spPr>
          <a:xfrm>
            <a:off x="495433" y="1577846"/>
            <a:ext cx="8186840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금 </a:t>
            </a:r>
            <a:r>
              <a:rPr lang="en-US" altLang="ko-KR" sz="3200" dirty="0"/>
              <a:t>1</a:t>
            </a:r>
            <a:r>
              <a:rPr lang="ko-KR" altLang="en-US" sz="3200" dirty="0"/>
              <a:t>억원 어치 보유자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못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2832-3FF8-A7BF-A943-3C4AB2FDC026}"/>
              </a:ext>
            </a:extLst>
          </p:cNvPr>
          <p:cNvSpPr txBox="1"/>
          <p:nvPr/>
        </p:nvSpPr>
        <p:spPr>
          <a:xfrm>
            <a:off x="588985" y="5166159"/>
            <a:ext cx="550701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현금 </a:t>
            </a:r>
            <a:r>
              <a:rPr lang="en-US" altLang="ko-KR" sz="3200" dirty="0"/>
              <a:t>1</a:t>
            </a:r>
            <a:r>
              <a:rPr lang="ko-KR" altLang="en-US" sz="3200" dirty="0"/>
              <a:t>억원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C2E1F-36E4-40AB-997A-938F82EF0C37}"/>
              </a:ext>
            </a:extLst>
          </p:cNvPr>
          <p:cNvSpPr txBox="1"/>
          <p:nvPr/>
        </p:nvSpPr>
        <p:spPr>
          <a:xfrm>
            <a:off x="495433" y="2397928"/>
            <a:ext cx="8186840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부동산 </a:t>
            </a:r>
            <a:r>
              <a:rPr lang="en-US" altLang="ko-KR" sz="3200" dirty="0"/>
              <a:t>1</a:t>
            </a:r>
            <a:r>
              <a:rPr lang="ko-KR" altLang="en-US" sz="3200" dirty="0"/>
              <a:t>억원 보유자 </a:t>
            </a:r>
            <a:r>
              <a:rPr lang="en-US" altLang="ko-KR" sz="3200" dirty="0"/>
              <a:t>: </a:t>
            </a:r>
            <a:r>
              <a:rPr lang="ko-KR" altLang="en-US" sz="3200" dirty="0"/>
              <a:t>커피 못 </a:t>
            </a:r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5610E-143D-244E-D641-4F6DA94729F3}"/>
              </a:ext>
            </a:extLst>
          </p:cNvPr>
          <p:cNvSpPr txBox="1"/>
          <p:nvPr/>
        </p:nvSpPr>
        <p:spPr>
          <a:xfrm>
            <a:off x="8949861" y="1562456"/>
            <a:ext cx="2448452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3200" dirty="0"/>
              <a:t>토큰화 해서</a:t>
            </a:r>
            <a:endParaRPr lang="en-US" altLang="ko-KR" sz="3200" dirty="0"/>
          </a:p>
          <a:p>
            <a:endParaRPr lang="en-US" altLang="ko-KR" sz="800" dirty="0"/>
          </a:p>
          <a:p>
            <a:r>
              <a:rPr lang="ko-KR" altLang="en-US" sz="3200" dirty="0" err="1"/>
              <a:t>사먹음</a:t>
            </a:r>
            <a:endParaRPr lang="en-US" altLang="ko-KR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87A28-4274-CC6C-872A-D0BF7127962F}"/>
              </a:ext>
            </a:extLst>
          </p:cNvPr>
          <p:cNvSpPr txBox="1"/>
          <p:nvPr/>
        </p:nvSpPr>
        <p:spPr>
          <a:xfrm>
            <a:off x="8949861" y="2878455"/>
            <a:ext cx="303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디지털 원화</a:t>
            </a:r>
            <a:r>
              <a:rPr lang="en-US" altLang="ko-KR" dirty="0"/>
              <a:t>, </a:t>
            </a:r>
            <a:r>
              <a:rPr lang="ko-KR" altLang="en-US" dirty="0" err="1"/>
              <a:t>이더리움</a:t>
            </a:r>
            <a:r>
              <a:rPr lang="en-US" altLang="ko-KR" dirty="0"/>
              <a:t>, XRP</a:t>
            </a:r>
          </a:p>
        </p:txBody>
      </p:sp>
    </p:spTree>
    <p:extLst>
      <p:ext uri="{BB962C8B-B14F-4D97-AF65-F5344CB8AC3E}">
        <p14:creationId xmlns:p14="http://schemas.microsoft.com/office/powerpoint/2010/main" val="41183689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A1E6-5354-CD9C-BFBB-44F94E78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🧑‍💼 Office Worker on Facebook 15.0">
            <a:extLst>
              <a:ext uri="{FF2B5EF4-FFF2-40B4-BE49-F238E27FC236}">
                <a16:creationId xmlns:a16="http://schemas.microsoft.com/office/drawing/2014/main" id="{668F9B00-FC3D-FDE0-B489-2DED85C3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298" y="626688"/>
            <a:ext cx="1439503" cy="1439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29EA7-2DC7-B5FF-4FC2-9E0232DC03C3}"/>
              </a:ext>
            </a:extLst>
          </p:cNvPr>
          <p:cNvSpPr txBox="1"/>
          <p:nvPr/>
        </p:nvSpPr>
        <p:spPr>
          <a:xfrm>
            <a:off x="3072392" y="1882178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62D60-3A1A-3E60-3917-B287140ECCC3}"/>
              </a:ext>
            </a:extLst>
          </p:cNvPr>
          <p:cNvSpPr txBox="1"/>
          <p:nvPr/>
        </p:nvSpPr>
        <p:spPr>
          <a:xfrm>
            <a:off x="8941799" y="1819597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DADBE-1FAC-0E15-000F-E86B39B237BD}"/>
              </a:ext>
            </a:extLst>
          </p:cNvPr>
          <p:cNvSpPr txBox="1"/>
          <p:nvPr/>
        </p:nvSpPr>
        <p:spPr>
          <a:xfrm>
            <a:off x="6035893" y="2081207"/>
            <a:ext cx="143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공인중개사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DA6C12-873F-9F06-F945-D77CDFA0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044" y="485285"/>
            <a:ext cx="1143745" cy="1595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45521A8-C2BC-C73B-9309-3A188239B3AE}"/>
              </a:ext>
            </a:extLst>
          </p:cNvPr>
          <p:cNvSpPr/>
          <p:nvPr/>
        </p:nvSpPr>
        <p:spPr>
          <a:xfrm>
            <a:off x="4739483" y="1905765"/>
            <a:ext cx="914400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97052C1-1B3F-0D7B-222D-D115EB41847D}"/>
              </a:ext>
            </a:extLst>
          </p:cNvPr>
          <p:cNvSpPr/>
          <p:nvPr/>
        </p:nvSpPr>
        <p:spPr>
          <a:xfrm>
            <a:off x="7722600" y="1882178"/>
            <a:ext cx="914400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535B4-89D9-F720-F6A2-19F87EDD80BD}"/>
              </a:ext>
            </a:extLst>
          </p:cNvPr>
          <p:cNvSpPr txBox="1"/>
          <p:nvPr/>
        </p:nvSpPr>
        <p:spPr>
          <a:xfrm>
            <a:off x="1957178" y="2093522"/>
            <a:ext cx="99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부동산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F6628FC-3CCF-8859-3B92-E49F795B9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772" y="4065007"/>
            <a:ext cx="864422" cy="13694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3EEB1C-E896-7B50-BA5B-D896054CB378}"/>
              </a:ext>
            </a:extLst>
          </p:cNvPr>
          <p:cNvSpPr txBox="1"/>
          <p:nvPr/>
        </p:nvSpPr>
        <p:spPr>
          <a:xfrm>
            <a:off x="2031848" y="5434485"/>
            <a:ext cx="72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커피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D4F14-B4E2-8EFB-8E26-FCCD18739B0B}"/>
              </a:ext>
            </a:extLst>
          </p:cNvPr>
          <p:cNvSpPr txBox="1"/>
          <p:nvPr/>
        </p:nvSpPr>
        <p:spPr>
          <a:xfrm>
            <a:off x="3072391" y="4651030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F7898C-3A77-F24C-6CC1-676AD5C4FB4F}"/>
              </a:ext>
            </a:extLst>
          </p:cNvPr>
          <p:cNvSpPr/>
          <p:nvPr/>
        </p:nvSpPr>
        <p:spPr>
          <a:xfrm>
            <a:off x="4602172" y="4651030"/>
            <a:ext cx="4339627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DCDF96-F9E0-193D-6C1F-19022DF9CA11}"/>
              </a:ext>
            </a:extLst>
          </p:cNvPr>
          <p:cNvSpPr txBox="1"/>
          <p:nvPr/>
        </p:nvSpPr>
        <p:spPr>
          <a:xfrm>
            <a:off x="9032077" y="4600764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234602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CD86-08A2-EF61-4501-D37B085E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🧑‍💼 Office Worker on Facebook 15.0">
            <a:extLst>
              <a:ext uri="{FF2B5EF4-FFF2-40B4-BE49-F238E27FC236}">
                <a16:creationId xmlns:a16="http://schemas.microsoft.com/office/drawing/2014/main" id="{34339AA2-8404-B4D9-7E05-9E50AAF8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298" y="626688"/>
            <a:ext cx="1439503" cy="1439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61EE76-A9E9-A24C-D31A-74D0E443E24C}"/>
              </a:ext>
            </a:extLst>
          </p:cNvPr>
          <p:cNvSpPr txBox="1"/>
          <p:nvPr/>
        </p:nvSpPr>
        <p:spPr>
          <a:xfrm>
            <a:off x="3072392" y="1882178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4A4BE-1B7B-6869-F1F5-EE24E65D8AD7}"/>
              </a:ext>
            </a:extLst>
          </p:cNvPr>
          <p:cNvSpPr txBox="1"/>
          <p:nvPr/>
        </p:nvSpPr>
        <p:spPr>
          <a:xfrm>
            <a:off x="8941799" y="1819597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529E7-7E24-8CC7-1C9B-BA740F13FADE}"/>
              </a:ext>
            </a:extLst>
          </p:cNvPr>
          <p:cNvSpPr txBox="1"/>
          <p:nvPr/>
        </p:nvSpPr>
        <p:spPr>
          <a:xfrm>
            <a:off x="6035893" y="2081207"/>
            <a:ext cx="143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공인중개사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E3593D3-82FF-C0A3-4787-2ECC673062EF}"/>
              </a:ext>
            </a:extLst>
          </p:cNvPr>
          <p:cNvSpPr/>
          <p:nvPr/>
        </p:nvSpPr>
        <p:spPr>
          <a:xfrm>
            <a:off x="4739483" y="1905765"/>
            <a:ext cx="914400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ADB3E8A6-A048-12F7-3C73-C5D397324942}"/>
              </a:ext>
            </a:extLst>
          </p:cNvPr>
          <p:cNvSpPr/>
          <p:nvPr/>
        </p:nvSpPr>
        <p:spPr>
          <a:xfrm>
            <a:off x="7722600" y="1882178"/>
            <a:ext cx="914400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9310F-A2E9-6AED-29D3-29FD1796A782}"/>
              </a:ext>
            </a:extLst>
          </p:cNvPr>
          <p:cNvSpPr txBox="1"/>
          <p:nvPr/>
        </p:nvSpPr>
        <p:spPr>
          <a:xfrm>
            <a:off x="1957178" y="2093522"/>
            <a:ext cx="99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부동산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ED95376-A102-8D04-F86B-00CDC228D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772" y="4065007"/>
            <a:ext cx="864422" cy="13694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E5CED44-703F-45A4-318D-890A1E3F895B}"/>
              </a:ext>
            </a:extLst>
          </p:cNvPr>
          <p:cNvSpPr txBox="1"/>
          <p:nvPr/>
        </p:nvSpPr>
        <p:spPr>
          <a:xfrm>
            <a:off x="2031848" y="5434485"/>
            <a:ext cx="72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커피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70AC8-C326-6069-7D18-DA4DFA7480C4}"/>
              </a:ext>
            </a:extLst>
          </p:cNvPr>
          <p:cNvSpPr txBox="1"/>
          <p:nvPr/>
        </p:nvSpPr>
        <p:spPr>
          <a:xfrm>
            <a:off x="3072391" y="4651030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CE2F90F-D9E8-B534-FD56-C7A378F2A3DD}"/>
              </a:ext>
            </a:extLst>
          </p:cNvPr>
          <p:cNvSpPr/>
          <p:nvPr/>
        </p:nvSpPr>
        <p:spPr>
          <a:xfrm>
            <a:off x="4602172" y="4651030"/>
            <a:ext cx="4339627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3C70C7-AD61-0AF9-5089-10CA590CE2CC}"/>
              </a:ext>
            </a:extLst>
          </p:cNvPr>
          <p:cNvSpPr txBox="1"/>
          <p:nvPr/>
        </p:nvSpPr>
        <p:spPr>
          <a:xfrm>
            <a:off x="9032077" y="4600764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FCFF71-A3EA-00A1-FE10-EFB8E09B6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21" y="5301335"/>
            <a:ext cx="1031723" cy="11727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1D6AD-49D3-9F6C-4E68-BB8956B71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29" y="2496053"/>
            <a:ext cx="593294" cy="5881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2B482C-89B2-3717-0B31-668F52B28522}"/>
              </a:ext>
            </a:extLst>
          </p:cNvPr>
          <p:cNvSpPr txBox="1"/>
          <p:nvPr/>
        </p:nvSpPr>
        <p:spPr>
          <a:xfrm>
            <a:off x="3612748" y="2605476"/>
            <a:ext cx="112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이더리움</a:t>
            </a:r>
            <a:endParaRPr lang="ko-KR" altLang="en-US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07DE38-41BF-1F0F-351C-A43FF458D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044" y="485285"/>
            <a:ext cx="1143745" cy="1595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03440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A6CA-38A8-E5ED-B754-55369CF1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7552956-4E61-9F71-FF67-C6281807DE6C}"/>
              </a:ext>
            </a:extLst>
          </p:cNvPr>
          <p:cNvSpPr txBox="1"/>
          <p:nvPr/>
        </p:nvSpPr>
        <p:spPr>
          <a:xfrm>
            <a:off x="2893096" y="1231298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61E4EA50-65DB-1661-0145-B7872D0186D3}"/>
              </a:ext>
            </a:extLst>
          </p:cNvPr>
          <p:cNvSpPr/>
          <p:nvPr/>
        </p:nvSpPr>
        <p:spPr>
          <a:xfrm>
            <a:off x="4422877" y="1231298"/>
            <a:ext cx="4339627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DA7C1-4A60-BD96-079E-492F21ED2401}"/>
              </a:ext>
            </a:extLst>
          </p:cNvPr>
          <p:cNvSpPr txBox="1"/>
          <p:nvPr/>
        </p:nvSpPr>
        <p:spPr>
          <a:xfrm>
            <a:off x="8852782" y="1181032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D146F1-47FA-18EE-291C-398216BEA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209" y="152332"/>
            <a:ext cx="1057275" cy="1028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8A41738-DA03-1CF6-E78E-6304455B4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341" y="171382"/>
            <a:ext cx="1066800" cy="10096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DE3AA-06F1-556C-D1A5-5E65C40D4005}"/>
              </a:ext>
            </a:extLst>
          </p:cNvPr>
          <p:cNvSpPr txBox="1"/>
          <p:nvPr/>
        </p:nvSpPr>
        <p:spPr>
          <a:xfrm>
            <a:off x="2857237" y="3458617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747377E-797B-8670-4CFB-257915F3AD15}"/>
              </a:ext>
            </a:extLst>
          </p:cNvPr>
          <p:cNvSpPr/>
          <p:nvPr/>
        </p:nvSpPr>
        <p:spPr>
          <a:xfrm>
            <a:off x="4387018" y="3458617"/>
            <a:ext cx="4339627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729501-D1A8-72C2-2384-8D28BCFB4F22}"/>
              </a:ext>
            </a:extLst>
          </p:cNvPr>
          <p:cNvSpPr txBox="1"/>
          <p:nvPr/>
        </p:nvSpPr>
        <p:spPr>
          <a:xfrm>
            <a:off x="8816923" y="3408351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DA5024A-9489-1C73-1537-FE29FA07F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482" y="2398701"/>
            <a:ext cx="1066800" cy="10096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3D18260-34F1-F7D1-209E-98824E8E1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638" y="2467200"/>
            <a:ext cx="1028700" cy="9411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F2D75DD-E5D2-F146-D8C5-14AD7CBF9AE0}"/>
              </a:ext>
            </a:extLst>
          </p:cNvPr>
          <p:cNvSpPr txBox="1"/>
          <p:nvPr/>
        </p:nvSpPr>
        <p:spPr>
          <a:xfrm>
            <a:off x="2893096" y="6103998"/>
            <a:ext cx="143950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매도자</a:t>
            </a:r>
            <a:endParaRPr lang="en-US" altLang="ko-KR" sz="2800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6267B4B-3020-E745-1725-EB2DDB7F5985}"/>
              </a:ext>
            </a:extLst>
          </p:cNvPr>
          <p:cNvSpPr/>
          <p:nvPr/>
        </p:nvSpPr>
        <p:spPr>
          <a:xfrm>
            <a:off x="4422877" y="6103998"/>
            <a:ext cx="4339627" cy="42268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72646F-FCCD-D4C3-0FB7-D1639ED1F8AF}"/>
              </a:ext>
            </a:extLst>
          </p:cNvPr>
          <p:cNvSpPr txBox="1"/>
          <p:nvPr/>
        </p:nvSpPr>
        <p:spPr>
          <a:xfrm>
            <a:off x="8852782" y="6053732"/>
            <a:ext cx="154914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/>
              <a:t>매수자</a:t>
            </a:r>
            <a:endParaRPr lang="en-US" altLang="ko-KR" sz="28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B6C8FBBB-2A1C-B410-4E1D-3424A917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497" y="5112581"/>
            <a:ext cx="1028700" cy="94115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275D38A3-A598-7BD5-DB1C-A5D84B25C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775" y="5059936"/>
            <a:ext cx="1028700" cy="94115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7A6A02B1-3554-FA28-EAF5-B513FF763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771" y="5843264"/>
            <a:ext cx="645459" cy="733688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AB16248-A0B1-72D5-1F01-6C48DA126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201" y="1309057"/>
            <a:ext cx="767469" cy="3449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E8912F84-080B-AA09-7FA0-32C6F5A70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598" y="3480594"/>
            <a:ext cx="842683" cy="378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8087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6354</TotalTime>
  <Words>1641</Words>
  <Application>Microsoft Office PowerPoint</Application>
  <PresentationFormat>와이드스크린</PresentationFormat>
  <Paragraphs>548</Paragraphs>
  <Slides>113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113</vt:i4>
      </vt:variant>
    </vt:vector>
  </HeadingPairs>
  <TitlesOfParts>
    <vt:vector size="1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45</cp:revision>
  <dcterms:created xsi:type="dcterms:W3CDTF">2026-09-06T04:43:20Z</dcterms:created>
  <dcterms:modified xsi:type="dcterms:W3CDTF">2026-09-27T11:29:33Z</dcterms:modified>
</cp:coreProperties>
</file>