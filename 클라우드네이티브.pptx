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9" r:id="rId3"/>
    <p:sldId id="270" r:id="rId4"/>
    <p:sldId id="271" r:id="rId5"/>
    <p:sldId id="292" r:id="rId6"/>
    <p:sldId id="272" r:id="rId7"/>
    <p:sldId id="273" r:id="rId8"/>
    <p:sldId id="279" r:id="rId9"/>
    <p:sldId id="291" r:id="rId10"/>
    <p:sldId id="274" r:id="rId11"/>
    <p:sldId id="280" r:id="rId12"/>
    <p:sldId id="281" r:id="rId13"/>
    <p:sldId id="275" r:id="rId14"/>
    <p:sldId id="282" r:id="rId15"/>
    <p:sldId id="276" r:id="rId16"/>
    <p:sldId id="284" r:id="rId17"/>
    <p:sldId id="285" r:id="rId18"/>
    <p:sldId id="289" r:id="rId19"/>
    <p:sldId id="286" r:id="rId20"/>
    <p:sldId id="287" r:id="rId21"/>
    <p:sldId id="288" r:id="rId22"/>
    <p:sldId id="290" r:id="rId23"/>
    <p:sldId id="277" r:id="rId2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5050"/>
    <a:srgbClr val="FF3300"/>
    <a:srgbClr val="FF0066"/>
    <a:srgbClr val="FF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5238" autoAdjust="0"/>
  </p:normalViewPr>
  <p:slideViewPr>
    <p:cSldViewPr snapToGrid="0">
      <p:cViewPr varScale="1">
        <p:scale>
          <a:sx n="110" d="100"/>
          <a:sy n="110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8542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0120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17431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36101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46939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518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5961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9559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04049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66211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841694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A7BD22-C8EB-4173-A227-EB4225261623}" type="datetimeFigureOut">
              <a:rPr lang="ko-KR" altLang="en-US" smtClean="0"/>
              <a:t>2026-08-03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AB0B60-0E14-4984-B448-AA36DEC673E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030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3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1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3923607" y="1840212"/>
            <a:ext cx="3782294" cy="72842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800" b="1" smtClean="0"/>
              <a:t>클라우드</a:t>
            </a:r>
            <a:r>
              <a:rPr lang="ko-KR" altLang="en-US" sz="2800" b="1" dirty="0" smtClean="0"/>
              <a:t> </a:t>
            </a:r>
            <a:r>
              <a:rPr lang="ko-KR" altLang="en-US" sz="2800" b="1" dirty="0" err="1" smtClean="0"/>
              <a:t>네이티브</a:t>
            </a:r>
            <a:endParaRPr lang="en-US" altLang="ko-KR" sz="2800" b="1" dirty="0" smtClean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477" y="3401551"/>
            <a:ext cx="4419600" cy="2847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293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07027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서버실</a:t>
            </a:r>
            <a:r>
              <a:rPr lang="ko-KR" altLang="en-US" sz="2300" b="1" dirty="0" smtClean="0"/>
              <a:t> 해체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598517" y="2844737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 smtClean="0"/>
              <a:t>건보공단</a:t>
            </a:r>
            <a:endParaRPr lang="en-US" altLang="ko-KR" b="1" dirty="0" smtClean="0"/>
          </a:p>
        </p:txBody>
      </p:sp>
      <p:sp>
        <p:nvSpPr>
          <p:cNvPr id="4" name="직사각형 3"/>
          <p:cNvSpPr/>
          <p:nvPr/>
        </p:nvSpPr>
        <p:spPr>
          <a:xfrm>
            <a:off x="598517" y="3703715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심평원</a:t>
            </a:r>
            <a:endParaRPr lang="en-US" altLang="ko-KR" b="1" dirty="0" smtClean="0"/>
          </a:p>
        </p:txBody>
      </p:sp>
      <p:sp>
        <p:nvSpPr>
          <p:cNvPr id="5" name="직사각형 4"/>
          <p:cNvSpPr/>
          <p:nvPr/>
        </p:nvSpPr>
        <p:spPr>
          <a:xfrm>
            <a:off x="598517" y="3271458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 smtClean="0"/>
              <a:t>연금공단</a:t>
            </a:r>
            <a:endParaRPr lang="en-US" altLang="ko-KR" b="1" dirty="0" smtClean="0"/>
          </a:p>
        </p:txBody>
      </p:sp>
      <p:sp>
        <p:nvSpPr>
          <p:cNvPr id="6" name="직사각형 5"/>
          <p:cNvSpPr/>
          <p:nvPr/>
        </p:nvSpPr>
        <p:spPr>
          <a:xfrm>
            <a:off x="598517" y="5659977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농어촌공사</a:t>
            </a:r>
            <a:endParaRPr lang="en-US" altLang="ko-KR" b="1" dirty="0" smtClean="0"/>
          </a:p>
        </p:txBody>
      </p:sp>
      <p:sp>
        <p:nvSpPr>
          <p:cNvPr id="7" name="직사각형 6"/>
          <p:cNvSpPr/>
          <p:nvPr/>
        </p:nvSpPr>
        <p:spPr>
          <a:xfrm>
            <a:off x="598517" y="6103323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철도공사</a:t>
            </a:r>
            <a:endParaRPr lang="en-US" altLang="ko-KR" b="1" dirty="0" smtClean="0"/>
          </a:p>
        </p:txBody>
      </p:sp>
      <p:sp>
        <p:nvSpPr>
          <p:cNvPr id="8" name="직사각형 7"/>
          <p:cNvSpPr/>
          <p:nvPr/>
        </p:nvSpPr>
        <p:spPr>
          <a:xfrm>
            <a:off x="1953492" y="2975956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9" name="직사각형 8"/>
          <p:cNvSpPr/>
          <p:nvPr/>
        </p:nvSpPr>
        <p:spPr>
          <a:xfrm>
            <a:off x="1953491" y="3398121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10" name="직사각형 9"/>
          <p:cNvSpPr/>
          <p:nvPr/>
        </p:nvSpPr>
        <p:spPr>
          <a:xfrm>
            <a:off x="1953491" y="3825031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11" name="직사각형 10"/>
          <p:cNvSpPr/>
          <p:nvPr/>
        </p:nvSpPr>
        <p:spPr>
          <a:xfrm>
            <a:off x="1953491" y="5786640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12" name="직사각형 11"/>
          <p:cNvSpPr/>
          <p:nvPr/>
        </p:nvSpPr>
        <p:spPr>
          <a:xfrm>
            <a:off x="1953491" y="6229986"/>
            <a:ext cx="706582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err="1" smtClean="0"/>
              <a:t>서버실</a:t>
            </a:r>
            <a:endParaRPr lang="en-US" altLang="ko-KR" sz="1200" b="1" dirty="0" smtClean="0"/>
          </a:p>
        </p:txBody>
      </p:sp>
      <p:sp>
        <p:nvSpPr>
          <p:cNvPr id="13" name="직사각형 12"/>
          <p:cNvSpPr/>
          <p:nvPr/>
        </p:nvSpPr>
        <p:spPr>
          <a:xfrm>
            <a:off x="1179022" y="1986654"/>
            <a:ext cx="1127760" cy="3972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smtClean="0"/>
              <a:t>현재</a:t>
            </a:r>
            <a:endParaRPr lang="en-US" altLang="ko-KR" b="1" dirty="0" smtClean="0"/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43702" y="3270891"/>
            <a:ext cx="3707476" cy="2389085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6353684" y="2847510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 smtClean="0"/>
              <a:t>건보공단</a:t>
            </a:r>
            <a:endParaRPr lang="en-US" altLang="ko-KR" b="1" dirty="0" smtClean="0"/>
          </a:p>
        </p:txBody>
      </p:sp>
      <p:sp>
        <p:nvSpPr>
          <p:cNvPr id="21" name="직사각형 20"/>
          <p:cNvSpPr/>
          <p:nvPr/>
        </p:nvSpPr>
        <p:spPr>
          <a:xfrm>
            <a:off x="6353684" y="3706488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심평원</a:t>
            </a:r>
            <a:endParaRPr lang="en-US" altLang="ko-KR" b="1" dirty="0" smtClean="0"/>
          </a:p>
        </p:txBody>
      </p:sp>
      <p:sp>
        <p:nvSpPr>
          <p:cNvPr id="22" name="직사각형 21"/>
          <p:cNvSpPr/>
          <p:nvPr/>
        </p:nvSpPr>
        <p:spPr>
          <a:xfrm>
            <a:off x="6353684" y="3274231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err="1" smtClean="0"/>
              <a:t>연금공단</a:t>
            </a:r>
            <a:endParaRPr lang="en-US" altLang="ko-KR" b="1" dirty="0" smtClean="0"/>
          </a:p>
        </p:txBody>
      </p:sp>
      <p:sp>
        <p:nvSpPr>
          <p:cNvPr id="23" name="직사각형 22"/>
          <p:cNvSpPr/>
          <p:nvPr/>
        </p:nvSpPr>
        <p:spPr>
          <a:xfrm>
            <a:off x="6353684" y="5321928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농어촌공사</a:t>
            </a:r>
            <a:endParaRPr lang="en-US" altLang="ko-KR" b="1" dirty="0" smtClean="0"/>
          </a:p>
        </p:txBody>
      </p:sp>
      <p:sp>
        <p:nvSpPr>
          <p:cNvPr id="24" name="직사각형 23"/>
          <p:cNvSpPr/>
          <p:nvPr/>
        </p:nvSpPr>
        <p:spPr>
          <a:xfrm>
            <a:off x="6353684" y="5765274"/>
            <a:ext cx="1354974" cy="369517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철도공사</a:t>
            </a:r>
            <a:endParaRPr lang="en-US" altLang="ko-KR" b="1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9403" y="2415145"/>
            <a:ext cx="2293171" cy="1768780"/>
          </a:xfrm>
          <a:prstGeom prst="rect">
            <a:avLst/>
          </a:prstGeom>
        </p:spPr>
      </p:pic>
      <p:sp>
        <p:nvSpPr>
          <p:cNvPr id="26" name="직사각형 25"/>
          <p:cNvSpPr/>
          <p:nvPr/>
        </p:nvSpPr>
        <p:spPr>
          <a:xfrm>
            <a:off x="8945766" y="1986654"/>
            <a:ext cx="1127760" cy="39722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/>
              <a:t>미래</a:t>
            </a:r>
            <a:endParaRPr lang="en-US" altLang="ko-KR" b="1" dirty="0" smtClean="0"/>
          </a:p>
        </p:txBody>
      </p:sp>
      <p:cxnSp>
        <p:nvCxnSpPr>
          <p:cNvPr id="27" name="직선 연결선 26"/>
          <p:cNvCxnSpPr/>
          <p:nvPr/>
        </p:nvCxnSpPr>
        <p:spPr>
          <a:xfrm>
            <a:off x="7708658" y="3049357"/>
            <a:ext cx="1237108" cy="897101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직선 연결선 29"/>
          <p:cNvCxnSpPr/>
          <p:nvPr/>
        </p:nvCxnSpPr>
        <p:spPr>
          <a:xfrm>
            <a:off x="7708658" y="3464171"/>
            <a:ext cx="1141626" cy="703821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/>
          <p:cNvCxnSpPr>
            <a:stCxn id="21" idx="3"/>
          </p:cNvCxnSpPr>
          <p:nvPr/>
        </p:nvCxnSpPr>
        <p:spPr>
          <a:xfrm>
            <a:off x="7708658" y="3891247"/>
            <a:ext cx="1019705" cy="498279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/>
          <p:cNvCxnSpPr/>
          <p:nvPr/>
        </p:nvCxnSpPr>
        <p:spPr>
          <a:xfrm flipV="1">
            <a:off x="7708657" y="5100394"/>
            <a:ext cx="570814" cy="406292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38"/>
          <p:cNvCxnSpPr/>
          <p:nvPr/>
        </p:nvCxnSpPr>
        <p:spPr>
          <a:xfrm flipV="1">
            <a:off x="7708656" y="5252794"/>
            <a:ext cx="723215" cy="697238"/>
          </a:xfrm>
          <a:prstGeom prst="lin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타원 39"/>
          <p:cNvSpPr/>
          <p:nvPr/>
        </p:nvSpPr>
        <p:spPr>
          <a:xfrm>
            <a:off x="1176249" y="4480062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타원 42"/>
          <p:cNvSpPr/>
          <p:nvPr/>
        </p:nvSpPr>
        <p:spPr>
          <a:xfrm>
            <a:off x="1170709" y="4740527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/>
          <p:cNvSpPr/>
          <p:nvPr/>
        </p:nvSpPr>
        <p:spPr>
          <a:xfrm>
            <a:off x="1170704" y="4981593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타원 44"/>
          <p:cNvSpPr/>
          <p:nvPr/>
        </p:nvSpPr>
        <p:spPr>
          <a:xfrm>
            <a:off x="6948037" y="4424643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타원 45"/>
          <p:cNvSpPr/>
          <p:nvPr/>
        </p:nvSpPr>
        <p:spPr>
          <a:xfrm>
            <a:off x="6942497" y="4685108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/>
          <p:cNvSpPr/>
          <p:nvPr/>
        </p:nvSpPr>
        <p:spPr>
          <a:xfrm>
            <a:off x="6942492" y="4926174"/>
            <a:ext cx="99753" cy="108066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8" name="직선 연결선 47"/>
          <p:cNvCxnSpPr/>
          <p:nvPr/>
        </p:nvCxnSpPr>
        <p:spPr>
          <a:xfrm>
            <a:off x="5476277" y="0"/>
            <a:ext cx="35061" cy="6858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직사각형 49"/>
          <p:cNvSpPr/>
          <p:nvPr/>
        </p:nvSpPr>
        <p:spPr>
          <a:xfrm>
            <a:off x="9527783" y="5562150"/>
            <a:ext cx="1287075" cy="242854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dirty="0" smtClean="0"/>
              <a:t>데이터센터</a:t>
            </a:r>
            <a:endParaRPr lang="en-US" altLang="ko-KR" sz="1200" b="1" dirty="0" smtClean="0"/>
          </a:p>
        </p:txBody>
      </p:sp>
    </p:spTree>
    <p:extLst>
      <p:ext uri="{BB962C8B-B14F-4D97-AF65-F5344CB8AC3E}">
        <p14:creationId xmlns:p14="http://schemas.microsoft.com/office/powerpoint/2010/main" val="35892853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/>
        </p:nvSpPr>
        <p:spPr>
          <a:xfrm>
            <a:off x="706590" y="121917"/>
            <a:ext cx="570797" cy="14717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/>
              <a:t>기존</a:t>
            </a:r>
            <a:endParaRPr lang="en-US" altLang="ko-KR" sz="1500" b="1" dirty="0" smtClean="0"/>
          </a:p>
        </p:txBody>
      </p:sp>
      <p:sp>
        <p:nvSpPr>
          <p:cNvPr id="2" name="오른쪽 화살표 1"/>
          <p:cNvSpPr/>
          <p:nvPr/>
        </p:nvSpPr>
        <p:spPr>
          <a:xfrm>
            <a:off x="1345267" y="306541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" name="직사각형 4"/>
          <p:cNvSpPr/>
          <p:nvPr/>
        </p:nvSpPr>
        <p:spPr>
          <a:xfrm>
            <a:off x="1615396" y="190429"/>
            <a:ext cx="1778912" cy="410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err="1" smtClean="0"/>
              <a:t>클라우드</a:t>
            </a:r>
            <a:r>
              <a:rPr lang="en-US" altLang="ko-KR" sz="1500" b="1" dirty="0"/>
              <a:t> </a:t>
            </a:r>
            <a:r>
              <a:rPr lang="en-US" altLang="ko-KR" sz="1500" b="1" dirty="0" smtClean="0"/>
              <a:t>(VM)</a:t>
            </a:r>
          </a:p>
        </p:txBody>
      </p:sp>
      <p:sp>
        <p:nvSpPr>
          <p:cNvPr id="6" name="오른쪽 화살표 5"/>
          <p:cNvSpPr/>
          <p:nvPr/>
        </p:nvSpPr>
        <p:spPr>
          <a:xfrm>
            <a:off x="1345267" y="1198246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7" name="직사각형 6"/>
          <p:cNvSpPr/>
          <p:nvPr/>
        </p:nvSpPr>
        <p:spPr>
          <a:xfrm>
            <a:off x="1615396" y="1085051"/>
            <a:ext cx="1778912" cy="41058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err="1" smtClean="0"/>
              <a:t>클라우드</a:t>
            </a:r>
            <a:r>
              <a:rPr lang="en-US" altLang="ko-KR" sz="1500" b="1" dirty="0"/>
              <a:t> </a:t>
            </a:r>
            <a:r>
              <a:rPr lang="ko-KR" altLang="en-US" sz="1500" b="1" dirty="0" err="1" smtClean="0"/>
              <a:t>네이티브</a:t>
            </a:r>
            <a:endParaRPr lang="en-US" altLang="ko-KR" sz="1500" b="1" dirty="0" smtClean="0"/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48" y="2934393"/>
            <a:ext cx="752835" cy="764598"/>
          </a:xfrm>
          <a:prstGeom prst="rect">
            <a:avLst/>
          </a:prstGeom>
        </p:spPr>
      </p:pic>
      <p:sp>
        <p:nvSpPr>
          <p:cNvPr id="11" name="직사각형 10"/>
          <p:cNvSpPr/>
          <p:nvPr/>
        </p:nvSpPr>
        <p:spPr>
          <a:xfrm>
            <a:off x="1410388" y="2748568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1978430" y="3158836"/>
            <a:ext cx="307571" cy="54015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800" b="1" dirty="0" smtClean="0"/>
          </a:p>
        </p:txBody>
      </p:sp>
      <p:sp>
        <p:nvSpPr>
          <p:cNvPr id="13" name="TextBox 12"/>
          <p:cNvSpPr txBox="1"/>
          <p:nvPr/>
        </p:nvSpPr>
        <p:spPr>
          <a:xfrm>
            <a:off x="3331930" y="240554"/>
            <a:ext cx="204493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 smtClean="0"/>
              <a:t>(</a:t>
            </a:r>
            <a:r>
              <a:rPr lang="ko-KR" altLang="en-US" sz="1500" dirty="0" err="1" smtClean="0"/>
              <a:t>외부망</a:t>
            </a:r>
            <a:r>
              <a:rPr lang="ko-KR" altLang="en-US" sz="1500" dirty="0" smtClean="0"/>
              <a:t> </a:t>
            </a:r>
            <a:r>
              <a:rPr lang="en-US" altLang="ko-KR" sz="1500" dirty="0" smtClean="0"/>
              <a:t>PC 16,000</a:t>
            </a:r>
            <a:r>
              <a:rPr lang="ko-KR" altLang="en-US" sz="1500" dirty="0" smtClean="0"/>
              <a:t>대</a:t>
            </a:r>
            <a:r>
              <a:rPr lang="en-US" altLang="ko-KR" sz="1500" dirty="0" smtClean="0"/>
              <a:t>)</a:t>
            </a:r>
            <a:endParaRPr lang="ko-KR" altLang="en-US" sz="1500" dirty="0"/>
          </a:p>
        </p:txBody>
      </p:sp>
      <p:sp>
        <p:nvSpPr>
          <p:cNvPr id="14" name="TextBox 13"/>
          <p:cNvSpPr txBox="1"/>
          <p:nvPr/>
        </p:nvSpPr>
        <p:spPr>
          <a:xfrm>
            <a:off x="3331930" y="1130277"/>
            <a:ext cx="204493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 smtClean="0"/>
              <a:t>(</a:t>
            </a:r>
            <a:r>
              <a:rPr lang="ko-KR" altLang="en-US" sz="1500" dirty="0" err="1" smtClean="0"/>
              <a:t>전산동</a:t>
            </a:r>
            <a:r>
              <a:rPr lang="ko-KR" altLang="en-US" sz="1500" dirty="0" smtClean="0"/>
              <a:t> 서버 전체</a:t>
            </a:r>
            <a:r>
              <a:rPr lang="en-US" altLang="ko-KR" sz="1500" dirty="0" smtClean="0"/>
              <a:t>)</a:t>
            </a:r>
            <a:endParaRPr lang="ko-KR" altLang="en-US" sz="1500" dirty="0"/>
          </a:p>
        </p:txBody>
      </p:sp>
      <p:sp>
        <p:nvSpPr>
          <p:cNvPr id="15" name="TextBox 14"/>
          <p:cNvSpPr txBox="1"/>
          <p:nvPr/>
        </p:nvSpPr>
        <p:spPr>
          <a:xfrm>
            <a:off x="1904263" y="2943392"/>
            <a:ext cx="6387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 smtClean="0"/>
              <a:t>외부망</a:t>
            </a:r>
            <a:r>
              <a:rPr lang="en-US" altLang="ko-KR" sz="800" dirty="0" smtClean="0"/>
              <a:t>PC</a:t>
            </a:r>
            <a:endParaRPr lang="ko-KR" altLang="en-US" sz="800" dirty="0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48" y="3989949"/>
            <a:ext cx="752835" cy="764598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1410388" y="3804124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1978430" y="4214392"/>
            <a:ext cx="307571" cy="54015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800" b="1" dirty="0" smtClean="0"/>
          </a:p>
        </p:txBody>
      </p:sp>
      <p:sp>
        <p:nvSpPr>
          <p:cNvPr id="19" name="TextBox 18"/>
          <p:cNvSpPr txBox="1"/>
          <p:nvPr/>
        </p:nvSpPr>
        <p:spPr>
          <a:xfrm>
            <a:off x="1904263" y="3998948"/>
            <a:ext cx="6387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 smtClean="0"/>
              <a:t>외부망</a:t>
            </a:r>
            <a:r>
              <a:rPr lang="en-US" altLang="ko-KR" sz="800" dirty="0" smtClean="0"/>
              <a:t>PC</a:t>
            </a:r>
            <a:endParaRPr lang="ko-KR" altLang="en-US" sz="800" dirty="0"/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748" y="5042562"/>
            <a:ext cx="752835" cy="764598"/>
          </a:xfrm>
          <a:prstGeom prst="rect">
            <a:avLst/>
          </a:prstGeom>
        </p:spPr>
      </p:pic>
      <p:sp>
        <p:nvSpPr>
          <p:cNvPr id="25" name="직사각형 24"/>
          <p:cNvSpPr/>
          <p:nvPr/>
        </p:nvSpPr>
        <p:spPr>
          <a:xfrm>
            <a:off x="1410388" y="4856737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1978430" y="5267005"/>
            <a:ext cx="307571" cy="54015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800" b="1" dirty="0" smtClean="0"/>
          </a:p>
        </p:txBody>
      </p:sp>
      <p:sp>
        <p:nvSpPr>
          <p:cNvPr id="27" name="TextBox 26"/>
          <p:cNvSpPr txBox="1"/>
          <p:nvPr/>
        </p:nvSpPr>
        <p:spPr>
          <a:xfrm>
            <a:off x="1904263" y="5051561"/>
            <a:ext cx="6387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 smtClean="0"/>
              <a:t>외부망</a:t>
            </a:r>
            <a:r>
              <a:rPr lang="en-US" altLang="ko-KR" sz="800" dirty="0" smtClean="0"/>
              <a:t>PC</a:t>
            </a:r>
            <a:endParaRPr lang="ko-KR" altLang="en-US" sz="800" dirty="0"/>
          </a:p>
        </p:txBody>
      </p:sp>
      <p:sp>
        <p:nvSpPr>
          <p:cNvPr id="28" name="TextBox 27"/>
          <p:cNvSpPr txBox="1"/>
          <p:nvPr/>
        </p:nvSpPr>
        <p:spPr>
          <a:xfrm>
            <a:off x="706590" y="6095174"/>
            <a:ext cx="168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mtClean="0"/>
              <a:t>직원 </a:t>
            </a:r>
            <a:r>
              <a:rPr lang="en-US" altLang="ko-KR" dirty="0" smtClean="0"/>
              <a:t>16,000</a:t>
            </a:r>
            <a:r>
              <a:rPr lang="ko-KR" altLang="en-US" dirty="0"/>
              <a:t>명</a:t>
            </a:r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300" y="2945479"/>
            <a:ext cx="752835" cy="764598"/>
          </a:xfrm>
          <a:prstGeom prst="rect">
            <a:avLst/>
          </a:prstGeom>
        </p:spPr>
      </p:pic>
      <p:sp>
        <p:nvSpPr>
          <p:cNvPr id="30" name="직사각형 29"/>
          <p:cNvSpPr/>
          <p:nvPr/>
        </p:nvSpPr>
        <p:spPr>
          <a:xfrm>
            <a:off x="7680940" y="2759654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pic>
        <p:nvPicPr>
          <p:cNvPr id="33" name="그림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300" y="4001035"/>
            <a:ext cx="752835" cy="764598"/>
          </a:xfrm>
          <a:prstGeom prst="rect">
            <a:avLst/>
          </a:prstGeom>
        </p:spPr>
      </p:pic>
      <p:sp>
        <p:nvSpPr>
          <p:cNvPr id="34" name="직사각형 33"/>
          <p:cNvSpPr/>
          <p:nvPr/>
        </p:nvSpPr>
        <p:spPr>
          <a:xfrm>
            <a:off x="7680940" y="3815210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pic>
        <p:nvPicPr>
          <p:cNvPr id="37" name="그림 3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300" y="5053648"/>
            <a:ext cx="752835" cy="764598"/>
          </a:xfrm>
          <a:prstGeom prst="rect">
            <a:avLst/>
          </a:prstGeom>
        </p:spPr>
      </p:pic>
      <p:sp>
        <p:nvSpPr>
          <p:cNvPr id="38" name="직사각형 37"/>
          <p:cNvSpPr/>
          <p:nvPr/>
        </p:nvSpPr>
        <p:spPr>
          <a:xfrm>
            <a:off x="7680940" y="4867823"/>
            <a:ext cx="487659" cy="95042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업무</a:t>
            </a:r>
            <a:endParaRPr lang="en-US" altLang="ko-KR" sz="1100" b="1" dirty="0" smtClean="0"/>
          </a:p>
          <a:p>
            <a:pPr algn="ctr"/>
            <a:r>
              <a:rPr lang="en-US" altLang="ko-KR" sz="1100" b="1" dirty="0" smtClean="0"/>
              <a:t>PC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77142" y="6106260"/>
            <a:ext cx="168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직원 </a:t>
            </a:r>
            <a:r>
              <a:rPr lang="en-US" altLang="ko-KR" dirty="0" smtClean="0"/>
              <a:t>16,000</a:t>
            </a:r>
            <a:r>
              <a:rPr lang="ko-KR" altLang="en-US" dirty="0"/>
              <a:t>명</a:t>
            </a:r>
          </a:p>
        </p:txBody>
      </p:sp>
      <p:sp>
        <p:nvSpPr>
          <p:cNvPr id="43" name="직사각형 42"/>
          <p:cNvSpPr/>
          <p:nvPr/>
        </p:nvSpPr>
        <p:spPr>
          <a:xfrm>
            <a:off x="10099964" y="3466407"/>
            <a:ext cx="756417" cy="17373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err="1" smtClean="0"/>
              <a:t>클라우드</a:t>
            </a:r>
            <a:endParaRPr lang="en-US" altLang="ko-KR" sz="1100" b="1" dirty="0" smtClean="0"/>
          </a:p>
          <a:p>
            <a:pPr algn="ctr"/>
            <a:endParaRPr lang="en-US" altLang="ko-KR" sz="1100" b="1" dirty="0" smtClean="0"/>
          </a:p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4" name="TextBox 43"/>
          <p:cNvSpPr txBox="1"/>
          <p:nvPr/>
        </p:nvSpPr>
        <p:spPr>
          <a:xfrm>
            <a:off x="10143514" y="5203767"/>
            <a:ext cx="7718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전산동</a:t>
            </a:r>
            <a:endParaRPr lang="ko-KR" altLang="en-US" sz="1200" dirty="0"/>
          </a:p>
        </p:txBody>
      </p:sp>
      <p:cxnSp>
        <p:nvCxnSpPr>
          <p:cNvPr id="45" name="직선 연결선 44"/>
          <p:cNvCxnSpPr/>
          <p:nvPr/>
        </p:nvCxnSpPr>
        <p:spPr>
          <a:xfrm>
            <a:off x="4746171" y="1593666"/>
            <a:ext cx="18501" cy="5264334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화살표 연결선 35"/>
          <p:cNvCxnSpPr>
            <a:endCxn id="43" idx="0"/>
          </p:cNvCxnSpPr>
          <p:nvPr/>
        </p:nvCxnSpPr>
        <p:spPr>
          <a:xfrm>
            <a:off x="5278461" y="497734"/>
            <a:ext cx="5199712" cy="296867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464147" y="1463970"/>
            <a:ext cx="188886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 dirty="0" err="1" smtClean="0"/>
              <a:t>클라우드</a:t>
            </a:r>
            <a:r>
              <a:rPr lang="ko-KR" altLang="en-US" sz="1500" b="1" dirty="0" smtClean="0"/>
              <a:t> </a:t>
            </a:r>
            <a:r>
              <a:rPr lang="en-US" altLang="ko-KR" sz="1500" b="1" dirty="0" smtClean="0"/>
              <a:t>(VM)</a:t>
            </a:r>
            <a:r>
              <a:rPr lang="ko-KR" altLang="en-US" sz="1500" b="1" dirty="0" smtClean="0"/>
              <a:t>전환</a:t>
            </a:r>
            <a:endParaRPr lang="ko-KR" altLang="en-US" sz="1500" b="1" dirty="0"/>
          </a:p>
        </p:txBody>
      </p:sp>
      <p:sp>
        <p:nvSpPr>
          <p:cNvPr id="40" name="TextBox 39"/>
          <p:cNvSpPr txBox="1"/>
          <p:nvPr/>
        </p:nvSpPr>
        <p:spPr>
          <a:xfrm>
            <a:off x="869738" y="2152313"/>
            <a:ext cx="252456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b="1" dirty="0" err="1" smtClean="0"/>
              <a:t>클라우드</a:t>
            </a:r>
            <a:r>
              <a:rPr lang="ko-KR" altLang="en-US" sz="2300" b="1" dirty="0" smtClean="0"/>
              <a:t> 도입 전</a:t>
            </a:r>
            <a:endParaRPr lang="ko-KR" altLang="en-US" sz="2300" b="1" dirty="0"/>
          </a:p>
        </p:txBody>
      </p:sp>
    </p:spTree>
    <p:extLst>
      <p:ext uri="{BB962C8B-B14F-4D97-AF65-F5344CB8AC3E}">
        <p14:creationId xmlns:p14="http://schemas.microsoft.com/office/powerpoint/2010/main" val="28935589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자원 절감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1512023" y="5294887"/>
            <a:ext cx="307571" cy="54015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800" b="1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437856" y="5079443"/>
            <a:ext cx="6387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 smtClean="0"/>
              <a:t>외부망</a:t>
            </a:r>
            <a:r>
              <a:rPr lang="en-US" altLang="ko-KR" sz="800" dirty="0" smtClean="0"/>
              <a:t>PC</a:t>
            </a:r>
            <a:endParaRPr lang="ko-KR" altLang="en-US" sz="800" dirty="0"/>
          </a:p>
        </p:txBody>
      </p:sp>
      <p:sp>
        <p:nvSpPr>
          <p:cNvPr id="13" name="TextBox 12"/>
          <p:cNvSpPr txBox="1"/>
          <p:nvPr/>
        </p:nvSpPr>
        <p:spPr>
          <a:xfrm>
            <a:off x="11582414" y="8126277"/>
            <a:ext cx="1687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직원 </a:t>
            </a:r>
            <a:r>
              <a:rPr lang="en-US" altLang="ko-KR" dirty="0" smtClean="0"/>
              <a:t>16,000</a:t>
            </a:r>
            <a:r>
              <a:rPr lang="ko-KR" altLang="en-US" dirty="0"/>
              <a:t>명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900600" y="4223336"/>
            <a:ext cx="756417" cy="173736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100" b="1" dirty="0" smtClean="0"/>
          </a:p>
        </p:txBody>
      </p:sp>
      <p:sp>
        <p:nvSpPr>
          <p:cNvPr id="15" name="TextBox 14"/>
          <p:cNvSpPr txBox="1"/>
          <p:nvPr/>
        </p:nvSpPr>
        <p:spPr>
          <a:xfrm>
            <a:off x="6819267" y="3614981"/>
            <a:ext cx="1758716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클라우드</a:t>
            </a:r>
            <a:r>
              <a:rPr lang="ko-KR" altLang="en-US" sz="1200" b="1" dirty="0" smtClean="0"/>
              <a:t> 서버를</a:t>
            </a:r>
            <a:endParaRPr lang="en-US" altLang="ko-KR" sz="1200" b="1" dirty="0" smtClean="0"/>
          </a:p>
          <a:p>
            <a:endParaRPr lang="en-US" altLang="ko-KR" sz="500" b="1" dirty="0"/>
          </a:p>
          <a:p>
            <a:r>
              <a:rPr lang="en-US" altLang="ko-KR" sz="1200" b="1" dirty="0" smtClean="0"/>
              <a:t>VM 3,000</a:t>
            </a:r>
            <a:r>
              <a:rPr lang="ko-KR" altLang="en-US" sz="1200" b="1" dirty="0" smtClean="0"/>
              <a:t>개로 분해</a:t>
            </a:r>
            <a:endParaRPr lang="ko-KR" altLang="en-US" sz="1200" b="1" dirty="0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5547" y="4503768"/>
            <a:ext cx="706522" cy="1034184"/>
          </a:xfrm>
          <a:prstGeom prst="rect">
            <a:avLst/>
          </a:prstGeom>
        </p:spPr>
      </p:pic>
      <p:sp>
        <p:nvSpPr>
          <p:cNvPr id="21" name="직사각형 20"/>
          <p:cNvSpPr/>
          <p:nvPr/>
        </p:nvSpPr>
        <p:spPr>
          <a:xfrm>
            <a:off x="2263682" y="4236030"/>
            <a:ext cx="1475502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500" dirty="0"/>
              <a:t>CPU: </a:t>
            </a:r>
            <a:r>
              <a:rPr lang="en-US" altLang="ko-KR" sz="1500" dirty="0" smtClean="0"/>
              <a:t>1</a:t>
            </a:r>
            <a:r>
              <a:rPr lang="ko-KR" altLang="en-US" sz="1500" dirty="0" smtClean="0"/>
              <a:t>코어</a:t>
            </a:r>
            <a:endParaRPr lang="ko-KR" altLang="en-US" sz="1500" dirty="0"/>
          </a:p>
          <a:p>
            <a:r>
              <a:rPr lang="ko-KR" altLang="en-US" sz="1500" dirty="0"/>
              <a:t>램</a:t>
            </a:r>
            <a:r>
              <a:rPr lang="en-US" altLang="ko-KR" sz="1500" dirty="0"/>
              <a:t>: 4GB</a:t>
            </a:r>
          </a:p>
          <a:p>
            <a:r>
              <a:rPr lang="ko-KR" altLang="en-US" sz="1500" dirty="0"/>
              <a:t>디스크</a:t>
            </a:r>
            <a:r>
              <a:rPr lang="en-US" altLang="ko-KR" sz="1500" dirty="0"/>
              <a:t>: 256GB</a:t>
            </a:r>
            <a:endParaRPr lang="ko-KR" altLang="en-US" sz="1500" dirty="0"/>
          </a:p>
        </p:txBody>
      </p:sp>
      <p:sp>
        <p:nvSpPr>
          <p:cNvPr id="22" name="모서리가 둥근 사각형 설명선 21"/>
          <p:cNvSpPr/>
          <p:nvPr/>
        </p:nvSpPr>
        <p:spPr>
          <a:xfrm>
            <a:off x="2176390" y="4153590"/>
            <a:ext cx="1596043" cy="1027862"/>
          </a:xfrm>
          <a:prstGeom prst="wedgeRoundRectCallout">
            <a:avLst>
              <a:gd name="adj1" fmla="val -71944"/>
              <a:gd name="adj2" fmla="val 75632"/>
              <a:gd name="adj3" fmla="val 16667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290872" y="1778122"/>
            <a:ext cx="137199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CPU: </a:t>
            </a:r>
            <a:r>
              <a:rPr lang="en-US" altLang="ko-KR" sz="1200" dirty="0" smtClean="0"/>
              <a:t>16,000</a:t>
            </a:r>
            <a:r>
              <a:rPr lang="ko-KR" altLang="en-US" sz="1200" dirty="0" smtClean="0"/>
              <a:t>코어</a:t>
            </a:r>
            <a:endParaRPr lang="ko-KR" altLang="en-US" sz="1200" dirty="0"/>
          </a:p>
          <a:p>
            <a:endParaRPr lang="en-US" altLang="ko-KR" sz="300" dirty="0" smtClean="0"/>
          </a:p>
          <a:p>
            <a:r>
              <a:rPr lang="ko-KR" altLang="en-US" sz="1200" dirty="0" smtClean="0"/>
              <a:t>램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64,000GB</a:t>
            </a:r>
          </a:p>
          <a:p>
            <a:endParaRPr lang="en-US" altLang="ko-KR" sz="300" dirty="0"/>
          </a:p>
          <a:p>
            <a:r>
              <a:rPr lang="ko-KR" altLang="en-US" sz="1200" dirty="0"/>
              <a:t>디스크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4,000TB</a:t>
            </a:r>
            <a:endParaRPr lang="ko-KR" altLang="en-US" sz="1200" dirty="0"/>
          </a:p>
        </p:txBody>
      </p:sp>
      <p:sp>
        <p:nvSpPr>
          <p:cNvPr id="27" name="TextBox 26"/>
          <p:cNvSpPr txBox="1"/>
          <p:nvPr/>
        </p:nvSpPr>
        <p:spPr>
          <a:xfrm>
            <a:off x="942186" y="1778122"/>
            <a:ext cx="1473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16,000</a:t>
            </a:r>
            <a:r>
              <a:rPr lang="ko-KR" altLang="en-US" b="1" dirty="0" smtClean="0"/>
              <a:t>명 분</a:t>
            </a:r>
            <a:endParaRPr lang="ko-KR" altLang="en-US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6236014" y="1597243"/>
            <a:ext cx="1473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3,000</a:t>
            </a:r>
            <a:r>
              <a:rPr lang="ko-KR" altLang="en-US" b="1" dirty="0" smtClean="0"/>
              <a:t>명 분</a:t>
            </a:r>
            <a:endParaRPr lang="ko-KR" altLang="en-US" b="1" dirty="0"/>
          </a:p>
        </p:txBody>
      </p:sp>
      <p:sp>
        <p:nvSpPr>
          <p:cNvPr id="29" name="직사각형 28"/>
          <p:cNvSpPr/>
          <p:nvPr/>
        </p:nvSpPr>
        <p:spPr>
          <a:xfrm>
            <a:off x="7466118" y="1561368"/>
            <a:ext cx="1371992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CPU: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코어</a:t>
            </a:r>
            <a:endParaRPr lang="ko-KR" altLang="en-US" sz="1200" dirty="0"/>
          </a:p>
          <a:p>
            <a:endParaRPr lang="en-US" altLang="ko-KR" sz="300" dirty="0" smtClean="0"/>
          </a:p>
          <a:p>
            <a:r>
              <a:rPr lang="ko-KR" altLang="en-US" sz="1200" dirty="0" smtClean="0"/>
              <a:t>램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12,000GB</a:t>
            </a:r>
          </a:p>
          <a:p>
            <a:endParaRPr lang="en-US" altLang="ko-KR" sz="300" dirty="0"/>
          </a:p>
          <a:p>
            <a:r>
              <a:rPr lang="ko-KR" altLang="en-US" sz="1200" dirty="0"/>
              <a:t>디스크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768TB</a:t>
            </a:r>
            <a:endParaRPr lang="ko-KR" altLang="en-US" sz="1200" dirty="0"/>
          </a:p>
        </p:txBody>
      </p:sp>
      <p:sp>
        <p:nvSpPr>
          <p:cNvPr id="30" name="오른쪽 화살표 29"/>
          <p:cNvSpPr/>
          <p:nvPr/>
        </p:nvSpPr>
        <p:spPr>
          <a:xfrm>
            <a:off x="3662864" y="1761531"/>
            <a:ext cx="2556345" cy="661504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1" name="직사각형 30"/>
          <p:cNvSpPr/>
          <p:nvPr/>
        </p:nvSpPr>
        <p:spPr>
          <a:xfrm>
            <a:off x="4099104" y="1930700"/>
            <a:ext cx="1441901" cy="3231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500" dirty="0" err="1" smtClean="0"/>
              <a:t>클라우드</a:t>
            </a:r>
            <a:r>
              <a:rPr lang="ko-KR" altLang="en-US" sz="1500" dirty="0" smtClean="0"/>
              <a:t> 전환</a:t>
            </a:r>
            <a:endParaRPr lang="ko-KR" altLang="en-US" sz="1500" dirty="0"/>
          </a:p>
        </p:txBody>
      </p:sp>
      <p:sp>
        <p:nvSpPr>
          <p:cNvPr id="38" name="TextBox 37"/>
          <p:cNvSpPr txBox="1"/>
          <p:nvPr/>
        </p:nvSpPr>
        <p:spPr>
          <a:xfrm>
            <a:off x="880127" y="1417282"/>
            <a:ext cx="1230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외부망</a:t>
            </a:r>
            <a:r>
              <a:rPr lang="ko-KR" altLang="en-US" dirty="0" smtClean="0"/>
              <a:t> </a:t>
            </a:r>
            <a:r>
              <a:rPr lang="en-US" altLang="ko-KR" dirty="0" smtClean="0"/>
              <a:t>PC</a:t>
            </a:r>
            <a:endParaRPr lang="ko-KR" altLang="en-US" dirty="0"/>
          </a:p>
        </p:txBody>
      </p:sp>
      <p:sp>
        <p:nvSpPr>
          <p:cNvPr id="39" name="모서리가 둥근 사각형 설명선 38"/>
          <p:cNvSpPr/>
          <p:nvPr/>
        </p:nvSpPr>
        <p:spPr>
          <a:xfrm>
            <a:off x="6612037" y="444137"/>
            <a:ext cx="2871597" cy="893108"/>
          </a:xfrm>
          <a:prstGeom prst="wedgeRoundRectCallout">
            <a:avLst>
              <a:gd name="adj1" fmla="val -42543"/>
              <a:gd name="adj2" fmla="val 80113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TextBox 39"/>
          <p:cNvSpPr txBox="1"/>
          <p:nvPr/>
        </p:nvSpPr>
        <p:spPr>
          <a:xfrm>
            <a:off x="6662828" y="641393"/>
            <a:ext cx="2707595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16,000</a:t>
            </a:r>
            <a:r>
              <a:rPr lang="ko-KR" altLang="en-US" sz="1200" dirty="0" smtClean="0"/>
              <a:t>명이 동시에 </a:t>
            </a:r>
            <a:r>
              <a:rPr lang="ko-KR" altLang="en-US" sz="1200" dirty="0" err="1" smtClean="0"/>
              <a:t>외부망</a:t>
            </a:r>
            <a:r>
              <a:rPr lang="en-US" altLang="ko-KR" sz="1200" dirty="0" smtClean="0"/>
              <a:t>PC </a:t>
            </a:r>
            <a:r>
              <a:rPr lang="ko-KR" altLang="en-US" sz="1200" dirty="0" smtClean="0"/>
              <a:t>사용 </a:t>
            </a:r>
            <a:r>
              <a:rPr lang="en-US" altLang="ko-KR" sz="1200" dirty="0" smtClean="0"/>
              <a:t>X</a:t>
            </a:r>
          </a:p>
          <a:p>
            <a:endParaRPr lang="en-US" altLang="ko-KR" sz="500" dirty="0"/>
          </a:p>
          <a:p>
            <a:r>
              <a:rPr lang="en-US" altLang="ko-KR" sz="1200" dirty="0" smtClean="0"/>
              <a:t>=&gt;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개로도 충분</a:t>
            </a:r>
            <a:endParaRPr lang="en-US" altLang="ko-KR" sz="1200" dirty="0"/>
          </a:p>
        </p:txBody>
      </p:sp>
      <p:sp>
        <p:nvSpPr>
          <p:cNvPr id="41" name="TextBox 40"/>
          <p:cNvSpPr txBox="1"/>
          <p:nvPr/>
        </p:nvSpPr>
        <p:spPr>
          <a:xfrm>
            <a:off x="2214319" y="3855127"/>
            <a:ext cx="14399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외부망</a:t>
            </a:r>
            <a:r>
              <a:rPr lang="ko-KR" altLang="en-US" sz="1200" b="1" dirty="0" smtClean="0"/>
              <a:t> </a:t>
            </a:r>
            <a:r>
              <a:rPr lang="en-US" altLang="ko-KR" sz="1200" b="1" dirty="0" smtClean="0"/>
              <a:t>PC 1</a:t>
            </a:r>
            <a:r>
              <a:rPr lang="ko-KR" altLang="en-US" sz="1200" b="1" dirty="0" smtClean="0"/>
              <a:t>대</a:t>
            </a:r>
            <a:endParaRPr lang="ko-KR" altLang="en-US" sz="1200" b="1" dirty="0"/>
          </a:p>
        </p:txBody>
      </p:sp>
      <p:sp>
        <p:nvSpPr>
          <p:cNvPr id="46" name="직사각형 45"/>
          <p:cNvSpPr/>
          <p:nvPr/>
        </p:nvSpPr>
        <p:spPr>
          <a:xfrm>
            <a:off x="5103527" y="4236030"/>
            <a:ext cx="1475502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500" dirty="0"/>
              <a:t>CPU: </a:t>
            </a:r>
            <a:r>
              <a:rPr lang="en-US" altLang="ko-KR" sz="1500" dirty="0" smtClean="0"/>
              <a:t>1</a:t>
            </a:r>
            <a:r>
              <a:rPr lang="ko-KR" altLang="en-US" sz="1500" dirty="0" smtClean="0"/>
              <a:t>코어</a:t>
            </a:r>
            <a:endParaRPr lang="ko-KR" altLang="en-US" sz="1500" dirty="0"/>
          </a:p>
          <a:p>
            <a:r>
              <a:rPr lang="ko-KR" altLang="en-US" sz="1500" dirty="0"/>
              <a:t>램</a:t>
            </a:r>
            <a:r>
              <a:rPr lang="en-US" altLang="ko-KR" sz="1500" dirty="0"/>
              <a:t>: 4GB</a:t>
            </a:r>
          </a:p>
          <a:p>
            <a:r>
              <a:rPr lang="ko-KR" altLang="en-US" sz="1500" dirty="0"/>
              <a:t>디스크</a:t>
            </a:r>
            <a:r>
              <a:rPr lang="en-US" altLang="ko-KR" sz="1500" dirty="0"/>
              <a:t>: 256GB</a:t>
            </a:r>
            <a:endParaRPr lang="ko-KR" altLang="en-US" sz="1500" dirty="0"/>
          </a:p>
        </p:txBody>
      </p:sp>
      <p:sp>
        <p:nvSpPr>
          <p:cNvPr id="47" name="모서리가 둥근 사각형 설명선 46"/>
          <p:cNvSpPr/>
          <p:nvPr/>
        </p:nvSpPr>
        <p:spPr>
          <a:xfrm>
            <a:off x="5016235" y="4153590"/>
            <a:ext cx="1596043" cy="1027862"/>
          </a:xfrm>
          <a:prstGeom prst="wedgeRoundRectCallout">
            <a:avLst>
              <a:gd name="adj1" fmla="val 70466"/>
              <a:gd name="adj2" fmla="val 74786"/>
              <a:gd name="adj3" fmla="val 16667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TextBox 47"/>
          <p:cNvSpPr txBox="1"/>
          <p:nvPr/>
        </p:nvSpPr>
        <p:spPr>
          <a:xfrm>
            <a:off x="5054164" y="3855127"/>
            <a:ext cx="14399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VM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631815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686594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en-US" altLang="ko-KR" sz="2300" b="1" dirty="0" smtClean="0"/>
              <a:t>(VM)</a:t>
            </a:r>
          </a:p>
        </p:txBody>
      </p:sp>
      <p:sp>
        <p:nvSpPr>
          <p:cNvPr id="29" name="직사각형 28"/>
          <p:cNvSpPr/>
          <p:nvPr/>
        </p:nvSpPr>
        <p:spPr>
          <a:xfrm>
            <a:off x="3101752" y="2265071"/>
            <a:ext cx="137199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CPU: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코어</a:t>
            </a:r>
            <a:endParaRPr lang="ko-KR" altLang="en-US" sz="1200" dirty="0"/>
          </a:p>
          <a:p>
            <a:endParaRPr lang="en-US" altLang="ko-KR" sz="300" dirty="0" smtClean="0"/>
          </a:p>
          <a:p>
            <a:r>
              <a:rPr lang="ko-KR" altLang="en-US" sz="1200" dirty="0" smtClean="0"/>
              <a:t>램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12,000GB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187452" y="2231670"/>
            <a:ext cx="2718262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187451" y="1902696"/>
            <a:ext cx="15046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 smtClean="0"/>
              <a:t>컴퓨팅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38" name="직사각형 37"/>
          <p:cNvSpPr/>
          <p:nvPr/>
        </p:nvSpPr>
        <p:spPr>
          <a:xfrm>
            <a:off x="350265" y="23605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39" name="직사각형 38"/>
          <p:cNvSpPr/>
          <p:nvPr/>
        </p:nvSpPr>
        <p:spPr>
          <a:xfrm>
            <a:off x="748855" y="23605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0" name="직사각형 39"/>
          <p:cNvSpPr/>
          <p:nvPr/>
        </p:nvSpPr>
        <p:spPr>
          <a:xfrm>
            <a:off x="1147445" y="23605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1" name="직사각형 40"/>
          <p:cNvSpPr/>
          <p:nvPr/>
        </p:nvSpPr>
        <p:spPr>
          <a:xfrm>
            <a:off x="1574345" y="23605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3" name="직사각형 42"/>
          <p:cNvSpPr/>
          <p:nvPr/>
        </p:nvSpPr>
        <p:spPr>
          <a:xfrm>
            <a:off x="1972935" y="2360562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4" name="직사각형 43"/>
          <p:cNvSpPr/>
          <p:nvPr/>
        </p:nvSpPr>
        <p:spPr>
          <a:xfrm>
            <a:off x="2383780" y="2360562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0983" y="3699117"/>
            <a:ext cx="16144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스토리지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47" name="모서리가 둥근 직사각형 46"/>
          <p:cNvSpPr/>
          <p:nvPr/>
        </p:nvSpPr>
        <p:spPr>
          <a:xfrm>
            <a:off x="637951" y="4022282"/>
            <a:ext cx="994703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>
            <a:off x="800764" y="415117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9" name="직사각형 48"/>
          <p:cNvSpPr/>
          <p:nvPr/>
        </p:nvSpPr>
        <p:spPr>
          <a:xfrm>
            <a:off x="1199354" y="415117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cxnSp>
        <p:nvCxnSpPr>
          <p:cNvPr id="54" name="직선 화살표 연결선 53"/>
          <p:cNvCxnSpPr/>
          <p:nvPr/>
        </p:nvCxnSpPr>
        <p:spPr>
          <a:xfrm>
            <a:off x="1527929" y="2126769"/>
            <a:ext cx="3103895" cy="109143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/>
          <p:cNvCxnSpPr/>
          <p:nvPr/>
        </p:nvCxnSpPr>
        <p:spPr>
          <a:xfrm flipV="1">
            <a:off x="1627031" y="3968614"/>
            <a:ext cx="2974875" cy="673839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/>
          <p:cNvSpPr/>
          <p:nvPr/>
        </p:nvSpPr>
        <p:spPr>
          <a:xfrm>
            <a:off x="5533126" y="985030"/>
            <a:ext cx="1390605" cy="3494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err="1" smtClean="0"/>
              <a:t>하이퍼바이저</a:t>
            </a:r>
            <a:endParaRPr lang="en-US" altLang="ko-KR" sz="1500" b="1" dirty="0" smtClean="0"/>
          </a:p>
        </p:txBody>
      </p:sp>
      <p:sp>
        <p:nvSpPr>
          <p:cNvPr id="75" name="TextBox 74"/>
          <p:cNvSpPr txBox="1"/>
          <p:nvPr/>
        </p:nvSpPr>
        <p:spPr>
          <a:xfrm>
            <a:off x="5495491" y="1472886"/>
            <a:ext cx="2121412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</a:t>
            </a:r>
            <a:r>
              <a:rPr lang="ko-KR" altLang="en-US" sz="1200" dirty="0" smtClean="0"/>
              <a:t>개의 덩어리로 합친다</a:t>
            </a:r>
            <a:r>
              <a:rPr lang="en-US" altLang="ko-KR" sz="1200" dirty="0" smtClean="0"/>
              <a:t>.</a:t>
            </a:r>
          </a:p>
          <a:p>
            <a:endParaRPr lang="en-US" altLang="ko-KR" sz="500" dirty="0"/>
          </a:p>
          <a:p>
            <a:r>
              <a:rPr lang="ko-KR" altLang="en-US" sz="1200" dirty="0" smtClean="0"/>
              <a:t>이걸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개 </a:t>
            </a:r>
            <a:r>
              <a:rPr lang="en-US" altLang="ko-KR" sz="1200" dirty="0" smtClean="0"/>
              <a:t>VM</a:t>
            </a:r>
            <a:r>
              <a:rPr lang="ko-KR" altLang="en-US" sz="1200" dirty="0" err="1" smtClean="0"/>
              <a:t>으로</a:t>
            </a:r>
            <a:r>
              <a:rPr lang="ko-KR" altLang="en-US" sz="1200" dirty="0" smtClean="0"/>
              <a:t> 분해</a:t>
            </a:r>
            <a:endParaRPr lang="en-US" altLang="ko-KR" sz="1200" dirty="0"/>
          </a:p>
        </p:txBody>
      </p:sp>
      <p:sp>
        <p:nvSpPr>
          <p:cNvPr id="50" name="직사각형 49"/>
          <p:cNvSpPr/>
          <p:nvPr/>
        </p:nvSpPr>
        <p:spPr>
          <a:xfrm>
            <a:off x="4631824" y="2582277"/>
            <a:ext cx="1574277" cy="206017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200" b="1" dirty="0" smtClean="0"/>
          </a:p>
        </p:txBody>
      </p:sp>
      <p:sp>
        <p:nvSpPr>
          <p:cNvPr id="51" name="TextBox 50"/>
          <p:cNvSpPr txBox="1"/>
          <p:nvPr/>
        </p:nvSpPr>
        <p:spPr>
          <a:xfrm>
            <a:off x="4571894" y="4686099"/>
            <a:ext cx="16342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3,000 VM</a:t>
            </a:r>
            <a:r>
              <a:rPr lang="ko-KR" altLang="en-US" sz="1200" dirty="0" err="1" smtClean="0"/>
              <a:t>으로</a:t>
            </a:r>
            <a:r>
              <a:rPr lang="ko-KR" altLang="en-US" sz="1200" dirty="0" smtClean="0"/>
              <a:t> 분해</a:t>
            </a:r>
            <a:endParaRPr lang="en-US" altLang="ko-KR" sz="1200" dirty="0" smtClean="0"/>
          </a:p>
        </p:txBody>
      </p:sp>
      <p:sp>
        <p:nvSpPr>
          <p:cNvPr id="52" name="직사각형 51"/>
          <p:cNvSpPr/>
          <p:nvPr/>
        </p:nvSpPr>
        <p:spPr>
          <a:xfrm>
            <a:off x="2538293" y="3868393"/>
            <a:ext cx="150616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 smtClean="0"/>
              <a:t>디스크</a:t>
            </a:r>
            <a:r>
              <a:rPr lang="en-US" altLang="ko-KR" sz="1400" dirty="0"/>
              <a:t>: </a:t>
            </a:r>
            <a:r>
              <a:rPr lang="en-US" altLang="ko-KR" sz="1400" dirty="0" smtClean="0"/>
              <a:t>768 TB</a:t>
            </a:r>
            <a:endParaRPr lang="ko-KR" altLang="en-US" sz="1400" dirty="0"/>
          </a:p>
        </p:txBody>
      </p:sp>
      <p:sp>
        <p:nvSpPr>
          <p:cNvPr id="22" name="모서리가 둥근 사각형 설명선 21"/>
          <p:cNvSpPr/>
          <p:nvPr/>
        </p:nvSpPr>
        <p:spPr>
          <a:xfrm>
            <a:off x="5418962" y="775461"/>
            <a:ext cx="2078251" cy="1433124"/>
          </a:xfrm>
          <a:prstGeom prst="wedgeRoundRectCallout">
            <a:avLst>
              <a:gd name="adj1" fmla="val -44718"/>
              <a:gd name="adj2" fmla="val 74544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3" name="그림 5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511" y="2699757"/>
            <a:ext cx="1268903" cy="1857379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3382567" y="5818415"/>
            <a:ext cx="73227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VM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61" name="TextBox 60"/>
          <p:cNvSpPr txBox="1"/>
          <p:nvPr/>
        </p:nvSpPr>
        <p:spPr>
          <a:xfrm>
            <a:off x="3984528" y="5823860"/>
            <a:ext cx="10227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4GB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256GB</a:t>
            </a:r>
          </a:p>
          <a:p>
            <a:endParaRPr lang="en-US" altLang="ko-KR" sz="1000" dirty="0"/>
          </a:p>
          <a:p>
            <a:r>
              <a:rPr lang="ko-KR" altLang="en-US" sz="1000" dirty="0" smtClean="0"/>
              <a:t>윈도우</a:t>
            </a:r>
            <a:r>
              <a:rPr lang="en-US" altLang="ko-KR" sz="1000" dirty="0" smtClean="0"/>
              <a:t>1</a:t>
            </a:r>
            <a:r>
              <a:rPr lang="ko-KR" altLang="en-US" sz="1000" dirty="0" smtClean="0"/>
              <a:t>개</a:t>
            </a:r>
            <a:endParaRPr lang="ko-KR" altLang="en-US" sz="1000" dirty="0"/>
          </a:p>
        </p:txBody>
      </p:sp>
      <p:sp>
        <p:nvSpPr>
          <p:cNvPr id="62" name="TextBox 61"/>
          <p:cNvSpPr txBox="1"/>
          <p:nvPr/>
        </p:nvSpPr>
        <p:spPr>
          <a:xfrm>
            <a:off x="3362224" y="5544961"/>
            <a:ext cx="241933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VM: </a:t>
            </a:r>
            <a:r>
              <a:rPr lang="en-US" altLang="ko-KR" sz="1200" dirty="0" smtClean="0"/>
              <a:t>Virtual Machine (</a:t>
            </a:r>
            <a:r>
              <a:rPr lang="ko-KR" altLang="en-US" sz="1200" dirty="0" err="1" smtClean="0"/>
              <a:t>가상머신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sp>
        <p:nvSpPr>
          <p:cNvPr id="65" name="오른쪽 화살표 64"/>
          <p:cNvSpPr/>
          <p:nvPr/>
        </p:nvSpPr>
        <p:spPr>
          <a:xfrm>
            <a:off x="6247467" y="3296481"/>
            <a:ext cx="1220118" cy="661504"/>
          </a:xfrm>
          <a:prstGeom prst="rightArrow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pic>
        <p:nvPicPr>
          <p:cNvPr id="66" name="그림 6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414" y="3118087"/>
            <a:ext cx="493653" cy="501366"/>
          </a:xfrm>
          <a:prstGeom prst="rect">
            <a:avLst/>
          </a:prstGeom>
        </p:spPr>
      </p:pic>
      <p:pic>
        <p:nvPicPr>
          <p:cNvPr id="68" name="그림 6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5466" y="3113892"/>
            <a:ext cx="493653" cy="501366"/>
          </a:xfrm>
          <a:prstGeom prst="rect">
            <a:avLst/>
          </a:prstGeom>
        </p:spPr>
      </p:pic>
      <p:pic>
        <p:nvPicPr>
          <p:cNvPr id="72" name="그림 7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47" y="3113892"/>
            <a:ext cx="493653" cy="501366"/>
          </a:xfrm>
          <a:prstGeom prst="rect">
            <a:avLst/>
          </a:prstGeom>
        </p:spPr>
      </p:pic>
      <p:pic>
        <p:nvPicPr>
          <p:cNvPr id="74" name="그림 7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4414" y="3656228"/>
            <a:ext cx="493653" cy="501366"/>
          </a:xfrm>
          <a:prstGeom prst="rect">
            <a:avLst/>
          </a:prstGeom>
        </p:spPr>
      </p:pic>
      <p:pic>
        <p:nvPicPr>
          <p:cNvPr id="76" name="그림 7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5466" y="3652033"/>
            <a:ext cx="493653" cy="501366"/>
          </a:xfrm>
          <a:prstGeom prst="rect">
            <a:avLst/>
          </a:prstGeom>
        </p:spPr>
      </p:pic>
      <p:pic>
        <p:nvPicPr>
          <p:cNvPr id="77" name="그림 7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3347" y="3652033"/>
            <a:ext cx="493653" cy="501366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414760" y="4155966"/>
            <a:ext cx="32224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직원 </a:t>
            </a:r>
            <a:r>
              <a:rPr lang="en-US" altLang="ko-KR" sz="1200" b="1" dirty="0" smtClean="0"/>
              <a:t>16,000</a:t>
            </a:r>
            <a:r>
              <a:rPr lang="ko-KR" altLang="en-US" sz="1200" b="1" dirty="0" smtClean="0"/>
              <a:t>명이 사용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동시 접속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명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pic>
        <p:nvPicPr>
          <p:cNvPr id="79" name="그림 7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40079" y="5979529"/>
            <a:ext cx="600075" cy="676275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575005" y="5954316"/>
            <a:ext cx="199908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업체 엔지니어가</a:t>
            </a:r>
            <a:endParaRPr lang="en-US" altLang="ko-KR" sz="1200" dirty="0" smtClean="0"/>
          </a:p>
          <a:p>
            <a:endParaRPr lang="en-US" altLang="ko-KR" sz="500" dirty="0" smtClean="0"/>
          </a:p>
          <a:p>
            <a:r>
              <a:rPr lang="en-US" altLang="ko-KR" sz="1200" dirty="0" smtClean="0"/>
              <a:t>VM</a:t>
            </a:r>
            <a:r>
              <a:rPr lang="ko-KR" altLang="en-US" sz="1200" dirty="0" smtClean="0"/>
              <a:t>에 </a:t>
            </a:r>
            <a:r>
              <a:rPr lang="en-US" altLang="ko-KR" sz="1200" dirty="0" smtClean="0"/>
              <a:t>OS 3,000</a:t>
            </a:r>
            <a:r>
              <a:rPr lang="ko-KR" altLang="en-US" sz="1200" dirty="0" smtClean="0"/>
              <a:t>개 설치</a:t>
            </a:r>
            <a:endParaRPr lang="en-US" altLang="ko-KR" sz="1200" dirty="0" smtClean="0"/>
          </a:p>
          <a:p>
            <a:endParaRPr lang="en-US" altLang="ko-KR" sz="500" dirty="0"/>
          </a:p>
          <a:p>
            <a:r>
              <a:rPr lang="en-US" altLang="ko-KR" sz="1200" dirty="0" smtClean="0"/>
              <a:t>        (</a:t>
            </a:r>
            <a:r>
              <a:rPr lang="ko-KR" altLang="en-US" sz="1200" dirty="0" smtClean="0"/>
              <a:t>윈도우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구름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pic>
        <p:nvPicPr>
          <p:cNvPr id="81" name="그림 8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41814" y="5347707"/>
            <a:ext cx="2011525" cy="1510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0530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6877" y="2820008"/>
            <a:ext cx="600075" cy="67627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331803" y="2794795"/>
            <a:ext cx="1999080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업체 엔지니어가</a:t>
            </a:r>
            <a:endParaRPr lang="en-US" altLang="ko-KR" sz="1200" dirty="0" smtClean="0"/>
          </a:p>
          <a:p>
            <a:endParaRPr lang="en-US" altLang="ko-KR" sz="500" dirty="0" smtClean="0"/>
          </a:p>
          <a:p>
            <a:r>
              <a:rPr lang="ko-KR" altLang="en-US" sz="1200" dirty="0" smtClean="0"/>
              <a:t>각 </a:t>
            </a:r>
            <a:r>
              <a:rPr lang="en-US" altLang="ko-KR" sz="1200" dirty="0" smtClean="0"/>
              <a:t>VM</a:t>
            </a:r>
            <a:r>
              <a:rPr lang="ko-KR" altLang="en-US" sz="1200" dirty="0" smtClean="0"/>
              <a:t>에 </a:t>
            </a:r>
            <a:r>
              <a:rPr lang="en-US" altLang="ko-KR" sz="1200" dirty="0" smtClean="0"/>
              <a:t>Guest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OS </a:t>
            </a:r>
            <a:r>
              <a:rPr lang="ko-KR" altLang="en-US" sz="1200" dirty="0" smtClean="0"/>
              <a:t>설치</a:t>
            </a:r>
            <a:endParaRPr lang="en-US" altLang="ko-KR" sz="1200" dirty="0" smtClean="0"/>
          </a:p>
          <a:p>
            <a:endParaRPr lang="en-US" altLang="ko-KR" sz="500" dirty="0"/>
          </a:p>
          <a:p>
            <a:r>
              <a:rPr lang="en-US" altLang="ko-KR" sz="1200" dirty="0" smtClean="0"/>
              <a:t>            (</a:t>
            </a:r>
            <a:r>
              <a:rPr lang="ko-KR" altLang="en-US" sz="1200" dirty="0" smtClean="0"/>
              <a:t>윈도우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구름</a:t>
            </a:r>
            <a:r>
              <a:rPr lang="en-US" altLang="ko-KR" sz="1200" dirty="0" smtClean="0"/>
              <a:t>)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1739" y="3995870"/>
            <a:ext cx="2905125" cy="218122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90012" y="841303"/>
            <a:ext cx="414805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램</a:t>
            </a:r>
            <a:r>
              <a:rPr lang="en-US" altLang="ko-KR" dirty="0" smtClean="0"/>
              <a:t>, </a:t>
            </a:r>
            <a:r>
              <a:rPr lang="ko-KR" altLang="en-US" dirty="0" smtClean="0"/>
              <a:t>디스크 낭비</a:t>
            </a:r>
            <a:r>
              <a:rPr lang="en-US" altLang="ko-KR" dirty="0" smtClean="0"/>
              <a:t>: </a:t>
            </a:r>
            <a:r>
              <a:rPr lang="ko-KR" altLang="en-US" dirty="0" smtClean="0"/>
              <a:t>윈도우 </a:t>
            </a:r>
            <a:r>
              <a:rPr lang="en-US" altLang="ko-KR" dirty="0" smtClean="0"/>
              <a:t>3,000 </a:t>
            </a:r>
            <a:r>
              <a:rPr lang="ko-KR" altLang="en-US" dirty="0" smtClean="0"/>
              <a:t>개 설치</a:t>
            </a:r>
            <a:endParaRPr lang="en-US" altLang="ko-KR" dirty="0"/>
          </a:p>
          <a:p>
            <a:endParaRPr lang="en-US" altLang="ko-KR" sz="800" dirty="0" smtClean="0"/>
          </a:p>
          <a:p>
            <a:r>
              <a:rPr lang="ko-KR" altLang="en-US" dirty="0" smtClean="0"/>
              <a:t>긴 부팅시간</a:t>
            </a:r>
            <a:endParaRPr lang="en-US" altLang="ko-KR" dirty="0"/>
          </a:p>
        </p:txBody>
      </p:sp>
      <p:sp>
        <p:nvSpPr>
          <p:cNvPr id="7" name="직사각형 6"/>
          <p:cNvSpPr/>
          <p:nvPr/>
        </p:nvSpPr>
        <p:spPr>
          <a:xfrm>
            <a:off x="274319" y="224444"/>
            <a:ext cx="2751513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 dirty="0" smtClean="0"/>
              <a:t>VM </a:t>
            </a:r>
            <a:r>
              <a:rPr lang="ko-KR" altLang="en-US" sz="2300" b="1" dirty="0" smtClean="0"/>
              <a:t>방식의 문제점</a:t>
            </a:r>
            <a:endParaRPr lang="en-US" altLang="ko-KR" sz="2300" b="1" dirty="0" smtClean="0"/>
          </a:p>
        </p:txBody>
      </p:sp>
    </p:spTree>
    <p:extLst>
      <p:ext uri="{BB962C8B-B14F-4D97-AF65-F5344CB8AC3E}">
        <p14:creationId xmlns:p14="http://schemas.microsoft.com/office/powerpoint/2010/main" val="9734890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19" y="224444"/>
            <a:ext cx="3782292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네이티브로</a:t>
            </a:r>
            <a:r>
              <a:rPr lang="ko-KR" altLang="en-US" sz="2300" b="1" dirty="0" smtClean="0"/>
              <a:t> 해결</a:t>
            </a:r>
            <a:endParaRPr lang="en-US" altLang="ko-KR" sz="2300" b="1" dirty="0" smtClean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838" y="1312632"/>
            <a:ext cx="7574010" cy="3009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967951" y="5229288"/>
            <a:ext cx="335308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CPU, </a:t>
            </a:r>
            <a:r>
              <a:rPr lang="ko-KR" altLang="en-US" sz="1200" dirty="0" smtClean="0"/>
              <a:t>램이 부족하면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sp>
        <p:nvSpPr>
          <p:cNvPr id="8" name="TextBox 7"/>
          <p:cNvSpPr txBox="1"/>
          <p:nvPr/>
        </p:nvSpPr>
        <p:spPr>
          <a:xfrm>
            <a:off x="5537328" y="6097644"/>
            <a:ext cx="248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컨테이너 증설 요청</a:t>
            </a:r>
            <a:endParaRPr lang="en-US" altLang="ko-KR" dirty="0"/>
          </a:p>
        </p:txBody>
      </p:sp>
      <p:sp>
        <p:nvSpPr>
          <p:cNvPr id="9" name="직사각형 8"/>
          <p:cNvSpPr/>
          <p:nvPr/>
        </p:nvSpPr>
        <p:spPr>
          <a:xfrm>
            <a:off x="5537328" y="5643123"/>
            <a:ext cx="671093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 smtClean="0"/>
              <a:t>HPA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49942" y="5731884"/>
            <a:ext cx="20784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Horizontal Pod Autoscaler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23085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686594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</a:t>
            </a:r>
            <a:endParaRPr lang="en-US" altLang="ko-KR" sz="2300" b="1" dirty="0" smtClean="0"/>
          </a:p>
        </p:txBody>
      </p:sp>
      <p:sp>
        <p:nvSpPr>
          <p:cNvPr id="29" name="직사각형 28"/>
          <p:cNvSpPr/>
          <p:nvPr/>
        </p:nvSpPr>
        <p:spPr>
          <a:xfrm>
            <a:off x="3101752" y="2265071"/>
            <a:ext cx="1371992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200" dirty="0"/>
              <a:t>CPU: </a:t>
            </a:r>
            <a:r>
              <a:rPr lang="en-US" altLang="ko-KR" sz="1200" dirty="0" smtClean="0"/>
              <a:t>3,000</a:t>
            </a:r>
            <a:r>
              <a:rPr lang="ko-KR" altLang="en-US" sz="1200" dirty="0" smtClean="0"/>
              <a:t>코어</a:t>
            </a:r>
            <a:endParaRPr lang="ko-KR" altLang="en-US" sz="1200" dirty="0"/>
          </a:p>
          <a:p>
            <a:endParaRPr lang="en-US" altLang="ko-KR" sz="300" dirty="0" smtClean="0"/>
          </a:p>
          <a:p>
            <a:r>
              <a:rPr lang="ko-KR" altLang="en-US" sz="1200" dirty="0" smtClean="0"/>
              <a:t>램</a:t>
            </a:r>
            <a:r>
              <a:rPr lang="en-US" altLang="ko-KR" sz="1200" dirty="0"/>
              <a:t>: </a:t>
            </a:r>
            <a:r>
              <a:rPr lang="en-US" altLang="ko-KR" sz="1200" dirty="0" smtClean="0"/>
              <a:t>12,000GB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3680" y="4991169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35" name="TextBox 34"/>
          <p:cNvSpPr txBox="1"/>
          <p:nvPr/>
        </p:nvSpPr>
        <p:spPr>
          <a:xfrm>
            <a:off x="8758667" y="5234885"/>
            <a:ext cx="11253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MB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187452" y="2231670"/>
            <a:ext cx="2718262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187451" y="1902696"/>
            <a:ext cx="15046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 smtClean="0"/>
              <a:t>컴퓨팅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38" name="직사각형 37"/>
          <p:cNvSpPr/>
          <p:nvPr/>
        </p:nvSpPr>
        <p:spPr>
          <a:xfrm>
            <a:off x="350265" y="23605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39" name="직사각형 38"/>
          <p:cNvSpPr/>
          <p:nvPr/>
        </p:nvSpPr>
        <p:spPr>
          <a:xfrm>
            <a:off x="748855" y="23605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0" name="직사각형 39"/>
          <p:cNvSpPr/>
          <p:nvPr/>
        </p:nvSpPr>
        <p:spPr>
          <a:xfrm>
            <a:off x="1147445" y="23605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1" name="직사각형 40"/>
          <p:cNvSpPr/>
          <p:nvPr/>
        </p:nvSpPr>
        <p:spPr>
          <a:xfrm>
            <a:off x="1574345" y="23605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3" name="직사각형 42"/>
          <p:cNvSpPr/>
          <p:nvPr/>
        </p:nvSpPr>
        <p:spPr>
          <a:xfrm>
            <a:off x="1972935" y="2360562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4" name="직사각형 43"/>
          <p:cNvSpPr/>
          <p:nvPr/>
        </p:nvSpPr>
        <p:spPr>
          <a:xfrm>
            <a:off x="2383780" y="2360562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0983" y="3699117"/>
            <a:ext cx="16144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스토리지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47" name="모서리가 둥근 직사각형 46"/>
          <p:cNvSpPr/>
          <p:nvPr/>
        </p:nvSpPr>
        <p:spPr>
          <a:xfrm>
            <a:off x="637951" y="4022282"/>
            <a:ext cx="994703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/>
          <p:cNvSpPr/>
          <p:nvPr/>
        </p:nvSpPr>
        <p:spPr>
          <a:xfrm>
            <a:off x="800764" y="415117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49" name="직사각형 48"/>
          <p:cNvSpPr/>
          <p:nvPr/>
        </p:nvSpPr>
        <p:spPr>
          <a:xfrm>
            <a:off x="1199354" y="4151175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cxnSp>
        <p:nvCxnSpPr>
          <p:cNvPr id="54" name="직선 화살표 연결선 53"/>
          <p:cNvCxnSpPr/>
          <p:nvPr/>
        </p:nvCxnSpPr>
        <p:spPr>
          <a:xfrm>
            <a:off x="1527929" y="2126769"/>
            <a:ext cx="3103895" cy="109143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/>
          <p:cNvCxnSpPr/>
          <p:nvPr/>
        </p:nvCxnSpPr>
        <p:spPr>
          <a:xfrm flipV="1">
            <a:off x="1627031" y="3968614"/>
            <a:ext cx="2974875" cy="673839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직사각형 68"/>
          <p:cNvSpPr/>
          <p:nvPr/>
        </p:nvSpPr>
        <p:spPr>
          <a:xfrm>
            <a:off x="5535836" y="733424"/>
            <a:ext cx="1172565" cy="34949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err="1" smtClean="0"/>
              <a:t>쿠버네티스</a:t>
            </a:r>
            <a:endParaRPr lang="en-US" altLang="ko-KR" sz="1500" b="1" dirty="0" smtClean="0"/>
          </a:p>
        </p:txBody>
      </p:sp>
      <p:sp>
        <p:nvSpPr>
          <p:cNvPr id="75" name="TextBox 74"/>
          <p:cNvSpPr txBox="1"/>
          <p:nvPr/>
        </p:nvSpPr>
        <p:spPr>
          <a:xfrm>
            <a:off x="5495491" y="1159370"/>
            <a:ext cx="2001722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</a:t>
            </a:r>
            <a:r>
              <a:rPr lang="ko-KR" altLang="en-US" sz="1200" dirty="0" smtClean="0"/>
              <a:t>개의 덩어리로 합친다</a:t>
            </a:r>
            <a:r>
              <a:rPr lang="en-US" altLang="ko-KR" sz="1200" dirty="0" smtClean="0"/>
              <a:t>.</a:t>
            </a:r>
          </a:p>
          <a:p>
            <a:endParaRPr lang="en-US" altLang="ko-KR" sz="500" dirty="0"/>
          </a:p>
          <a:p>
            <a:r>
              <a:rPr lang="ko-KR" altLang="en-US" sz="1200" dirty="0" err="1" smtClean="0"/>
              <a:t>도커가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1</a:t>
            </a:r>
            <a:r>
              <a:rPr lang="ko-KR" altLang="en-US" sz="1200" dirty="0" err="1" smtClean="0"/>
              <a:t>컨테이너씩</a:t>
            </a:r>
            <a:endParaRPr lang="en-US" altLang="ko-KR" sz="1200" dirty="0"/>
          </a:p>
          <a:p>
            <a:endParaRPr lang="en-US" altLang="ko-KR" sz="500" dirty="0" smtClean="0"/>
          </a:p>
          <a:p>
            <a:r>
              <a:rPr lang="ko-KR" altLang="en-US" sz="1200" dirty="0" smtClean="0"/>
              <a:t>떼어가게 준비</a:t>
            </a:r>
            <a:endParaRPr lang="en-US" altLang="ko-KR" sz="1200" dirty="0" smtClean="0"/>
          </a:p>
        </p:txBody>
      </p:sp>
      <p:pic>
        <p:nvPicPr>
          <p:cNvPr id="83" name="그림 8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5946" y="3050529"/>
            <a:ext cx="493653" cy="50136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2070" y="2899113"/>
            <a:ext cx="1626309" cy="65278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7616902" y="3627106"/>
            <a:ext cx="2743948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필요할 때마다</a:t>
            </a:r>
            <a:r>
              <a:rPr lang="en-US" altLang="ko-KR" sz="1200" dirty="0" smtClean="0"/>
              <a:t>,</a:t>
            </a:r>
          </a:p>
          <a:p>
            <a:endParaRPr lang="en-US" altLang="ko-KR" sz="500" dirty="0"/>
          </a:p>
          <a:p>
            <a:r>
              <a:rPr lang="ko-KR" altLang="en-US" sz="1200" dirty="0" err="1" smtClean="0"/>
              <a:t>도커가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1</a:t>
            </a:r>
            <a:r>
              <a:rPr lang="ko-KR" altLang="en-US" sz="1200" dirty="0" err="1" smtClean="0"/>
              <a:t>컨테이너씩</a:t>
            </a:r>
            <a:r>
              <a:rPr lang="ko-KR" altLang="en-US" sz="1200" dirty="0" smtClean="0"/>
              <a:t> 떼어내서</a:t>
            </a:r>
            <a:endParaRPr lang="en-US" altLang="ko-KR" sz="1200" dirty="0" smtClean="0"/>
          </a:p>
          <a:p>
            <a:endParaRPr lang="en-US" altLang="ko-KR" sz="500" dirty="0"/>
          </a:p>
          <a:p>
            <a:r>
              <a:rPr lang="en-US" altLang="ko-KR" sz="1200" dirty="0" smtClean="0"/>
              <a:t>MSA</a:t>
            </a:r>
            <a:r>
              <a:rPr lang="ko-KR" altLang="en-US" sz="1200" dirty="0" err="1" smtClean="0"/>
              <a:t>를</a:t>
            </a:r>
            <a:r>
              <a:rPr lang="ko-KR" altLang="en-US" sz="1200" dirty="0" smtClean="0"/>
              <a:t> 담는다</a:t>
            </a:r>
            <a:r>
              <a:rPr lang="en-US" altLang="ko-KR" sz="1200" dirty="0" smtClean="0"/>
              <a:t>.</a:t>
            </a:r>
            <a:endParaRPr lang="ko-KR" altLang="en-US" sz="1200" dirty="0"/>
          </a:p>
        </p:txBody>
      </p:sp>
      <p:sp>
        <p:nvSpPr>
          <p:cNvPr id="50" name="직사각형 49"/>
          <p:cNvSpPr/>
          <p:nvPr/>
        </p:nvSpPr>
        <p:spPr>
          <a:xfrm>
            <a:off x="4631824" y="2582277"/>
            <a:ext cx="1574277" cy="2060176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 smtClean="0"/>
              <a:t>1</a:t>
            </a:r>
            <a:r>
              <a:rPr lang="ko-KR" altLang="en-US" sz="1500" b="1" dirty="0" smtClean="0"/>
              <a:t>개의</a:t>
            </a:r>
            <a:endParaRPr lang="en-US" altLang="ko-KR" sz="1500" b="1" dirty="0" smtClean="0"/>
          </a:p>
          <a:p>
            <a:pPr algn="ctr"/>
            <a:endParaRPr lang="en-US" altLang="ko-KR" sz="500" b="1" dirty="0" smtClean="0"/>
          </a:p>
          <a:p>
            <a:pPr algn="ctr"/>
            <a:r>
              <a:rPr lang="ko-KR" altLang="en-US" sz="1500" b="1" dirty="0" smtClean="0"/>
              <a:t>큰 덩어리</a:t>
            </a:r>
            <a:endParaRPr lang="en-US" altLang="ko-KR" sz="1500" b="1" dirty="0" smtClean="0"/>
          </a:p>
          <a:p>
            <a:pPr algn="ctr"/>
            <a:endParaRPr lang="en-US" altLang="ko-KR" sz="1500" b="1" dirty="0"/>
          </a:p>
          <a:p>
            <a:pPr algn="ctr"/>
            <a:r>
              <a:rPr lang="en-US" altLang="ko-KR" sz="1200" b="1" dirty="0" smtClean="0"/>
              <a:t>[ CPU, </a:t>
            </a:r>
            <a:r>
              <a:rPr lang="ko-KR" altLang="en-US" sz="1200" b="1" dirty="0" smtClean="0"/>
              <a:t>램</a:t>
            </a:r>
            <a:r>
              <a:rPr lang="en-US" altLang="ko-KR" sz="1200" b="1" dirty="0" smtClean="0"/>
              <a:t>, </a:t>
            </a:r>
            <a:r>
              <a:rPr lang="ko-KR" altLang="en-US" sz="1200" b="1" dirty="0" smtClean="0"/>
              <a:t>디스크 </a:t>
            </a:r>
            <a:r>
              <a:rPr lang="en-US" altLang="ko-KR" sz="1200" b="1" dirty="0" smtClean="0"/>
              <a:t>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1894" y="4686099"/>
            <a:ext cx="1927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컨테이너들로 </a:t>
            </a:r>
            <a:r>
              <a:rPr lang="ko-KR" altLang="en-US" sz="1200" dirty="0" err="1" smtClean="0"/>
              <a:t>안나뉨</a:t>
            </a:r>
            <a:r>
              <a:rPr lang="en-US" altLang="ko-KR" sz="1200" dirty="0" smtClean="0"/>
              <a:t>.</a:t>
            </a:r>
          </a:p>
        </p:txBody>
      </p:sp>
      <p:sp>
        <p:nvSpPr>
          <p:cNvPr id="52" name="직사각형 51"/>
          <p:cNvSpPr/>
          <p:nvPr/>
        </p:nvSpPr>
        <p:spPr>
          <a:xfrm>
            <a:off x="2538293" y="3868393"/>
            <a:ext cx="150616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 smtClean="0"/>
              <a:t>디스크</a:t>
            </a:r>
            <a:r>
              <a:rPr lang="en-US" altLang="ko-KR" sz="1400" dirty="0"/>
              <a:t>: </a:t>
            </a:r>
            <a:r>
              <a:rPr lang="en-US" altLang="ko-KR" sz="1400" dirty="0" smtClean="0"/>
              <a:t>768 TB</a:t>
            </a:r>
            <a:endParaRPr lang="ko-KR" altLang="en-US" sz="1400" dirty="0"/>
          </a:p>
        </p:txBody>
      </p:sp>
      <p:cxnSp>
        <p:nvCxnSpPr>
          <p:cNvPr id="56" name="직선 화살표 연결선 55"/>
          <p:cNvCxnSpPr/>
          <p:nvPr/>
        </p:nvCxnSpPr>
        <p:spPr>
          <a:xfrm flipV="1">
            <a:off x="6230561" y="3376786"/>
            <a:ext cx="1386341" cy="9305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/>
          <p:cNvCxnSpPr/>
          <p:nvPr/>
        </p:nvCxnSpPr>
        <p:spPr>
          <a:xfrm>
            <a:off x="9420158" y="3364565"/>
            <a:ext cx="1535225" cy="1222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10823855" y="2409254"/>
            <a:ext cx="1368145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지사직원</a:t>
            </a:r>
            <a:endParaRPr lang="en-US" altLang="ko-KR" sz="1200" b="1" dirty="0"/>
          </a:p>
          <a:p>
            <a:endParaRPr lang="en-US" altLang="ko-KR" sz="500" dirty="0" smtClean="0"/>
          </a:p>
          <a:p>
            <a:r>
              <a:rPr lang="ko-KR" altLang="en-US" sz="1200" dirty="0" smtClean="0"/>
              <a:t>민원인 </a:t>
            </a:r>
            <a:r>
              <a:rPr lang="ko-KR" altLang="en-US" sz="1200" dirty="0" err="1" smtClean="0"/>
              <a:t>자격조회</a:t>
            </a:r>
            <a:endParaRPr lang="en-US" altLang="ko-KR" sz="1200" dirty="0" smtClean="0"/>
          </a:p>
        </p:txBody>
      </p:sp>
      <p:sp>
        <p:nvSpPr>
          <p:cNvPr id="19" name="직사각형 18"/>
          <p:cNvSpPr/>
          <p:nvPr/>
        </p:nvSpPr>
        <p:spPr>
          <a:xfrm>
            <a:off x="8571507" y="5900087"/>
            <a:ext cx="1384126" cy="654216"/>
          </a:xfrm>
          <a:prstGeom prst="rect">
            <a:avLst/>
          </a:prstGeom>
          <a:noFill/>
          <a:ln w="762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992293" y="6001029"/>
            <a:ext cx="1191414" cy="48138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자격조회</a:t>
            </a:r>
            <a:endParaRPr lang="ko-KR" altLang="en-US" dirty="0"/>
          </a:p>
        </p:txBody>
      </p:sp>
      <p:sp>
        <p:nvSpPr>
          <p:cNvPr id="63" name="TextBox 62"/>
          <p:cNvSpPr txBox="1"/>
          <p:nvPr/>
        </p:nvSpPr>
        <p:spPr>
          <a:xfrm>
            <a:off x="6923731" y="5683461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MSA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cxnSp>
        <p:nvCxnSpPr>
          <p:cNvPr id="64" name="직선 화살표 연결선 63"/>
          <p:cNvCxnSpPr/>
          <p:nvPr/>
        </p:nvCxnSpPr>
        <p:spPr>
          <a:xfrm flipV="1">
            <a:off x="8183707" y="6235894"/>
            <a:ext cx="695092" cy="465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직사각형 66"/>
          <p:cNvSpPr/>
          <p:nvPr/>
        </p:nvSpPr>
        <p:spPr>
          <a:xfrm>
            <a:off x="10677379" y="3999602"/>
            <a:ext cx="1384126" cy="654216"/>
          </a:xfrm>
          <a:prstGeom prst="rect">
            <a:avLst/>
          </a:prstGeom>
          <a:noFill/>
          <a:ln w="762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/>
          <p:cNvSpPr/>
          <p:nvPr/>
        </p:nvSpPr>
        <p:spPr>
          <a:xfrm>
            <a:off x="10773735" y="4091643"/>
            <a:ext cx="1191414" cy="48138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자격조회</a:t>
            </a:r>
            <a:endParaRPr lang="ko-KR" altLang="en-US" dirty="0"/>
          </a:p>
        </p:txBody>
      </p:sp>
      <p:sp>
        <p:nvSpPr>
          <p:cNvPr id="71" name="TextBox 70"/>
          <p:cNvSpPr txBox="1"/>
          <p:nvPr/>
        </p:nvSpPr>
        <p:spPr>
          <a:xfrm>
            <a:off x="9028741" y="2670864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MSA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73" name="TextBox 72"/>
          <p:cNvSpPr txBox="1"/>
          <p:nvPr/>
        </p:nvSpPr>
        <p:spPr>
          <a:xfrm>
            <a:off x="10472398" y="3691183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22" name="모서리가 둥근 사각형 설명선 21"/>
          <p:cNvSpPr/>
          <p:nvPr/>
        </p:nvSpPr>
        <p:spPr>
          <a:xfrm>
            <a:off x="5418962" y="565545"/>
            <a:ext cx="2078251" cy="1590786"/>
          </a:xfrm>
          <a:prstGeom prst="wedgeRoundRectCallout">
            <a:avLst>
              <a:gd name="adj1" fmla="val -44718"/>
              <a:gd name="adj2" fmla="val 74544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21237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686594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</a:t>
            </a:r>
            <a:endParaRPr lang="en-US" altLang="ko-KR" sz="2300" b="1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401" y="1111205"/>
            <a:ext cx="5914808" cy="537121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453680" y="4991169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53" name="TextBox 52"/>
          <p:cNvSpPr txBox="1"/>
          <p:nvPr/>
        </p:nvSpPr>
        <p:spPr>
          <a:xfrm>
            <a:off x="8758667" y="5234885"/>
            <a:ext cx="11253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MB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8571507" y="5900087"/>
            <a:ext cx="1384126" cy="654216"/>
          </a:xfrm>
          <a:prstGeom prst="rect">
            <a:avLst/>
          </a:prstGeom>
          <a:noFill/>
          <a:ln w="762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/>
          <p:cNvSpPr/>
          <p:nvPr/>
        </p:nvSpPr>
        <p:spPr>
          <a:xfrm>
            <a:off x="6992293" y="6001029"/>
            <a:ext cx="1191414" cy="48138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자격조회</a:t>
            </a:r>
            <a:endParaRPr lang="ko-KR" altLang="en-US" dirty="0"/>
          </a:p>
        </p:txBody>
      </p:sp>
      <p:sp>
        <p:nvSpPr>
          <p:cNvPr id="61" name="TextBox 60"/>
          <p:cNvSpPr txBox="1"/>
          <p:nvPr/>
        </p:nvSpPr>
        <p:spPr>
          <a:xfrm>
            <a:off x="6923731" y="5683461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MSA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cxnSp>
        <p:nvCxnSpPr>
          <p:cNvPr id="62" name="직선 화살표 연결선 61"/>
          <p:cNvCxnSpPr/>
          <p:nvPr/>
        </p:nvCxnSpPr>
        <p:spPr>
          <a:xfrm flipV="1">
            <a:off x="8183707" y="6235894"/>
            <a:ext cx="695092" cy="4653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10677379" y="3999602"/>
            <a:ext cx="1384126" cy="654216"/>
          </a:xfrm>
          <a:prstGeom prst="rect">
            <a:avLst/>
          </a:prstGeom>
          <a:noFill/>
          <a:ln w="762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직사각형 63"/>
          <p:cNvSpPr/>
          <p:nvPr/>
        </p:nvSpPr>
        <p:spPr>
          <a:xfrm>
            <a:off x="10773735" y="4091643"/>
            <a:ext cx="1191414" cy="48138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자격조회</a:t>
            </a:r>
            <a:endParaRPr lang="ko-KR" altLang="en-US" dirty="0"/>
          </a:p>
        </p:txBody>
      </p:sp>
      <p:sp>
        <p:nvSpPr>
          <p:cNvPr id="65" name="TextBox 64"/>
          <p:cNvSpPr txBox="1"/>
          <p:nvPr/>
        </p:nvSpPr>
        <p:spPr>
          <a:xfrm>
            <a:off x="10472398" y="3691183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</p:spTree>
    <p:extLst>
      <p:ext uri="{BB962C8B-B14F-4D97-AF65-F5344CB8AC3E}">
        <p14:creationId xmlns:p14="http://schemas.microsoft.com/office/powerpoint/2010/main" val="28427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차이점</a:t>
            </a:r>
            <a:endParaRPr lang="en-US" altLang="ko-KR" sz="2300" b="1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2700" y="2267772"/>
            <a:ext cx="528092" cy="5363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752963" y="1075331"/>
            <a:ext cx="2913502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800" b="1" dirty="0" smtClean="0"/>
              <a:t>VM </a:t>
            </a:r>
            <a:r>
              <a:rPr lang="ko-KR" altLang="en-US" sz="3800" b="1" dirty="0" smtClean="0"/>
              <a:t>방식</a:t>
            </a:r>
            <a:endParaRPr lang="en-US" altLang="ko-KR" sz="38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4645392" y="1075331"/>
            <a:ext cx="454146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800" b="1" dirty="0" err="1" smtClean="0"/>
              <a:t>클라우드</a:t>
            </a:r>
            <a:r>
              <a:rPr lang="ko-KR" altLang="en-US" sz="3800" b="1" dirty="0" smtClean="0"/>
              <a:t> </a:t>
            </a:r>
            <a:r>
              <a:rPr lang="ko-KR" altLang="en-US" sz="3800" b="1" dirty="0" err="1" smtClean="0"/>
              <a:t>네이티브</a:t>
            </a:r>
            <a:endParaRPr lang="en-US" altLang="ko-KR" sz="3800" b="1" dirty="0"/>
          </a:p>
        </p:txBody>
      </p:sp>
      <p:sp>
        <p:nvSpPr>
          <p:cNvPr id="6" name="TextBox 5"/>
          <p:cNvSpPr txBox="1"/>
          <p:nvPr/>
        </p:nvSpPr>
        <p:spPr>
          <a:xfrm>
            <a:off x="1874951" y="2830153"/>
            <a:ext cx="11316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VM 1</a:t>
            </a:r>
            <a:r>
              <a:rPr lang="ko-KR" altLang="en-US" sz="1200" b="1" dirty="0" smtClean="0"/>
              <a:t>개 할당</a:t>
            </a:r>
            <a:endParaRPr lang="ko-KR" altLang="en-US" sz="12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2890257" y="2835598"/>
            <a:ext cx="10227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4GB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256GB</a:t>
            </a:r>
            <a:endParaRPr lang="ko-KR" altLang="en-US" sz="1000" dirty="0"/>
          </a:p>
        </p:txBody>
      </p:sp>
      <p:sp>
        <p:nvSpPr>
          <p:cNvPr id="8" name="TextBox 7"/>
          <p:cNvSpPr txBox="1"/>
          <p:nvPr/>
        </p:nvSpPr>
        <p:spPr>
          <a:xfrm>
            <a:off x="4469077" y="2830153"/>
            <a:ext cx="16356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 할당</a:t>
            </a:r>
            <a:endParaRPr lang="ko-KR" altLang="en-US" sz="1200" b="1" dirty="0"/>
          </a:p>
        </p:txBody>
      </p:sp>
      <p:sp>
        <p:nvSpPr>
          <p:cNvPr id="9" name="TextBox 8"/>
          <p:cNvSpPr txBox="1"/>
          <p:nvPr/>
        </p:nvSpPr>
        <p:spPr>
          <a:xfrm>
            <a:off x="5866706" y="2806761"/>
            <a:ext cx="108284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0.1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MB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  <a:endParaRPr lang="ko-KR" altLang="en-US" sz="1000" dirty="0"/>
          </a:p>
        </p:txBody>
      </p:sp>
      <p:sp>
        <p:nvSpPr>
          <p:cNvPr id="12" name="직사각형 11"/>
          <p:cNvSpPr/>
          <p:nvPr/>
        </p:nvSpPr>
        <p:spPr>
          <a:xfrm>
            <a:off x="6977254" y="2864942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4817" y="2816969"/>
            <a:ext cx="1712422" cy="6200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smtClean="0">
                <a:solidFill>
                  <a:schemeClr val="tx1"/>
                </a:solidFill>
              </a:rPr>
              <a:t>맨 처음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4817" y="5416835"/>
            <a:ext cx="1712422" cy="6200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자원 더 필요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56371" y="5542175"/>
            <a:ext cx="1467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smtClean="0"/>
              <a:t>이용 불가</a:t>
            </a:r>
            <a:endParaRPr lang="ko-KR" altLang="en-US" b="1" dirty="0"/>
          </a:p>
        </p:txBody>
      </p:sp>
      <p:sp>
        <p:nvSpPr>
          <p:cNvPr id="17" name="TextBox 16"/>
          <p:cNvSpPr txBox="1"/>
          <p:nvPr/>
        </p:nvSpPr>
        <p:spPr>
          <a:xfrm>
            <a:off x="4552999" y="5439342"/>
            <a:ext cx="155171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 추가</a:t>
            </a:r>
            <a:endParaRPr lang="ko-KR" altLang="en-US" sz="1200" b="1" dirty="0"/>
          </a:p>
        </p:txBody>
      </p:sp>
      <p:sp>
        <p:nvSpPr>
          <p:cNvPr id="19" name="직사각형 18"/>
          <p:cNvSpPr/>
          <p:nvPr/>
        </p:nvSpPr>
        <p:spPr>
          <a:xfrm>
            <a:off x="7094966" y="5357709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7094966" y="5750613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cxnSp>
        <p:nvCxnSpPr>
          <p:cNvPr id="22" name="직선 연결선 21"/>
          <p:cNvCxnSpPr/>
          <p:nvPr/>
        </p:nvCxnSpPr>
        <p:spPr>
          <a:xfrm>
            <a:off x="4336869" y="0"/>
            <a:ext cx="33053" cy="6858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그림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66421" y="4684477"/>
            <a:ext cx="493653" cy="50136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111474" y="4935160"/>
            <a:ext cx="203837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CPU, </a:t>
            </a:r>
            <a:r>
              <a:rPr lang="ko-KR" altLang="en-US" sz="1200" dirty="0" smtClean="0"/>
              <a:t>램이 부족하면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8777558" y="5288298"/>
            <a:ext cx="248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컨테이너 자동 추가</a:t>
            </a:r>
            <a:endParaRPr lang="en-US" altLang="ko-KR" dirty="0"/>
          </a:p>
        </p:txBody>
      </p:sp>
      <p:sp>
        <p:nvSpPr>
          <p:cNvPr id="30" name="직사각형 29"/>
          <p:cNvSpPr/>
          <p:nvPr/>
        </p:nvSpPr>
        <p:spPr>
          <a:xfrm>
            <a:off x="8937741" y="5743485"/>
            <a:ext cx="671093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 smtClean="0"/>
              <a:t>HPA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50355" y="5832246"/>
            <a:ext cx="7431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가 요청</a:t>
            </a:r>
            <a:endParaRPr lang="ko-KR" altLang="en-US" sz="1200" dirty="0"/>
          </a:p>
        </p:txBody>
      </p:sp>
      <p:pic>
        <p:nvPicPr>
          <p:cNvPr id="32" name="그림 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151" y="2293810"/>
            <a:ext cx="528092" cy="536343"/>
          </a:xfrm>
          <a:prstGeom prst="rect">
            <a:avLst/>
          </a:prstGeom>
        </p:spPr>
      </p:pic>
      <p:sp>
        <p:nvSpPr>
          <p:cNvPr id="33" name="직사각형 32"/>
          <p:cNvSpPr/>
          <p:nvPr/>
        </p:nvSpPr>
        <p:spPr>
          <a:xfrm>
            <a:off x="1874951" y="3545673"/>
            <a:ext cx="1166063" cy="2670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b="1" smtClean="0"/>
              <a:t>하이퍼바이저</a:t>
            </a:r>
            <a:endParaRPr lang="en-US" altLang="ko-KR" sz="1200" b="1" dirty="0" smtClean="0"/>
          </a:p>
        </p:txBody>
      </p:sp>
      <p:pic>
        <p:nvPicPr>
          <p:cNvPr id="34" name="그림 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1610" y="3401782"/>
            <a:ext cx="1476360" cy="592595"/>
          </a:xfrm>
          <a:prstGeom prst="rect">
            <a:avLst/>
          </a:prstGeom>
        </p:spPr>
      </p:pic>
      <p:pic>
        <p:nvPicPr>
          <p:cNvPr id="26" name="그림 2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2013" y="6131199"/>
            <a:ext cx="652286" cy="5767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570191" y="6383926"/>
            <a:ext cx="14200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가 컨테이너 제공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5475010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429" y="4236108"/>
            <a:ext cx="4076006" cy="2458360"/>
          </a:xfrm>
          <a:prstGeom prst="rect">
            <a:avLst/>
          </a:prstGeom>
        </p:spPr>
      </p:pic>
      <p:sp>
        <p:nvSpPr>
          <p:cNvPr id="42" name="직사각형 41"/>
          <p:cNvSpPr/>
          <p:nvPr/>
        </p:nvSpPr>
        <p:spPr>
          <a:xfrm>
            <a:off x="274319" y="224444"/>
            <a:ext cx="37490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네이티브의</a:t>
            </a:r>
            <a:r>
              <a:rPr lang="ko-KR" altLang="en-US" sz="2300" b="1" dirty="0" smtClean="0"/>
              <a:t> 용도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7460777" y="37984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36081" y="400041"/>
            <a:ext cx="1265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0.1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MB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  <a:endParaRPr lang="ko-KR" altLang="en-US" sz="1000" dirty="0"/>
          </a:p>
        </p:txBody>
      </p:sp>
      <p:sp>
        <p:nvSpPr>
          <p:cNvPr id="6" name="직사각형 5"/>
          <p:cNvSpPr/>
          <p:nvPr/>
        </p:nvSpPr>
        <p:spPr>
          <a:xfrm>
            <a:off x="502429" y="3139401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징수통합시스템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7486704" y="180267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51568" y="1843487"/>
            <a:ext cx="15461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인증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7486704" y="223599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51568" y="2276811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사용자</a:t>
            </a:r>
            <a:r>
              <a:rPr lang="en-US" altLang="ko-KR" sz="1200" dirty="0" smtClean="0"/>
              <a:t>DB</a:t>
            </a:r>
            <a:r>
              <a:rPr lang="ko-KR" altLang="en-US" sz="1200" dirty="0" smtClean="0"/>
              <a:t> 조회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7486704" y="269271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51568" y="2733533"/>
            <a:ext cx="1650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권한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274319" y="1019350"/>
            <a:ext cx="6762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u="sng" dirty="0" smtClean="0"/>
              <a:t>컨테이너</a:t>
            </a:r>
            <a:r>
              <a:rPr lang="ko-KR" altLang="en-US" sz="2100" dirty="0" smtClean="0"/>
              <a:t>를 사람이 아닌 </a:t>
            </a:r>
            <a:r>
              <a:rPr lang="ko-KR" altLang="en-US" sz="2800" b="1" u="sng" dirty="0" smtClean="0"/>
              <a:t>애플리케이션</a:t>
            </a:r>
            <a:r>
              <a:rPr lang="ko-KR" altLang="en-US" sz="2100" dirty="0" smtClean="0"/>
              <a:t>에 할당</a:t>
            </a:r>
            <a:endParaRPr lang="ko-KR" altLang="en-US" sz="2100" dirty="0"/>
          </a:p>
        </p:txBody>
      </p:sp>
      <p:sp>
        <p:nvSpPr>
          <p:cNvPr id="14" name="직사각형 13"/>
          <p:cNvSpPr/>
          <p:nvPr/>
        </p:nvSpPr>
        <p:spPr>
          <a:xfrm>
            <a:off x="517668" y="3714442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통합급여시스템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517668" y="431176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장기요양시스템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17667" y="197278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통합로그인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517667" y="4909096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</a:rPr>
              <a:t>포털시스템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" name="모서리가 둥근 사각형 설명선 1"/>
          <p:cNvSpPr/>
          <p:nvPr/>
        </p:nvSpPr>
        <p:spPr>
          <a:xfrm>
            <a:off x="4484914" y="1802671"/>
            <a:ext cx="2290553" cy="2020390"/>
          </a:xfrm>
          <a:prstGeom prst="wedgeRoundRectCallout">
            <a:avLst>
              <a:gd name="adj1" fmla="val -137603"/>
              <a:gd name="adj2" fmla="val -31223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58887" y="1946010"/>
            <a:ext cx="211658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인증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smtClean="0"/>
              <a:t>사용자 </a:t>
            </a:r>
            <a:r>
              <a:rPr lang="en-US" altLang="ko-KR" sz="1200" b="1" dirty="0" smtClean="0"/>
              <a:t>DB </a:t>
            </a:r>
            <a:r>
              <a:rPr lang="ko-KR" altLang="en-US" sz="1200" b="1" dirty="0" smtClean="0"/>
              <a:t>조회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err="1" smtClean="0"/>
              <a:t>권한부여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000" dirty="0"/>
          </a:p>
          <a:p>
            <a:r>
              <a:rPr lang="ko-KR" altLang="en-US" sz="1200" b="1" dirty="0" smtClean="0"/>
              <a:t>세션 관리 </a:t>
            </a:r>
            <a:r>
              <a:rPr lang="ko-KR" altLang="en-US" sz="1000" dirty="0" smtClean="0"/>
              <a:t>애플리케이션</a:t>
            </a:r>
            <a:endParaRPr lang="en-US" altLang="ko-KR" sz="1000" dirty="0"/>
          </a:p>
          <a:p>
            <a:endParaRPr lang="en-US" altLang="ko-KR" sz="1000" dirty="0"/>
          </a:p>
          <a:p>
            <a:r>
              <a:rPr lang="ko-KR" altLang="en-US" sz="1200" b="1" dirty="0" smtClean="0"/>
              <a:t>로그</a:t>
            </a:r>
            <a:r>
              <a:rPr lang="ko-KR" altLang="en-US" sz="1000" dirty="0" smtClean="0"/>
              <a:t> 애플리케이션</a:t>
            </a:r>
            <a:endParaRPr lang="en-US" altLang="ko-KR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7486704" y="3182059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51568" y="3222875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세션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1" name="직사각형 20"/>
          <p:cNvSpPr/>
          <p:nvPr/>
        </p:nvSpPr>
        <p:spPr>
          <a:xfrm>
            <a:off x="7486704" y="363878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51568" y="3679597"/>
            <a:ext cx="1650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로그 </a:t>
            </a:r>
            <a:r>
              <a:rPr lang="en-US" altLang="ko-KR" sz="1200" dirty="0" smtClean="0"/>
              <a:t>MSA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6712" y="6040466"/>
            <a:ext cx="494033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MSA : Micro Service Architecture</a:t>
            </a:r>
            <a:endParaRPr lang="en-US" altLang="ko-KR" dirty="0" smtClean="0"/>
          </a:p>
          <a:p>
            <a:endParaRPr lang="en-US" altLang="ko-KR" sz="500" dirty="0" smtClean="0"/>
          </a:p>
          <a:p>
            <a:r>
              <a:rPr lang="en-US" altLang="ko-KR" dirty="0" smtClean="0"/>
              <a:t>         1</a:t>
            </a:r>
            <a:r>
              <a:rPr lang="en-US" altLang="ko-KR" dirty="0"/>
              <a:t> </a:t>
            </a:r>
            <a:r>
              <a:rPr lang="ko-KR" altLang="en-US" dirty="0" smtClean="0"/>
              <a:t>프로그램을 작은 서비스들로 나눈 것</a:t>
            </a:r>
            <a:endParaRPr lang="en-US" altLang="ko-KR" dirty="0" smtClean="0"/>
          </a:p>
        </p:txBody>
      </p:sp>
      <p:sp>
        <p:nvSpPr>
          <p:cNvPr id="25" name="직사각형 24"/>
          <p:cNvSpPr/>
          <p:nvPr/>
        </p:nvSpPr>
        <p:spPr>
          <a:xfrm>
            <a:off x="508958" y="2555568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자격부과시스템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63310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429" y="4236108"/>
            <a:ext cx="4076006" cy="2458360"/>
          </a:xfrm>
          <a:prstGeom prst="rect">
            <a:avLst/>
          </a:prstGeom>
        </p:spPr>
      </p:pic>
      <p:sp>
        <p:nvSpPr>
          <p:cNvPr id="42" name="직사각형 41"/>
          <p:cNvSpPr/>
          <p:nvPr/>
        </p:nvSpPr>
        <p:spPr>
          <a:xfrm>
            <a:off x="274319" y="224444"/>
            <a:ext cx="37490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네이티브의</a:t>
            </a:r>
            <a:r>
              <a:rPr lang="ko-KR" altLang="en-US" sz="2300" b="1" dirty="0" smtClean="0"/>
              <a:t> 용도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7460777" y="37984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36081" y="400041"/>
            <a:ext cx="1265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0.1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MB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  <a:endParaRPr lang="ko-KR" altLang="en-US" sz="1000" dirty="0"/>
          </a:p>
        </p:txBody>
      </p:sp>
      <p:sp>
        <p:nvSpPr>
          <p:cNvPr id="7" name="직사각형 6"/>
          <p:cNvSpPr/>
          <p:nvPr/>
        </p:nvSpPr>
        <p:spPr>
          <a:xfrm>
            <a:off x="7486704" y="180267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51568" y="1843487"/>
            <a:ext cx="20425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7486704" y="223599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51568" y="2276811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자격변경</a:t>
            </a:r>
            <a:r>
              <a:rPr lang="ko-KR" altLang="en-US" sz="1200" dirty="0" smtClean="0"/>
              <a:t>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7486704" y="269271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51568" y="2733533"/>
            <a:ext cx="2686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부과내역조회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274319" y="1019350"/>
            <a:ext cx="6762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u="sng" dirty="0" smtClean="0"/>
              <a:t>컨테이너</a:t>
            </a:r>
            <a:r>
              <a:rPr lang="ko-KR" altLang="en-US" sz="2100" dirty="0" smtClean="0"/>
              <a:t>를 사람이 아닌 </a:t>
            </a:r>
            <a:r>
              <a:rPr lang="ko-KR" altLang="en-US" sz="2800" b="1" u="sng" dirty="0" smtClean="0"/>
              <a:t>애플리케이션</a:t>
            </a:r>
            <a:r>
              <a:rPr lang="ko-KR" altLang="en-US" sz="2100" dirty="0" smtClean="0"/>
              <a:t>에 할당</a:t>
            </a:r>
            <a:endParaRPr lang="ko-KR" altLang="en-US" sz="2100" dirty="0"/>
          </a:p>
        </p:txBody>
      </p:sp>
      <p:sp>
        <p:nvSpPr>
          <p:cNvPr id="2" name="모서리가 둥근 사각형 설명선 1"/>
          <p:cNvSpPr/>
          <p:nvPr/>
        </p:nvSpPr>
        <p:spPr>
          <a:xfrm>
            <a:off x="4484914" y="1802671"/>
            <a:ext cx="2290553" cy="2020390"/>
          </a:xfrm>
          <a:prstGeom prst="wedgeRoundRectCallout">
            <a:avLst>
              <a:gd name="adj1" fmla="val -137603"/>
              <a:gd name="adj2" fmla="val 1967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58887" y="1946010"/>
            <a:ext cx="211658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err="1" smtClean="0"/>
              <a:t>자격변경</a:t>
            </a:r>
            <a:r>
              <a:rPr lang="ko-KR" altLang="en-US" sz="1200" b="1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smtClean="0"/>
              <a:t>부과내역조회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000" dirty="0" smtClean="0"/>
          </a:p>
          <a:p>
            <a:r>
              <a:rPr lang="ko-KR" altLang="en-US" sz="1200" b="1" dirty="0" smtClean="0"/>
              <a:t>자격 관리 </a:t>
            </a:r>
            <a:r>
              <a:rPr lang="ko-KR" altLang="en-US" sz="1000" dirty="0" smtClean="0"/>
              <a:t>애플리케이션</a:t>
            </a:r>
            <a:endParaRPr lang="en-US" altLang="ko-KR" sz="1000" dirty="0"/>
          </a:p>
          <a:p>
            <a:endParaRPr lang="en-US" altLang="ko-KR" sz="1000" dirty="0"/>
          </a:p>
          <a:p>
            <a:r>
              <a:rPr lang="ko-KR" altLang="en-US" sz="1200" b="1" dirty="0" smtClean="0"/>
              <a:t>로그</a:t>
            </a:r>
            <a:r>
              <a:rPr lang="ko-KR" altLang="en-US" sz="1000" dirty="0" smtClean="0"/>
              <a:t> 애플리케이션</a:t>
            </a:r>
            <a:endParaRPr lang="en-US" altLang="ko-KR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7486704" y="3182059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51568" y="3222875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자격관리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1" name="직사각형 20"/>
          <p:cNvSpPr/>
          <p:nvPr/>
        </p:nvSpPr>
        <p:spPr>
          <a:xfrm>
            <a:off x="7486704" y="363878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51568" y="3679597"/>
            <a:ext cx="1650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로그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6712" y="6040466"/>
            <a:ext cx="494033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MSA : Micro Service Architecture</a:t>
            </a:r>
            <a:endParaRPr lang="en-US" altLang="ko-KR" dirty="0" smtClean="0"/>
          </a:p>
          <a:p>
            <a:endParaRPr lang="en-US" altLang="ko-KR" sz="500" dirty="0" smtClean="0"/>
          </a:p>
          <a:p>
            <a:r>
              <a:rPr lang="en-US" altLang="ko-KR" dirty="0" smtClean="0"/>
              <a:t>         1</a:t>
            </a:r>
            <a:r>
              <a:rPr lang="en-US" altLang="ko-KR" dirty="0"/>
              <a:t> </a:t>
            </a:r>
            <a:r>
              <a:rPr lang="ko-KR" altLang="en-US" dirty="0" smtClean="0"/>
              <a:t>프로그램을 작은 서비스들로 나눈 것</a:t>
            </a:r>
            <a:endParaRPr lang="en-US" altLang="ko-KR" dirty="0" smtClean="0"/>
          </a:p>
        </p:txBody>
      </p:sp>
      <p:sp>
        <p:nvSpPr>
          <p:cNvPr id="25" name="직사각형 24"/>
          <p:cNvSpPr/>
          <p:nvPr/>
        </p:nvSpPr>
        <p:spPr>
          <a:xfrm>
            <a:off x="502429" y="3139401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징수통합시스템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17668" y="3714442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통합급여시스템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17668" y="431176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장기요양시스템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517667" y="197278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통합로그인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17667" y="4909096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</a:rPr>
              <a:t>포털시스템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508958" y="2555568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자격부과시스템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22921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19" y="224444"/>
            <a:ext cx="37490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데브옵스</a:t>
            </a:r>
            <a:r>
              <a:rPr lang="en-US" altLang="ko-KR" sz="2300" b="1" dirty="0" smtClean="0"/>
              <a:t> (DevOps)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663539" y="345712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개발팀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511139" y="1111976"/>
            <a:ext cx="4278576" cy="42333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>
                <a:solidFill>
                  <a:schemeClr val="tx1"/>
                </a:solidFill>
              </a:rPr>
              <a:t>Development + Operation = DevOps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5443" y="1554747"/>
            <a:ext cx="684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개발</a:t>
            </a:r>
            <a:endParaRPr lang="ko-KR" altLang="en-US" b="1" dirty="0"/>
          </a:p>
        </p:txBody>
      </p:sp>
      <p:sp>
        <p:nvSpPr>
          <p:cNvPr id="13" name="TextBox 12"/>
          <p:cNvSpPr txBox="1"/>
          <p:nvPr/>
        </p:nvSpPr>
        <p:spPr>
          <a:xfrm>
            <a:off x="2650427" y="1554747"/>
            <a:ext cx="6840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운영</a:t>
            </a:r>
            <a:endParaRPr lang="ko-KR" altLang="en-US" b="1" dirty="0"/>
          </a:p>
        </p:txBody>
      </p:sp>
      <p:sp>
        <p:nvSpPr>
          <p:cNvPr id="14" name="TextBox 13"/>
          <p:cNvSpPr txBox="1"/>
          <p:nvPr/>
        </p:nvSpPr>
        <p:spPr>
          <a:xfrm>
            <a:off x="3725306" y="1554747"/>
            <a:ext cx="11402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smtClean="0"/>
              <a:t>데브옵스</a:t>
            </a:r>
            <a:endParaRPr lang="ko-KR" altLang="en-US" b="1" dirty="0"/>
          </a:p>
        </p:txBody>
      </p:sp>
      <p:sp>
        <p:nvSpPr>
          <p:cNvPr id="15" name="TextBox 14"/>
          <p:cNvSpPr txBox="1"/>
          <p:nvPr/>
        </p:nvSpPr>
        <p:spPr>
          <a:xfrm>
            <a:off x="1772288" y="3497943"/>
            <a:ext cx="21726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개발서버에서 프로그램 개발</a:t>
            </a:r>
            <a:endParaRPr lang="ko-KR" altLang="en-US" sz="1200" dirty="0"/>
          </a:p>
        </p:txBody>
      </p:sp>
      <p:sp>
        <p:nvSpPr>
          <p:cNvPr id="16" name="직사각형 15"/>
          <p:cNvSpPr/>
          <p:nvPr/>
        </p:nvSpPr>
        <p:spPr>
          <a:xfrm>
            <a:off x="663539" y="4071082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err="1" smtClean="0">
                <a:solidFill>
                  <a:schemeClr val="tx1"/>
                </a:solidFill>
              </a:rPr>
              <a:t>운영팀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772288" y="4111898"/>
            <a:ext cx="21726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운영서버에서 프로그램 운영</a:t>
            </a:r>
            <a:endParaRPr lang="ko-KR" altLang="en-US" sz="1200" dirty="0"/>
          </a:p>
        </p:txBody>
      </p:sp>
      <p:sp>
        <p:nvSpPr>
          <p:cNvPr id="18" name="TextBox 17"/>
          <p:cNvSpPr txBox="1"/>
          <p:nvPr/>
        </p:nvSpPr>
        <p:spPr>
          <a:xfrm>
            <a:off x="1634684" y="2532206"/>
            <a:ext cx="1223951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100" b="1" dirty="0" smtClean="0"/>
              <a:t>기존</a:t>
            </a:r>
            <a:endParaRPr lang="en-US" altLang="ko-KR" sz="3100" b="1" dirty="0"/>
          </a:p>
        </p:txBody>
      </p:sp>
      <p:sp>
        <p:nvSpPr>
          <p:cNvPr id="24" name="직사각형 23"/>
          <p:cNvSpPr/>
          <p:nvPr/>
        </p:nvSpPr>
        <p:spPr>
          <a:xfrm>
            <a:off x="5974080" y="3461476"/>
            <a:ext cx="1297693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개발</a:t>
            </a:r>
            <a:r>
              <a:rPr lang="en-US" altLang="ko-KR" sz="1500" dirty="0" smtClean="0">
                <a:solidFill>
                  <a:schemeClr val="tx1"/>
                </a:solidFill>
              </a:rPr>
              <a:t>+</a:t>
            </a:r>
            <a:r>
              <a:rPr lang="ko-KR" altLang="en-US" sz="1500" dirty="0" err="1" smtClean="0">
                <a:solidFill>
                  <a:schemeClr val="tx1"/>
                </a:solidFill>
              </a:rPr>
              <a:t>운영팀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271774" y="3502292"/>
            <a:ext cx="21073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다같이 협업해서 개발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운영</a:t>
            </a:r>
            <a:endParaRPr lang="ko-KR" altLang="en-US" sz="1200" dirty="0"/>
          </a:p>
        </p:txBody>
      </p:sp>
      <p:sp>
        <p:nvSpPr>
          <p:cNvPr id="28" name="TextBox 27"/>
          <p:cNvSpPr txBox="1"/>
          <p:nvPr/>
        </p:nvSpPr>
        <p:spPr>
          <a:xfrm>
            <a:off x="7134169" y="2536555"/>
            <a:ext cx="1983705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100" b="1" smtClean="0"/>
              <a:t>데브옵스</a:t>
            </a:r>
            <a:endParaRPr lang="en-US" altLang="ko-KR" sz="3100" b="1" dirty="0"/>
          </a:p>
        </p:txBody>
      </p:sp>
      <p:sp>
        <p:nvSpPr>
          <p:cNvPr id="29" name="TextBox 28"/>
          <p:cNvSpPr txBox="1"/>
          <p:nvPr/>
        </p:nvSpPr>
        <p:spPr>
          <a:xfrm>
            <a:off x="5651862" y="5649870"/>
            <a:ext cx="6252754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100" b="1" dirty="0" err="1" smtClean="0"/>
              <a:t>건보</a:t>
            </a:r>
            <a:r>
              <a:rPr lang="ko-KR" altLang="en-US" sz="3100" b="1" dirty="0" smtClean="0"/>
              <a:t> 정보운영실은 이미 </a:t>
            </a:r>
            <a:r>
              <a:rPr lang="ko-KR" altLang="en-US" sz="3100" b="1" dirty="0" err="1" smtClean="0"/>
              <a:t>데브옵스</a:t>
            </a:r>
            <a:endParaRPr lang="en-US" altLang="ko-KR" sz="3100" b="1" dirty="0"/>
          </a:p>
        </p:txBody>
      </p:sp>
      <p:sp>
        <p:nvSpPr>
          <p:cNvPr id="30" name="TextBox 29"/>
          <p:cNvSpPr txBox="1"/>
          <p:nvPr/>
        </p:nvSpPr>
        <p:spPr>
          <a:xfrm>
            <a:off x="8560526" y="6219257"/>
            <a:ext cx="334409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smtClean="0"/>
              <a:t>(1</a:t>
            </a:r>
            <a:r>
              <a:rPr lang="ko-KR" altLang="en-US" sz="2300" dirty="0" smtClean="0"/>
              <a:t>명이 개발</a:t>
            </a:r>
            <a:r>
              <a:rPr lang="en-US" altLang="ko-KR" sz="2300" dirty="0" smtClean="0"/>
              <a:t>, </a:t>
            </a:r>
            <a:r>
              <a:rPr lang="ko-KR" altLang="en-US" sz="2300" dirty="0" smtClean="0"/>
              <a:t>운영 다 함</a:t>
            </a:r>
            <a:r>
              <a:rPr lang="en-US" altLang="ko-KR" sz="2300" dirty="0" smtClean="0"/>
              <a:t>)</a:t>
            </a:r>
            <a:endParaRPr lang="ko-KR" altLang="en-US" sz="2300" dirty="0"/>
          </a:p>
        </p:txBody>
      </p:sp>
      <p:cxnSp>
        <p:nvCxnSpPr>
          <p:cNvPr id="31" name="직선 연결선 30"/>
          <p:cNvCxnSpPr/>
          <p:nvPr/>
        </p:nvCxnSpPr>
        <p:spPr>
          <a:xfrm>
            <a:off x="4612078" y="2133600"/>
            <a:ext cx="50471" cy="47244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7708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19" y="224444"/>
            <a:ext cx="19867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300" b="1" dirty="0" smtClean="0"/>
              <a:t>CI / CD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37710" y="144117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개발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19" name="오른쪽 화살표 18"/>
          <p:cNvSpPr/>
          <p:nvPr/>
        </p:nvSpPr>
        <p:spPr>
          <a:xfrm>
            <a:off x="2036618" y="1524896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20" name="직사각형 19"/>
          <p:cNvSpPr/>
          <p:nvPr/>
        </p:nvSpPr>
        <p:spPr>
          <a:xfrm>
            <a:off x="2418316" y="144117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형상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1" name="오른쪽 화살표 20"/>
          <p:cNvSpPr/>
          <p:nvPr/>
        </p:nvSpPr>
        <p:spPr>
          <a:xfrm>
            <a:off x="3634641" y="1520538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22" name="직사각형 21"/>
          <p:cNvSpPr/>
          <p:nvPr/>
        </p:nvSpPr>
        <p:spPr>
          <a:xfrm>
            <a:off x="8771230" y="1436818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운영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16032" y="1840625"/>
            <a:ext cx="1282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프로그램 개발</a:t>
            </a:r>
            <a:endParaRPr lang="ko-KR" altLang="en-US" sz="1200" dirty="0"/>
          </a:p>
        </p:txBody>
      </p:sp>
      <p:sp>
        <p:nvSpPr>
          <p:cNvPr id="26" name="TextBox 25"/>
          <p:cNvSpPr txBox="1"/>
          <p:nvPr/>
        </p:nvSpPr>
        <p:spPr>
          <a:xfrm>
            <a:off x="9067325" y="1840624"/>
            <a:ext cx="616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반영</a:t>
            </a:r>
            <a:endParaRPr lang="ko-KR" altLang="en-US" sz="1200" dirty="0"/>
          </a:p>
        </p:txBody>
      </p:sp>
      <p:sp>
        <p:nvSpPr>
          <p:cNvPr id="27" name="오른쪽 화살표 26"/>
          <p:cNvSpPr/>
          <p:nvPr/>
        </p:nvSpPr>
        <p:spPr>
          <a:xfrm>
            <a:off x="8373888" y="1516179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1" name="직사각형 30"/>
          <p:cNvSpPr/>
          <p:nvPr/>
        </p:nvSpPr>
        <p:spPr>
          <a:xfrm>
            <a:off x="5544694" y="1432460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테스트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32" name="오른쪽 화살표 31"/>
          <p:cNvSpPr/>
          <p:nvPr/>
        </p:nvSpPr>
        <p:spPr>
          <a:xfrm>
            <a:off x="6769726" y="1503115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33" name="직사각형 32"/>
          <p:cNvSpPr/>
          <p:nvPr/>
        </p:nvSpPr>
        <p:spPr>
          <a:xfrm>
            <a:off x="7125300" y="1432460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분배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22508" y="779506"/>
            <a:ext cx="1223951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100" b="1" dirty="0" smtClean="0"/>
              <a:t>기존</a:t>
            </a:r>
            <a:endParaRPr lang="en-US" altLang="ko-KR" sz="3100" b="1" dirty="0"/>
          </a:p>
        </p:txBody>
      </p:sp>
      <p:sp>
        <p:nvSpPr>
          <p:cNvPr id="47" name="TextBox 46"/>
          <p:cNvSpPr txBox="1"/>
          <p:nvPr/>
        </p:nvSpPr>
        <p:spPr>
          <a:xfrm>
            <a:off x="3747450" y="4121603"/>
            <a:ext cx="1695808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100" b="1" dirty="0" smtClean="0"/>
              <a:t>CI / CD</a:t>
            </a:r>
            <a:endParaRPr lang="en-US" altLang="ko-KR" sz="3100" b="1" dirty="0"/>
          </a:p>
        </p:txBody>
      </p:sp>
      <p:sp>
        <p:nvSpPr>
          <p:cNvPr id="49" name="직사각형 48"/>
          <p:cNvSpPr/>
          <p:nvPr/>
        </p:nvSpPr>
        <p:spPr>
          <a:xfrm>
            <a:off x="3975366" y="1441176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빌드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50" name="오른쪽 화살표 49"/>
          <p:cNvSpPr/>
          <p:nvPr/>
        </p:nvSpPr>
        <p:spPr>
          <a:xfrm>
            <a:off x="5188923" y="1524896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1" name="TextBox 50"/>
          <p:cNvSpPr txBox="1"/>
          <p:nvPr/>
        </p:nvSpPr>
        <p:spPr>
          <a:xfrm>
            <a:off x="2509852" y="1847397"/>
            <a:ext cx="9213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버전 관리</a:t>
            </a:r>
            <a:endParaRPr lang="ko-KR" altLang="en-US" sz="1200" dirty="0"/>
          </a:p>
        </p:txBody>
      </p:sp>
      <p:sp>
        <p:nvSpPr>
          <p:cNvPr id="52" name="직사각형 51"/>
          <p:cNvSpPr/>
          <p:nvPr/>
        </p:nvSpPr>
        <p:spPr>
          <a:xfrm>
            <a:off x="842061" y="482446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개발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53" name="오른쪽 화살표 52"/>
          <p:cNvSpPr/>
          <p:nvPr/>
        </p:nvSpPr>
        <p:spPr>
          <a:xfrm>
            <a:off x="2040969" y="4908186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4" name="직사각형 53"/>
          <p:cNvSpPr/>
          <p:nvPr/>
        </p:nvSpPr>
        <p:spPr>
          <a:xfrm>
            <a:off x="2422667" y="482446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형상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55" name="오른쪽 화살표 54"/>
          <p:cNvSpPr/>
          <p:nvPr/>
        </p:nvSpPr>
        <p:spPr>
          <a:xfrm>
            <a:off x="3638992" y="4903828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56" name="직사각형 55"/>
          <p:cNvSpPr/>
          <p:nvPr/>
        </p:nvSpPr>
        <p:spPr>
          <a:xfrm>
            <a:off x="8775581" y="4820108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운영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820383" y="5223915"/>
            <a:ext cx="1282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프로그램 개발</a:t>
            </a:r>
            <a:endParaRPr lang="ko-KR" altLang="en-US" sz="1200" dirty="0"/>
          </a:p>
        </p:txBody>
      </p:sp>
      <p:sp>
        <p:nvSpPr>
          <p:cNvPr id="58" name="TextBox 57"/>
          <p:cNvSpPr txBox="1"/>
          <p:nvPr/>
        </p:nvSpPr>
        <p:spPr>
          <a:xfrm>
            <a:off x="9071676" y="5223914"/>
            <a:ext cx="616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반영</a:t>
            </a:r>
            <a:endParaRPr lang="ko-KR" altLang="en-US" sz="1200" dirty="0"/>
          </a:p>
        </p:txBody>
      </p:sp>
      <p:sp>
        <p:nvSpPr>
          <p:cNvPr id="59" name="오른쪽 화살표 58"/>
          <p:cNvSpPr/>
          <p:nvPr/>
        </p:nvSpPr>
        <p:spPr>
          <a:xfrm>
            <a:off x="8378239" y="4899469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5522918" y="4815750"/>
            <a:ext cx="1220681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테스트</a:t>
            </a:r>
            <a:r>
              <a:rPr lang="ko-KR" altLang="en-US" sz="1200" b="1" dirty="0" smtClean="0">
                <a:solidFill>
                  <a:schemeClr val="bg1"/>
                </a:solidFill>
              </a:rPr>
              <a:t> </a:t>
            </a:r>
            <a:r>
              <a:rPr lang="en-US" altLang="ko-KR" sz="12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2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200" b="1" dirty="0" smtClean="0">
                <a:solidFill>
                  <a:schemeClr val="bg1"/>
                </a:solidFill>
              </a:rPr>
              <a:t>)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61" name="오른쪽 화살표 60"/>
          <p:cNvSpPr/>
          <p:nvPr/>
        </p:nvSpPr>
        <p:spPr>
          <a:xfrm>
            <a:off x="6817622" y="4886405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62" name="직사각형 61"/>
          <p:cNvSpPr/>
          <p:nvPr/>
        </p:nvSpPr>
        <p:spPr>
          <a:xfrm>
            <a:off x="7129651" y="4815750"/>
            <a:ext cx="1108749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분배 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5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)</a:t>
            </a:r>
            <a:endParaRPr lang="ko-KR" altLang="en-US" sz="1500" b="1" dirty="0">
              <a:solidFill>
                <a:schemeClr val="bg1"/>
              </a:solidFill>
            </a:endParaRPr>
          </a:p>
        </p:txBody>
      </p:sp>
      <p:sp>
        <p:nvSpPr>
          <p:cNvPr id="63" name="직사각형 62"/>
          <p:cNvSpPr/>
          <p:nvPr/>
        </p:nvSpPr>
        <p:spPr>
          <a:xfrm>
            <a:off x="3979717" y="4824466"/>
            <a:ext cx="1108749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빌드 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5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)</a:t>
            </a:r>
            <a:endParaRPr lang="ko-KR" altLang="en-US" sz="1500" b="1" dirty="0">
              <a:solidFill>
                <a:schemeClr val="bg1"/>
              </a:solidFill>
            </a:endParaRPr>
          </a:p>
        </p:txBody>
      </p:sp>
      <p:sp>
        <p:nvSpPr>
          <p:cNvPr id="64" name="오른쪽 화살표 63"/>
          <p:cNvSpPr/>
          <p:nvPr/>
        </p:nvSpPr>
        <p:spPr>
          <a:xfrm>
            <a:off x="5193274" y="4908186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514203" y="5230687"/>
            <a:ext cx="9213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버전 관리</a:t>
            </a:r>
            <a:endParaRPr lang="ko-KR" altLang="en-US" sz="1200" dirty="0"/>
          </a:p>
        </p:txBody>
      </p:sp>
      <p:sp>
        <p:nvSpPr>
          <p:cNvPr id="66" name="TextBox 65"/>
          <p:cNvSpPr txBox="1"/>
          <p:nvPr/>
        </p:nvSpPr>
        <p:spPr>
          <a:xfrm>
            <a:off x="4355613" y="5230687"/>
            <a:ext cx="348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CI</a:t>
            </a:r>
            <a:endParaRPr lang="ko-KR" altLang="en-US" sz="1200" b="1" dirty="0"/>
          </a:p>
        </p:txBody>
      </p:sp>
      <p:sp>
        <p:nvSpPr>
          <p:cNvPr id="67" name="TextBox 66"/>
          <p:cNvSpPr txBox="1"/>
          <p:nvPr/>
        </p:nvSpPr>
        <p:spPr>
          <a:xfrm>
            <a:off x="6045880" y="5230687"/>
            <a:ext cx="348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CI</a:t>
            </a:r>
            <a:endParaRPr lang="ko-KR" altLang="en-US" sz="1200" b="1" dirty="0"/>
          </a:p>
        </p:txBody>
      </p:sp>
      <p:sp>
        <p:nvSpPr>
          <p:cNvPr id="68" name="TextBox 67"/>
          <p:cNvSpPr txBox="1"/>
          <p:nvPr/>
        </p:nvSpPr>
        <p:spPr>
          <a:xfrm>
            <a:off x="7489442" y="5223913"/>
            <a:ext cx="4934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CD</a:t>
            </a:r>
            <a:endParaRPr lang="ko-KR" altLang="en-US" sz="1200" b="1" dirty="0"/>
          </a:p>
        </p:txBody>
      </p:sp>
      <p:sp>
        <p:nvSpPr>
          <p:cNvPr id="69" name="직사각형 68"/>
          <p:cNvSpPr/>
          <p:nvPr/>
        </p:nvSpPr>
        <p:spPr>
          <a:xfrm>
            <a:off x="3917468" y="4676505"/>
            <a:ext cx="4782395" cy="824407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/>
          <p:cNvSpPr txBox="1"/>
          <p:nvPr/>
        </p:nvSpPr>
        <p:spPr>
          <a:xfrm>
            <a:off x="3917467" y="5641162"/>
            <a:ext cx="8143904" cy="1031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700" b="1" dirty="0" smtClean="0"/>
              <a:t>CI : Continous Integration    </a:t>
            </a:r>
            <a:r>
              <a:rPr lang="en-US" altLang="ko-KR" sz="2700" dirty="0" smtClean="0"/>
              <a:t>(</a:t>
            </a:r>
            <a:r>
              <a:rPr lang="ko-KR" altLang="en-US" sz="2700" dirty="0" smtClean="0"/>
              <a:t>빌드</a:t>
            </a:r>
            <a:r>
              <a:rPr lang="en-US" altLang="ko-KR" sz="2700" dirty="0" smtClean="0"/>
              <a:t>, </a:t>
            </a:r>
            <a:r>
              <a:rPr lang="ko-KR" altLang="en-US" sz="2700" dirty="0" smtClean="0"/>
              <a:t>테스트 자동화</a:t>
            </a:r>
            <a:r>
              <a:rPr lang="en-US" altLang="ko-KR" sz="2700" dirty="0" smtClean="0"/>
              <a:t>)</a:t>
            </a:r>
          </a:p>
          <a:p>
            <a:endParaRPr lang="en-US" altLang="ko-KR" sz="700" dirty="0"/>
          </a:p>
          <a:p>
            <a:r>
              <a:rPr lang="en-US" altLang="ko-KR" sz="2700" b="1" dirty="0" smtClean="0"/>
              <a:t>CD: Continuous Deployment </a:t>
            </a:r>
            <a:r>
              <a:rPr lang="en-US" altLang="ko-KR" sz="2700" dirty="0" smtClean="0"/>
              <a:t>(</a:t>
            </a:r>
            <a:r>
              <a:rPr lang="ko-KR" altLang="en-US" sz="2700" dirty="0" smtClean="0"/>
              <a:t>분배 자동화</a:t>
            </a:r>
            <a:r>
              <a:rPr lang="en-US" altLang="ko-KR" sz="2700" dirty="0" smtClean="0"/>
              <a:t>)</a:t>
            </a:r>
            <a:endParaRPr lang="en-US" altLang="ko-KR" sz="2700" dirty="0"/>
          </a:p>
        </p:txBody>
      </p:sp>
      <p:sp>
        <p:nvSpPr>
          <p:cNvPr id="71" name="TextBox 70"/>
          <p:cNvSpPr txBox="1"/>
          <p:nvPr/>
        </p:nvSpPr>
        <p:spPr>
          <a:xfrm>
            <a:off x="1119441" y="2291541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.pc</a:t>
            </a:r>
            <a:endParaRPr lang="ko-KR" altLang="en-US" sz="1200" dirty="0"/>
          </a:p>
        </p:txBody>
      </p:sp>
      <p:sp>
        <p:nvSpPr>
          <p:cNvPr id="72" name="TextBox 71"/>
          <p:cNvSpPr txBox="1"/>
          <p:nvPr/>
        </p:nvSpPr>
        <p:spPr>
          <a:xfrm>
            <a:off x="2751555" y="2290804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.pc</a:t>
            </a:r>
            <a:endParaRPr lang="ko-KR" altLang="en-US" sz="1200" dirty="0"/>
          </a:p>
        </p:txBody>
      </p:sp>
      <p:sp>
        <p:nvSpPr>
          <p:cNvPr id="73" name="TextBox 72"/>
          <p:cNvSpPr txBox="1"/>
          <p:nvPr/>
        </p:nvSpPr>
        <p:spPr>
          <a:xfrm>
            <a:off x="5761360" y="2315313"/>
            <a:ext cx="11684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실행</a:t>
            </a:r>
            <a:r>
              <a:rPr lang="en-US" altLang="ko-KR" sz="1200" dirty="0" smtClean="0"/>
              <a:t> </a:t>
            </a:r>
            <a:r>
              <a:rPr lang="ko-KR" altLang="en-US" sz="1200" dirty="0" smtClean="0"/>
              <a:t>바이너리</a:t>
            </a:r>
            <a:endParaRPr lang="ko-KR" altLang="en-US" sz="1200" dirty="0"/>
          </a:p>
        </p:txBody>
      </p:sp>
      <p:sp>
        <p:nvSpPr>
          <p:cNvPr id="74" name="TextBox 73"/>
          <p:cNvSpPr txBox="1"/>
          <p:nvPr/>
        </p:nvSpPr>
        <p:spPr>
          <a:xfrm>
            <a:off x="3881598" y="2315313"/>
            <a:ext cx="16890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.c =&gt; </a:t>
            </a:r>
            <a:r>
              <a:rPr lang="ko-KR" altLang="en-US" sz="1200" dirty="0" smtClean="0"/>
              <a:t>실행 바이너리</a:t>
            </a:r>
            <a:endParaRPr lang="ko-KR" altLang="en-US" sz="1200" dirty="0"/>
          </a:p>
        </p:txBody>
      </p:sp>
      <p:sp>
        <p:nvSpPr>
          <p:cNvPr id="75" name="TextBox 74"/>
          <p:cNvSpPr txBox="1"/>
          <p:nvPr/>
        </p:nvSpPr>
        <p:spPr>
          <a:xfrm>
            <a:off x="7359134" y="2307197"/>
            <a:ext cx="12605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실행 바이너리</a:t>
            </a:r>
            <a:endParaRPr lang="ko-KR" altLang="en-US" sz="1200" dirty="0"/>
          </a:p>
        </p:txBody>
      </p:sp>
      <p:sp>
        <p:nvSpPr>
          <p:cNvPr id="76" name="TextBox 75"/>
          <p:cNvSpPr txBox="1"/>
          <p:nvPr/>
        </p:nvSpPr>
        <p:spPr>
          <a:xfrm>
            <a:off x="1119441" y="2668655"/>
            <a:ext cx="63969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.java</a:t>
            </a:r>
            <a:endParaRPr lang="ko-KR" altLang="en-US" sz="1200" dirty="0"/>
          </a:p>
        </p:txBody>
      </p:sp>
      <p:sp>
        <p:nvSpPr>
          <p:cNvPr id="77" name="TextBox 76"/>
          <p:cNvSpPr txBox="1"/>
          <p:nvPr/>
        </p:nvSpPr>
        <p:spPr>
          <a:xfrm>
            <a:off x="2751554" y="2667918"/>
            <a:ext cx="5395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.java</a:t>
            </a:r>
            <a:endParaRPr lang="ko-KR" altLang="en-US" sz="1200" dirty="0"/>
          </a:p>
        </p:txBody>
      </p:sp>
      <p:sp>
        <p:nvSpPr>
          <p:cNvPr id="78" name="TextBox 77"/>
          <p:cNvSpPr txBox="1"/>
          <p:nvPr/>
        </p:nvSpPr>
        <p:spPr>
          <a:xfrm>
            <a:off x="5873582" y="2674851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.jar</a:t>
            </a:r>
            <a:endParaRPr lang="ko-KR" altLang="en-US" sz="1200" dirty="0"/>
          </a:p>
        </p:txBody>
      </p:sp>
      <p:sp>
        <p:nvSpPr>
          <p:cNvPr id="79" name="TextBox 78"/>
          <p:cNvSpPr txBox="1"/>
          <p:nvPr/>
        </p:nvSpPr>
        <p:spPr>
          <a:xfrm>
            <a:off x="4356849" y="2667917"/>
            <a:ext cx="8320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.class</a:t>
            </a:r>
            <a:endParaRPr lang="ko-KR" altLang="en-US" sz="1200" dirty="0"/>
          </a:p>
        </p:txBody>
      </p:sp>
      <p:sp>
        <p:nvSpPr>
          <p:cNvPr id="80" name="TextBox 79"/>
          <p:cNvSpPr txBox="1"/>
          <p:nvPr/>
        </p:nvSpPr>
        <p:spPr>
          <a:xfrm>
            <a:off x="7510660" y="2667916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.jar</a:t>
            </a:r>
            <a:endParaRPr lang="ko-KR" altLang="en-US" sz="1200" dirty="0"/>
          </a:p>
        </p:txBody>
      </p:sp>
      <p:sp>
        <p:nvSpPr>
          <p:cNvPr id="81" name="TextBox 80"/>
          <p:cNvSpPr txBox="1"/>
          <p:nvPr/>
        </p:nvSpPr>
        <p:spPr>
          <a:xfrm>
            <a:off x="8817822" y="2311552"/>
            <a:ext cx="126057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실행 바이너리</a:t>
            </a:r>
            <a:endParaRPr lang="ko-KR" altLang="en-US" sz="1200" dirty="0"/>
          </a:p>
        </p:txBody>
      </p:sp>
      <p:sp>
        <p:nvSpPr>
          <p:cNvPr id="82" name="TextBox 81"/>
          <p:cNvSpPr txBox="1"/>
          <p:nvPr/>
        </p:nvSpPr>
        <p:spPr>
          <a:xfrm>
            <a:off x="8969348" y="2672271"/>
            <a:ext cx="4509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.jar</a:t>
            </a:r>
            <a:endParaRPr lang="ko-KR" altLang="en-US" sz="1200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5601" y="3577314"/>
            <a:ext cx="501292" cy="443279"/>
          </a:xfrm>
          <a:prstGeom prst="rect">
            <a:avLst/>
          </a:prstGeom>
        </p:spPr>
      </p:pic>
      <p:sp>
        <p:nvSpPr>
          <p:cNvPr id="83" name="모서리가 둥근 사각형 설명선 82"/>
          <p:cNvSpPr/>
          <p:nvPr/>
        </p:nvSpPr>
        <p:spPr>
          <a:xfrm>
            <a:off x="5318131" y="3541860"/>
            <a:ext cx="1611712" cy="850576"/>
          </a:xfrm>
          <a:prstGeom prst="wedgeRoundRectCallout">
            <a:avLst>
              <a:gd name="adj1" fmla="val 14797"/>
              <a:gd name="adj2" fmla="val 9773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5394758" y="3697428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pic>
        <p:nvPicPr>
          <p:cNvPr id="85" name="그림 8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5977" y="3577314"/>
            <a:ext cx="501292" cy="443279"/>
          </a:xfrm>
          <a:prstGeom prst="rect">
            <a:avLst/>
          </a:prstGeom>
        </p:spPr>
      </p:pic>
      <p:sp>
        <p:nvSpPr>
          <p:cNvPr id="86" name="모서리가 둥근 사각형 설명선 85"/>
          <p:cNvSpPr/>
          <p:nvPr/>
        </p:nvSpPr>
        <p:spPr>
          <a:xfrm>
            <a:off x="7068507" y="3541860"/>
            <a:ext cx="1611712" cy="850576"/>
          </a:xfrm>
          <a:prstGeom prst="wedgeRoundRectCallout">
            <a:avLst>
              <a:gd name="adj1" fmla="val 14797"/>
              <a:gd name="adj2" fmla="val 9773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7" name="TextBox 86"/>
          <p:cNvSpPr txBox="1"/>
          <p:nvPr/>
        </p:nvSpPr>
        <p:spPr>
          <a:xfrm>
            <a:off x="7145134" y="3697428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pic>
        <p:nvPicPr>
          <p:cNvPr id="88" name="그림 8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52219" y="3581945"/>
            <a:ext cx="501292" cy="443279"/>
          </a:xfrm>
          <a:prstGeom prst="rect">
            <a:avLst/>
          </a:prstGeom>
        </p:spPr>
      </p:pic>
      <p:sp>
        <p:nvSpPr>
          <p:cNvPr id="89" name="모서리가 둥근 사각형 설명선 88"/>
          <p:cNvSpPr/>
          <p:nvPr/>
        </p:nvSpPr>
        <p:spPr>
          <a:xfrm>
            <a:off x="8824749" y="3546491"/>
            <a:ext cx="1611712" cy="850576"/>
          </a:xfrm>
          <a:prstGeom prst="wedgeRoundRectCallout">
            <a:avLst>
              <a:gd name="adj1" fmla="val 748"/>
              <a:gd name="adj2" fmla="val 94659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8901376" y="3702059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sp>
        <p:nvSpPr>
          <p:cNvPr id="92" name="직사각형 91"/>
          <p:cNvSpPr/>
          <p:nvPr/>
        </p:nvSpPr>
        <p:spPr>
          <a:xfrm>
            <a:off x="10706397" y="2490650"/>
            <a:ext cx="1354974" cy="69167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/>
              <a:t>컨테이너에</a:t>
            </a:r>
            <a:endParaRPr lang="en-US" altLang="ko-KR" sz="1500" b="1" dirty="0"/>
          </a:p>
          <a:p>
            <a:pPr algn="ctr"/>
            <a:endParaRPr lang="en-US" altLang="ko-KR" sz="500" b="1" dirty="0"/>
          </a:p>
          <a:p>
            <a:pPr algn="ctr"/>
            <a:r>
              <a:rPr lang="ko-KR" altLang="en-US" sz="1500" b="1" dirty="0" smtClean="0"/>
              <a:t>할당 가능</a:t>
            </a:r>
            <a:endParaRPr lang="en-US" altLang="ko-KR" sz="1500" b="1" dirty="0" smtClean="0"/>
          </a:p>
        </p:txBody>
      </p:sp>
      <p:cxnSp>
        <p:nvCxnSpPr>
          <p:cNvPr id="93" name="직선 화살표 연결선 92"/>
          <p:cNvCxnSpPr>
            <a:endCxn id="92" idx="1"/>
          </p:cNvCxnSpPr>
          <p:nvPr/>
        </p:nvCxnSpPr>
        <p:spPr>
          <a:xfrm flipV="1">
            <a:off x="9553303" y="2836486"/>
            <a:ext cx="1153094" cy="860944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4154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쿠버네티스</a:t>
            </a:r>
            <a:endParaRPr lang="en-US" altLang="ko-KR" sz="2300" b="1" dirty="0" smtClean="0"/>
          </a:p>
        </p:txBody>
      </p:sp>
      <p:sp>
        <p:nvSpPr>
          <p:cNvPr id="3" name="모서리가 둥근 직사각형 2"/>
          <p:cNvSpPr/>
          <p:nvPr/>
        </p:nvSpPr>
        <p:spPr>
          <a:xfrm>
            <a:off x="274320" y="1482971"/>
            <a:ext cx="2718262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274319" y="1153997"/>
            <a:ext cx="150460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dirty="0" smtClean="0"/>
              <a:t>컴퓨팅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5" name="직사각형 4"/>
          <p:cNvSpPr/>
          <p:nvPr/>
        </p:nvSpPr>
        <p:spPr>
          <a:xfrm>
            <a:off x="437133" y="161186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6" name="직사각형 5"/>
          <p:cNvSpPr/>
          <p:nvPr/>
        </p:nvSpPr>
        <p:spPr>
          <a:xfrm>
            <a:off x="835723" y="161186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7" name="직사각형 6"/>
          <p:cNvSpPr/>
          <p:nvPr/>
        </p:nvSpPr>
        <p:spPr>
          <a:xfrm>
            <a:off x="1234313" y="161186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8" name="직사각형 7"/>
          <p:cNvSpPr/>
          <p:nvPr/>
        </p:nvSpPr>
        <p:spPr>
          <a:xfrm>
            <a:off x="1661213" y="161186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9" name="직사각형 8"/>
          <p:cNvSpPr/>
          <p:nvPr/>
        </p:nvSpPr>
        <p:spPr>
          <a:xfrm>
            <a:off x="2059803" y="16118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10" name="직사각형 9"/>
          <p:cNvSpPr/>
          <p:nvPr/>
        </p:nvSpPr>
        <p:spPr>
          <a:xfrm>
            <a:off x="2470648" y="1611863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11" name="TextBox 10"/>
          <p:cNvSpPr txBox="1"/>
          <p:nvPr/>
        </p:nvSpPr>
        <p:spPr>
          <a:xfrm>
            <a:off x="445389" y="2741246"/>
            <a:ext cx="161441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스토리지 </a:t>
            </a:r>
            <a:r>
              <a:rPr lang="ko-KR" altLang="en-US" sz="1500" dirty="0" err="1" smtClean="0"/>
              <a:t>서버군</a:t>
            </a:r>
            <a:endParaRPr lang="ko-KR" altLang="en-US" sz="1500" dirty="0"/>
          </a:p>
        </p:txBody>
      </p:sp>
      <p:sp>
        <p:nvSpPr>
          <p:cNvPr id="12" name="모서리가 둥근 직사각형 11"/>
          <p:cNvSpPr/>
          <p:nvPr/>
        </p:nvSpPr>
        <p:spPr>
          <a:xfrm>
            <a:off x="572357" y="3064411"/>
            <a:ext cx="994703" cy="1026279"/>
          </a:xfrm>
          <a:prstGeom prst="roundRect">
            <a:avLst>
              <a:gd name="adj" fmla="val 4038"/>
            </a:avLst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735170" y="319330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sp>
        <p:nvSpPr>
          <p:cNvPr id="14" name="직사각형 13"/>
          <p:cNvSpPr/>
          <p:nvPr/>
        </p:nvSpPr>
        <p:spPr>
          <a:xfrm>
            <a:off x="1133760" y="3193304"/>
            <a:ext cx="319325" cy="811923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b="1" dirty="0" smtClean="0"/>
              <a:t>서버</a:t>
            </a:r>
            <a:endParaRPr lang="en-US" altLang="ko-KR" sz="1100" b="1" dirty="0" smtClean="0"/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233" y="2054733"/>
            <a:ext cx="706522" cy="10341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248926" y="1777734"/>
            <a:ext cx="19420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컨테이너</a:t>
            </a:r>
            <a:r>
              <a:rPr lang="en-US" altLang="ko-KR" sz="1200" dirty="0" smtClean="0"/>
              <a:t> 3,000</a:t>
            </a:r>
            <a:r>
              <a:rPr lang="ko-KR" altLang="en-US" sz="1200" dirty="0" smtClean="0"/>
              <a:t>개로 분해</a:t>
            </a:r>
            <a:endParaRPr lang="ko-KR" altLang="en-US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535226" y="3155670"/>
            <a:ext cx="1191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</a:t>
            </a:r>
            <a:endParaRPr lang="ko-KR" altLang="en-US" sz="1200" b="1" dirty="0"/>
          </a:p>
        </p:txBody>
      </p:sp>
      <p:sp>
        <p:nvSpPr>
          <p:cNvPr id="18" name="TextBox 17"/>
          <p:cNvSpPr txBox="1"/>
          <p:nvPr/>
        </p:nvSpPr>
        <p:spPr>
          <a:xfrm>
            <a:off x="5840213" y="3399386"/>
            <a:ext cx="11650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0.1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</a:t>
            </a:r>
            <a:r>
              <a:rPr lang="en-US" altLang="ko-KR" sz="1000" dirty="0"/>
              <a:t>M</a:t>
            </a:r>
            <a:r>
              <a:rPr lang="en-US" altLang="ko-KR" sz="1000" dirty="0" smtClean="0"/>
              <a:t>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</a:p>
        </p:txBody>
      </p:sp>
      <p:cxnSp>
        <p:nvCxnSpPr>
          <p:cNvPr id="19" name="직선 화살표 연결선 18"/>
          <p:cNvCxnSpPr/>
          <p:nvPr/>
        </p:nvCxnSpPr>
        <p:spPr>
          <a:xfrm>
            <a:off x="1580183" y="1375949"/>
            <a:ext cx="2419595" cy="1169401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/>
          <p:cNvCxnSpPr/>
          <p:nvPr/>
        </p:nvCxnSpPr>
        <p:spPr>
          <a:xfrm flipV="1">
            <a:off x="1944992" y="2616273"/>
            <a:ext cx="2054786" cy="286556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4039136" y="2017824"/>
            <a:ext cx="883198" cy="1381562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/>
              <a:t>초대형</a:t>
            </a:r>
            <a:endParaRPr lang="en-US" altLang="ko-KR" sz="1500" b="1" dirty="0" smtClean="0"/>
          </a:p>
          <a:p>
            <a:pPr algn="ctr"/>
            <a:endParaRPr lang="en-US" altLang="ko-KR" sz="500" b="1" dirty="0"/>
          </a:p>
          <a:p>
            <a:pPr algn="ctr"/>
            <a:r>
              <a:rPr lang="ko-KR" altLang="en-US" sz="1500" b="1" dirty="0" smtClean="0"/>
              <a:t>서버</a:t>
            </a:r>
            <a:endParaRPr lang="en-US" altLang="ko-KR" sz="1500" b="1" dirty="0" smtClean="0"/>
          </a:p>
          <a:p>
            <a:pPr algn="ctr"/>
            <a:endParaRPr lang="en-US" altLang="ko-KR" sz="500" b="1" dirty="0"/>
          </a:p>
          <a:p>
            <a:pPr algn="ctr"/>
            <a:r>
              <a:rPr lang="en-US" altLang="ko-KR" sz="1500" b="1" dirty="0" smtClean="0"/>
              <a:t>(</a:t>
            </a:r>
            <a:r>
              <a:rPr lang="ko-KR" altLang="en-US" sz="1500" b="1" dirty="0" smtClean="0"/>
              <a:t>가상</a:t>
            </a:r>
            <a:r>
              <a:rPr lang="en-US" altLang="ko-KR" sz="1500" b="1" dirty="0" smtClean="0"/>
              <a:t>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2267" y="1939317"/>
            <a:ext cx="784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CPU, </a:t>
            </a:r>
            <a:r>
              <a:rPr lang="ko-KR" altLang="en-US" sz="1200" dirty="0" smtClean="0"/>
              <a:t>램</a:t>
            </a:r>
            <a:endParaRPr lang="ko-KR" altLang="en-US" sz="1200" dirty="0"/>
          </a:p>
        </p:txBody>
      </p:sp>
      <p:sp>
        <p:nvSpPr>
          <p:cNvPr id="34" name="TextBox 33"/>
          <p:cNvSpPr txBox="1"/>
          <p:nvPr/>
        </p:nvSpPr>
        <p:spPr>
          <a:xfrm>
            <a:off x="3148748" y="2811918"/>
            <a:ext cx="7846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디스크</a:t>
            </a:r>
            <a:endParaRPr lang="ko-KR" altLang="en-US" sz="1200" dirty="0"/>
          </a:p>
        </p:txBody>
      </p:sp>
      <p:cxnSp>
        <p:nvCxnSpPr>
          <p:cNvPr id="35" name="직선 화살표 연결선 34"/>
          <p:cNvCxnSpPr>
            <a:endCxn id="15" idx="1"/>
          </p:cNvCxnSpPr>
          <p:nvPr/>
        </p:nvCxnSpPr>
        <p:spPr>
          <a:xfrm>
            <a:off x="4922334" y="2571825"/>
            <a:ext cx="793899" cy="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/>
          <p:cNvCxnSpPr/>
          <p:nvPr/>
        </p:nvCxnSpPr>
        <p:spPr>
          <a:xfrm>
            <a:off x="6422755" y="2571825"/>
            <a:ext cx="793899" cy="0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246402" y="2435664"/>
            <a:ext cx="23504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컨테이너</a:t>
            </a:r>
            <a:r>
              <a:rPr lang="en-US" altLang="ko-KR" sz="1200" b="1" dirty="0" smtClean="0"/>
              <a:t> 1</a:t>
            </a:r>
            <a:r>
              <a:rPr lang="ko-KR" altLang="en-US" sz="1200" b="1" dirty="0" smtClean="0"/>
              <a:t>개에 </a:t>
            </a:r>
            <a:r>
              <a:rPr lang="en-US" altLang="ko-KR" sz="1200" b="1" dirty="0" smtClean="0"/>
              <a:t>MSA 1</a:t>
            </a:r>
            <a:r>
              <a:rPr lang="ko-KR" altLang="en-US" sz="1200" b="1" dirty="0" smtClean="0"/>
              <a:t>개 할당</a:t>
            </a:r>
            <a:endParaRPr lang="ko-KR" altLang="en-US" sz="1200" b="1" dirty="0"/>
          </a:p>
        </p:txBody>
      </p:sp>
      <p:pic>
        <p:nvPicPr>
          <p:cNvPr id="40" name="그림 3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3578" y="2818894"/>
            <a:ext cx="1496090" cy="600514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402090" y="5500643"/>
            <a:ext cx="1695808" cy="5693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100" b="1" dirty="0" smtClean="0"/>
              <a:t>CI / CD</a:t>
            </a:r>
            <a:endParaRPr lang="en-US" altLang="ko-KR" sz="3100" b="1" dirty="0"/>
          </a:p>
        </p:txBody>
      </p:sp>
      <p:sp>
        <p:nvSpPr>
          <p:cNvPr id="43" name="직사각형 42"/>
          <p:cNvSpPr/>
          <p:nvPr/>
        </p:nvSpPr>
        <p:spPr>
          <a:xfrm>
            <a:off x="521642" y="6111883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개발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44" name="오른쪽 화살표 43"/>
          <p:cNvSpPr/>
          <p:nvPr/>
        </p:nvSpPr>
        <p:spPr>
          <a:xfrm>
            <a:off x="1720550" y="6195602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5" name="직사각형 44"/>
          <p:cNvSpPr/>
          <p:nvPr/>
        </p:nvSpPr>
        <p:spPr>
          <a:xfrm>
            <a:off x="2102248" y="6111883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형상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46" name="오른쪽 화살표 45"/>
          <p:cNvSpPr/>
          <p:nvPr/>
        </p:nvSpPr>
        <p:spPr>
          <a:xfrm>
            <a:off x="3318573" y="6191244"/>
            <a:ext cx="224442" cy="1911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/>
          </a:p>
        </p:txBody>
      </p:sp>
      <p:sp>
        <p:nvSpPr>
          <p:cNvPr id="47" name="직사각형 46"/>
          <p:cNvSpPr/>
          <p:nvPr/>
        </p:nvSpPr>
        <p:spPr>
          <a:xfrm>
            <a:off x="8455162" y="6107524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dirty="0" smtClean="0">
                <a:solidFill>
                  <a:schemeClr val="tx1"/>
                </a:solidFill>
              </a:rPr>
              <a:t>운영 서버</a:t>
            </a:r>
            <a:endParaRPr lang="ko-KR" altLang="en-US" sz="1500" dirty="0">
              <a:solidFill>
                <a:schemeClr val="tx1"/>
              </a:solidFill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499964" y="6511331"/>
            <a:ext cx="12829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프로그램 개발</a:t>
            </a:r>
            <a:endParaRPr lang="ko-KR" altLang="en-US" sz="1200" dirty="0"/>
          </a:p>
        </p:txBody>
      </p:sp>
      <p:sp>
        <p:nvSpPr>
          <p:cNvPr id="49" name="TextBox 48"/>
          <p:cNvSpPr txBox="1"/>
          <p:nvPr/>
        </p:nvSpPr>
        <p:spPr>
          <a:xfrm>
            <a:off x="8751257" y="6511330"/>
            <a:ext cx="6166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반영</a:t>
            </a:r>
            <a:endParaRPr lang="ko-KR" altLang="en-US" sz="1200" dirty="0"/>
          </a:p>
        </p:txBody>
      </p:sp>
      <p:sp>
        <p:nvSpPr>
          <p:cNvPr id="50" name="오른쪽 화살표 49"/>
          <p:cNvSpPr/>
          <p:nvPr/>
        </p:nvSpPr>
        <p:spPr>
          <a:xfrm>
            <a:off x="8057820" y="6186885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5202499" y="6103166"/>
            <a:ext cx="1220681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테스트</a:t>
            </a:r>
            <a:r>
              <a:rPr lang="ko-KR" altLang="en-US" sz="1200" b="1" dirty="0" smtClean="0">
                <a:solidFill>
                  <a:schemeClr val="bg1"/>
                </a:solidFill>
              </a:rPr>
              <a:t> </a:t>
            </a:r>
            <a:r>
              <a:rPr lang="en-US" altLang="ko-KR" sz="12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2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200" b="1" dirty="0" smtClean="0">
                <a:solidFill>
                  <a:schemeClr val="bg1"/>
                </a:solidFill>
              </a:rPr>
              <a:t>)</a:t>
            </a:r>
            <a:endParaRPr lang="ko-KR" altLang="en-US" sz="1200" b="1" dirty="0">
              <a:solidFill>
                <a:schemeClr val="bg1"/>
              </a:solidFill>
            </a:endParaRPr>
          </a:p>
        </p:txBody>
      </p:sp>
      <p:sp>
        <p:nvSpPr>
          <p:cNvPr id="52" name="오른쪽 화살표 51"/>
          <p:cNvSpPr/>
          <p:nvPr/>
        </p:nvSpPr>
        <p:spPr>
          <a:xfrm>
            <a:off x="6497203" y="6173821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53" name="직사각형 52"/>
          <p:cNvSpPr/>
          <p:nvPr/>
        </p:nvSpPr>
        <p:spPr>
          <a:xfrm>
            <a:off x="6809232" y="6103166"/>
            <a:ext cx="1108749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분배 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5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)</a:t>
            </a:r>
            <a:endParaRPr lang="ko-KR" altLang="en-US" sz="1500" b="1" dirty="0">
              <a:solidFill>
                <a:schemeClr val="bg1"/>
              </a:solidFill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3659298" y="6111882"/>
            <a:ext cx="1108749" cy="358632"/>
          </a:xfrm>
          <a:prstGeom prst="rect">
            <a:avLst/>
          </a:prstGeom>
          <a:solidFill>
            <a:srgbClr val="FF6600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dirty="0" smtClean="0">
                <a:solidFill>
                  <a:schemeClr val="bg1"/>
                </a:solidFill>
              </a:rPr>
              <a:t>빌드 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(</a:t>
            </a:r>
            <a:r>
              <a:rPr lang="ko-KR" altLang="en-US" sz="1500" b="1" dirty="0" smtClean="0">
                <a:solidFill>
                  <a:schemeClr val="bg1"/>
                </a:solidFill>
              </a:rPr>
              <a:t>자동</a:t>
            </a:r>
            <a:r>
              <a:rPr lang="en-US" altLang="ko-KR" sz="1500" b="1" dirty="0" smtClean="0">
                <a:solidFill>
                  <a:schemeClr val="bg1"/>
                </a:solidFill>
              </a:rPr>
              <a:t>)</a:t>
            </a:r>
            <a:endParaRPr lang="ko-KR" altLang="en-US" sz="1500" b="1" dirty="0">
              <a:solidFill>
                <a:schemeClr val="bg1"/>
              </a:solidFill>
            </a:endParaRPr>
          </a:p>
        </p:txBody>
      </p:sp>
      <p:sp>
        <p:nvSpPr>
          <p:cNvPr id="55" name="오른쪽 화살표 54"/>
          <p:cNvSpPr/>
          <p:nvPr/>
        </p:nvSpPr>
        <p:spPr>
          <a:xfrm>
            <a:off x="4872855" y="6195602"/>
            <a:ext cx="224442" cy="191193"/>
          </a:xfrm>
          <a:prstGeom prst="rightArrow">
            <a:avLst/>
          </a:prstGeom>
          <a:solidFill>
            <a:srgbClr val="FF66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500" b="1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193784" y="6518103"/>
            <a:ext cx="92132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mtClean="0"/>
              <a:t>버전 관리</a:t>
            </a:r>
            <a:endParaRPr lang="ko-KR" altLang="en-US" sz="1200" dirty="0"/>
          </a:p>
        </p:txBody>
      </p:sp>
      <p:sp>
        <p:nvSpPr>
          <p:cNvPr id="57" name="TextBox 56"/>
          <p:cNvSpPr txBox="1"/>
          <p:nvPr/>
        </p:nvSpPr>
        <p:spPr>
          <a:xfrm>
            <a:off x="4035194" y="6518103"/>
            <a:ext cx="348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CI</a:t>
            </a:r>
            <a:endParaRPr lang="ko-KR" altLang="en-US" sz="1200" b="1" dirty="0"/>
          </a:p>
        </p:txBody>
      </p:sp>
      <p:sp>
        <p:nvSpPr>
          <p:cNvPr id="58" name="TextBox 57"/>
          <p:cNvSpPr txBox="1"/>
          <p:nvPr/>
        </p:nvSpPr>
        <p:spPr>
          <a:xfrm>
            <a:off x="5725461" y="6518103"/>
            <a:ext cx="34825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CI</a:t>
            </a:r>
            <a:endParaRPr lang="ko-KR" altLang="en-US" sz="1200" b="1" dirty="0"/>
          </a:p>
        </p:txBody>
      </p:sp>
      <p:sp>
        <p:nvSpPr>
          <p:cNvPr id="59" name="TextBox 58"/>
          <p:cNvSpPr txBox="1"/>
          <p:nvPr/>
        </p:nvSpPr>
        <p:spPr>
          <a:xfrm>
            <a:off x="7169023" y="6511329"/>
            <a:ext cx="4934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b="1" dirty="0" smtClean="0"/>
              <a:t>CD</a:t>
            </a:r>
            <a:endParaRPr lang="ko-KR" altLang="en-US" sz="1200" b="1" dirty="0"/>
          </a:p>
        </p:txBody>
      </p:sp>
      <p:sp>
        <p:nvSpPr>
          <p:cNvPr id="60" name="직사각형 59"/>
          <p:cNvSpPr/>
          <p:nvPr/>
        </p:nvSpPr>
        <p:spPr>
          <a:xfrm>
            <a:off x="3597049" y="5963921"/>
            <a:ext cx="4782395" cy="824407"/>
          </a:xfrm>
          <a:prstGeom prst="rect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1" name="그림 6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5182" y="4864730"/>
            <a:ext cx="501292" cy="443279"/>
          </a:xfrm>
          <a:prstGeom prst="rect">
            <a:avLst/>
          </a:prstGeom>
        </p:spPr>
      </p:pic>
      <p:sp>
        <p:nvSpPr>
          <p:cNvPr id="62" name="모서리가 둥근 사각형 설명선 61"/>
          <p:cNvSpPr/>
          <p:nvPr/>
        </p:nvSpPr>
        <p:spPr>
          <a:xfrm>
            <a:off x="4997712" y="4829276"/>
            <a:ext cx="1611712" cy="850576"/>
          </a:xfrm>
          <a:prstGeom prst="wedgeRoundRectCallout">
            <a:avLst>
              <a:gd name="adj1" fmla="val 14797"/>
              <a:gd name="adj2" fmla="val 9773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5074339" y="4984844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pic>
        <p:nvPicPr>
          <p:cNvPr id="64" name="그림 6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5558" y="4864730"/>
            <a:ext cx="501292" cy="443279"/>
          </a:xfrm>
          <a:prstGeom prst="rect">
            <a:avLst/>
          </a:prstGeom>
        </p:spPr>
      </p:pic>
      <p:sp>
        <p:nvSpPr>
          <p:cNvPr id="65" name="모서리가 둥근 사각형 설명선 64"/>
          <p:cNvSpPr/>
          <p:nvPr/>
        </p:nvSpPr>
        <p:spPr>
          <a:xfrm>
            <a:off x="6748088" y="4829276"/>
            <a:ext cx="1611712" cy="850576"/>
          </a:xfrm>
          <a:prstGeom prst="wedgeRoundRectCallout">
            <a:avLst>
              <a:gd name="adj1" fmla="val 14797"/>
              <a:gd name="adj2" fmla="val 97730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6824715" y="4984844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pic>
        <p:nvPicPr>
          <p:cNvPr id="67" name="그림 6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0106" y="4864730"/>
            <a:ext cx="468518" cy="443279"/>
          </a:xfrm>
          <a:prstGeom prst="rect">
            <a:avLst/>
          </a:prstGeom>
        </p:spPr>
      </p:pic>
      <p:sp>
        <p:nvSpPr>
          <p:cNvPr id="68" name="모서리가 둥근 사각형 설명선 67"/>
          <p:cNvSpPr/>
          <p:nvPr/>
        </p:nvSpPr>
        <p:spPr>
          <a:xfrm>
            <a:off x="8504330" y="4833907"/>
            <a:ext cx="1611712" cy="850576"/>
          </a:xfrm>
          <a:prstGeom prst="wedgeRoundRectCallout">
            <a:avLst>
              <a:gd name="adj1" fmla="val 748"/>
              <a:gd name="adj2" fmla="val 94659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580957" y="4989475"/>
            <a:ext cx="15350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도커</a:t>
            </a:r>
            <a:r>
              <a:rPr lang="ko-KR" altLang="en-US" sz="1200" b="1" dirty="0" smtClean="0"/>
              <a:t> 이미지</a:t>
            </a:r>
            <a:endParaRPr lang="en-US" altLang="ko-KR" sz="1200" b="1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(</a:t>
            </a:r>
            <a:r>
              <a:rPr lang="ko-KR" altLang="en-US" sz="1200" dirty="0" smtClean="0"/>
              <a:t>실행 바이너리</a:t>
            </a:r>
            <a:r>
              <a:rPr lang="en-US" altLang="ko-KR" sz="1200" dirty="0" smtClean="0"/>
              <a:t>, jar)</a:t>
            </a:r>
            <a:endParaRPr lang="ko-KR" altLang="en-US" sz="1200" dirty="0"/>
          </a:p>
        </p:txBody>
      </p:sp>
      <p:cxnSp>
        <p:nvCxnSpPr>
          <p:cNvPr id="70" name="직선 연결선 69"/>
          <p:cNvCxnSpPr/>
          <p:nvPr/>
        </p:nvCxnSpPr>
        <p:spPr>
          <a:xfrm flipH="1">
            <a:off x="0" y="4319930"/>
            <a:ext cx="12192000" cy="38127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5" name="그림 7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1527" y="1785436"/>
            <a:ext cx="461379" cy="501366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10514243" y="2286802"/>
            <a:ext cx="932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mtClean="0"/>
              <a:t>지사직원</a:t>
            </a:r>
            <a:endParaRPr lang="ko-KR" altLang="en-US" sz="1200" b="1" dirty="0"/>
          </a:p>
        </p:txBody>
      </p:sp>
      <p:sp>
        <p:nvSpPr>
          <p:cNvPr id="77" name="TextBox 76"/>
          <p:cNvSpPr txBox="1"/>
          <p:nvPr/>
        </p:nvSpPr>
        <p:spPr>
          <a:xfrm>
            <a:off x="10514244" y="2574141"/>
            <a:ext cx="14381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smtClean="0"/>
              <a:t>민원인 자격 조회</a:t>
            </a:r>
            <a:endParaRPr lang="ko-KR" altLang="en-US" sz="1200" b="1" dirty="0"/>
          </a:p>
        </p:txBody>
      </p:sp>
      <p:sp>
        <p:nvSpPr>
          <p:cNvPr id="78" name="TextBox 77"/>
          <p:cNvSpPr txBox="1"/>
          <p:nvPr/>
        </p:nvSpPr>
        <p:spPr>
          <a:xfrm>
            <a:off x="10539960" y="2839626"/>
            <a:ext cx="1591077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1MSA(</a:t>
            </a:r>
            <a:r>
              <a:rPr lang="ko-KR" altLang="en-US" sz="1200" dirty="0" smtClean="0"/>
              <a:t>자격</a:t>
            </a:r>
            <a:r>
              <a:rPr lang="en-US" altLang="ko-KR" sz="1200" dirty="0" smtClean="0"/>
              <a:t>)</a:t>
            </a:r>
            <a:r>
              <a:rPr lang="ko-KR" altLang="en-US" sz="1200" dirty="0" smtClean="0"/>
              <a:t>이</a:t>
            </a:r>
            <a:endParaRPr lang="en-US" altLang="ko-KR" sz="1200" dirty="0" smtClean="0"/>
          </a:p>
          <a:p>
            <a:endParaRPr lang="en-US" altLang="ko-KR" sz="500" dirty="0" smtClean="0"/>
          </a:p>
          <a:p>
            <a:r>
              <a:rPr lang="en-US" altLang="ko-KR" sz="1200" dirty="0" smtClean="0"/>
              <a:t>1</a:t>
            </a:r>
            <a:r>
              <a:rPr lang="ko-KR" altLang="en-US" sz="1200" dirty="0" smtClean="0"/>
              <a:t>컨테이너에 실려서</a:t>
            </a:r>
            <a:endParaRPr lang="en-US" altLang="ko-KR" sz="1200" dirty="0" smtClean="0"/>
          </a:p>
          <a:p>
            <a:endParaRPr lang="en-US" altLang="ko-KR" sz="500" dirty="0"/>
          </a:p>
          <a:p>
            <a:r>
              <a:rPr lang="ko-KR" altLang="en-US" sz="1200" dirty="0" smtClean="0"/>
              <a:t>화면에 출력</a:t>
            </a:r>
            <a:endParaRPr lang="ko-KR" altLang="en-US" sz="1200" dirty="0"/>
          </a:p>
        </p:txBody>
      </p:sp>
      <p:sp>
        <p:nvSpPr>
          <p:cNvPr id="79" name="TextBox 78"/>
          <p:cNvSpPr txBox="1"/>
          <p:nvPr/>
        </p:nvSpPr>
        <p:spPr>
          <a:xfrm>
            <a:off x="2508235" y="340385"/>
            <a:ext cx="31000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전체 지휘 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오케스트레이션</a:t>
            </a:r>
            <a:r>
              <a:rPr lang="en-US" altLang="ko-KR" b="1" dirty="0" smtClean="0"/>
              <a:t>)</a:t>
            </a:r>
            <a:endParaRPr lang="ko-KR" altLang="en-US" b="1" dirty="0"/>
          </a:p>
        </p:txBody>
      </p:sp>
      <p:cxnSp>
        <p:nvCxnSpPr>
          <p:cNvPr id="80" name="직선 화살표 연결선 79"/>
          <p:cNvCxnSpPr/>
          <p:nvPr/>
        </p:nvCxnSpPr>
        <p:spPr>
          <a:xfrm flipH="1" flipV="1">
            <a:off x="1832771" y="3027802"/>
            <a:ext cx="6968935" cy="2024209"/>
          </a:xfrm>
          <a:prstGeom prst="straightConnector1">
            <a:avLst/>
          </a:prstGeom>
          <a:ln w="28575"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5" name="그림 8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21623" y="43581"/>
            <a:ext cx="3685557" cy="722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784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3487784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기존 </a:t>
            </a:r>
            <a:r>
              <a:rPr lang="ko-KR" altLang="en-US" sz="2300" b="1" dirty="0" err="1" smtClean="0"/>
              <a:t>클라우드와</a:t>
            </a:r>
            <a:r>
              <a:rPr lang="ko-KR" altLang="en-US" sz="2300" b="1" dirty="0" smtClean="0"/>
              <a:t> 차이점</a:t>
            </a:r>
            <a:endParaRPr lang="en-US" altLang="ko-KR" sz="2300" b="1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410178" y="1221588"/>
            <a:ext cx="4457913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smtClean="0"/>
              <a:t>VM 3,000 </a:t>
            </a:r>
            <a:r>
              <a:rPr lang="ko-KR" altLang="en-US" sz="2300" dirty="0" smtClean="0"/>
              <a:t>개가 </a:t>
            </a:r>
            <a:r>
              <a:rPr lang="en-US" altLang="ko-KR" sz="2300" dirty="0" smtClean="0"/>
              <a:t>OS 3,000</a:t>
            </a:r>
            <a:r>
              <a:rPr lang="ko-KR" altLang="en-US" sz="2300" dirty="0" smtClean="0"/>
              <a:t>개</a:t>
            </a:r>
            <a:r>
              <a:rPr lang="en-US" altLang="ko-KR" sz="2300" dirty="0" smtClean="0"/>
              <a:t> </a:t>
            </a:r>
            <a:r>
              <a:rPr lang="ko-KR" altLang="en-US" sz="2300" dirty="0" smtClean="0"/>
              <a:t>실행</a:t>
            </a:r>
            <a:endParaRPr lang="ko-KR" altLang="en-US" sz="2300" dirty="0"/>
          </a:p>
        </p:txBody>
      </p:sp>
      <p:sp>
        <p:nvSpPr>
          <p:cNvPr id="10" name="TextBox 9"/>
          <p:cNvSpPr txBox="1"/>
          <p:nvPr/>
        </p:nvSpPr>
        <p:spPr>
          <a:xfrm>
            <a:off x="2101130" y="1725051"/>
            <a:ext cx="2766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(</a:t>
            </a:r>
            <a:r>
              <a:rPr lang="ko-KR" altLang="en-US" dirty="0" smtClean="0"/>
              <a:t>심각한 램</a:t>
            </a:r>
            <a:r>
              <a:rPr lang="en-US" altLang="ko-KR" dirty="0" smtClean="0"/>
              <a:t>, </a:t>
            </a:r>
            <a:r>
              <a:rPr lang="ko-KR" altLang="en-US" dirty="0" smtClean="0"/>
              <a:t>디스크 낭비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726761" y="1219988"/>
            <a:ext cx="548117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컨테이너</a:t>
            </a:r>
            <a:r>
              <a:rPr lang="en-US" altLang="ko-KR" sz="2300" dirty="0" smtClean="0"/>
              <a:t> 3,000 </a:t>
            </a:r>
            <a:r>
              <a:rPr lang="ko-KR" altLang="en-US" sz="2300" dirty="0" smtClean="0"/>
              <a:t>개가 </a:t>
            </a:r>
            <a:r>
              <a:rPr lang="en-US" altLang="ko-KR" sz="2300" dirty="0" smtClean="0"/>
              <a:t>OS </a:t>
            </a:r>
            <a:r>
              <a:rPr lang="ko-KR" altLang="en-US" sz="2300" dirty="0" err="1" smtClean="0"/>
              <a:t>미실행</a:t>
            </a:r>
            <a:endParaRPr lang="ko-KR" altLang="en-US" sz="2300" dirty="0"/>
          </a:p>
        </p:txBody>
      </p:sp>
      <p:sp>
        <p:nvSpPr>
          <p:cNvPr id="12" name="TextBox 11"/>
          <p:cNvSpPr txBox="1"/>
          <p:nvPr/>
        </p:nvSpPr>
        <p:spPr>
          <a:xfrm>
            <a:off x="7123612" y="1725051"/>
            <a:ext cx="29609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(</a:t>
            </a:r>
            <a:r>
              <a:rPr lang="ko-KR" altLang="en-US" dirty="0" smtClean="0"/>
              <a:t>램</a:t>
            </a:r>
            <a:r>
              <a:rPr lang="en-US" altLang="ko-KR" dirty="0" smtClean="0"/>
              <a:t>, </a:t>
            </a:r>
            <a:r>
              <a:rPr lang="ko-KR" altLang="en-US" dirty="0" smtClean="0"/>
              <a:t>디스크 낭비 없음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13" name="직사각형 12"/>
          <p:cNvSpPr/>
          <p:nvPr/>
        </p:nvSpPr>
        <p:spPr>
          <a:xfrm>
            <a:off x="772112" y="2649823"/>
            <a:ext cx="1712422" cy="6200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자원 더 필요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7375" y="2710531"/>
            <a:ext cx="1467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smtClean="0"/>
              <a:t>이용 불가</a:t>
            </a:r>
            <a:endParaRPr lang="ko-KR" altLang="en-US" b="1" dirty="0"/>
          </a:p>
        </p:txBody>
      </p:sp>
      <p:sp>
        <p:nvSpPr>
          <p:cNvPr id="19" name="TextBox 18"/>
          <p:cNvSpPr txBox="1"/>
          <p:nvPr/>
        </p:nvSpPr>
        <p:spPr>
          <a:xfrm>
            <a:off x="7612537" y="2569564"/>
            <a:ext cx="17665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CPU, </a:t>
            </a:r>
            <a:r>
              <a:rPr lang="ko-KR" altLang="en-US" sz="1200" dirty="0" smtClean="0"/>
              <a:t>램이 부족하면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sp>
        <p:nvSpPr>
          <p:cNvPr id="20" name="TextBox 19"/>
          <p:cNvSpPr txBox="1"/>
          <p:nvPr/>
        </p:nvSpPr>
        <p:spPr>
          <a:xfrm>
            <a:off x="7612537" y="2853764"/>
            <a:ext cx="24855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컨테이너 자동 추가</a:t>
            </a:r>
            <a:endParaRPr lang="en-US" altLang="ko-KR" dirty="0"/>
          </a:p>
        </p:txBody>
      </p:sp>
      <p:sp>
        <p:nvSpPr>
          <p:cNvPr id="21" name="직사각형 20"/>
          <p:cNvSpPr/>
          <p:nvPr/>
        </p:nvSpPr>
        <p:spPr>
          <a:xfrm>
            <a:off x="7806289" y="3215838"/>
            <a:ext cx="671093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 smtClean="0"/>
              <a:t>HPA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8903" y="3304599"/>
            <a:ext cx="20146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Horizontal Pod Autoscaler</a:t>
            </a:r>
            <a:endParaRPr lang="ko-KR" altLang="en-US" sz="1200" dirty="0"/>
          </a:p>
        </p:txBody>
      </p:sp>
      <p:sp>
        <p:nvSpPr>
          <p:cNvPr id="23" name="직사각형 22"/>
          <p:cNvSpPr/>
          <p:nvPr/>
        </p:nvSpPr>
        <p:spPr>
          <a:xfrm>
            <a:off x="5823252" y="2684586"/>
            <a:ext cx="1712422" cy="62001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자원 더 필요</a:t>
            </a:r>
            <a:r>
              <a:rPr lang="en-US" altLang="ko-KR" b="1" dirty="0" smtClean="0">
                <a:solidFill>
                  <a:schemeClr val="tx1"/>
                </a:solidFill>
              </a:rPr>
              <a:t>?</a:t>
            </a:r>
          </a:p>
        </p:txBody>
      </p:sp>
      <p:sp>
        <p:nvSpPr>
          <p:cNvPr id="24" name="직사각형 23"/>
          <p:cNvSpPr/>
          <p:nvPr/>
        </p:nvSpPr>
        <p:spPr>
          <a:xfrm>
            <a:off x="786892" y="5575085"/>
            <a:ext cx="1712423" cy="489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부팅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dirty="0" smtClean="0">
                <a:solidFill>
                  <a:schemeClr val="tx1"/>
                </a:solidFill>
              </a:rPr>
              <a:t>분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5823252" y="5575085"/>
            <a:ext cx="1712423" cy="489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부팅 </a:t>
            </a:r>
            <a:r>
              <a:rPr lang="en-US" altLang="ko-KR" b="1" dirty="0" smtClean="0">
                <a:solidFill>
                  <a:schemeClr val="tx1"/>
                </a:solidFill>
              </a:rPr>
              <a:t>5</a:t>
            </a:r>
            <a:r>
              <a:rPr lang="ko-KR" altLang="en-US" b="1" dirty="0" smtClean="0">
                <a:solidFill>
                  <a:schemeClr val="tx1"/>
                </a:solidFill>
              </a:rPr>
              <a:t>초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535674" y="5685390"/>
            <a:ext cx="20146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Host OS</a:t>
            </a:r>
            <a:r>
              <a:rPr lang="ko-KR" altLang="en-US" sz="1200" dirty="0" smtClean="0"/>
              <a:t>가 부팅된 상태</a:t>
            </a:r>
            <a:endParaRPr lang="ko-KR" altLang="en-US" sz="1200" dirty="0"/>
          </a:p>
        </p:txBody>
      </p:sp>
      <p:cxnSp>
        <p:nvCxnSpPr>
          <p:cNvPr id="27" name="직선 연결선 26"/>
          <p:cNvCxnSpPr/>
          <p:nvPr/>
        </p:nvCxnSpPr>
        <p:spPr>
          <a:xfrm>
            <a:off x="5251269" y="0"/>
            <a:ext cx="33053" cy="685800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772111" y="6175323"/>
            <a:ext cx="2319432" cy="489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이미지 </a:t>
            </a:r>
            <a:r>
              <a:rPr lang="en-US" altLang="ko-KR" b="1" dirty="0" smtClean="0">
                <a:solidFill>
                  <a:schemeClr val="tx1"/>
                </a:solidFill>
              </a:rPr>
              <a:t>3,000</a:t>
            </a:r>
            <a:r>
              <a:rPr lang="ko-KR" altLang="en-US" b="1" dirty="0" smtClean="0">
                <a:solidFill>
                  <a:schemeClr val="tx1"/>
                </a:solidFill>
              </a:rPr>
              <a:t>개 설치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822403" y="6119899"/>
            <a:ext cx="2173004" cy="48955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b="1" dirty="0" smtClean="0">
                <a:solidFill>
                  <a:schemeClr val="tx1"/>
                </a:solidFill>
              </a:rPr>
              <a:t>이미지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dirty="0" smtClean="0">
                <a:solidFill>
                  <a:schemeClr val="tx1"/>
                </a:solidFill>
              </a:rPr>
              <a:t>개 설치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1569" y="3699654"/>
            <a:ext cx="2276475" cy="107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536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3030584" y="2255520"/>
            <a:ext cx="4667794" cy="1088571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800" b="1" dirty="0" err="1" smtClean="0"/>
              <a:t>경영정보부</a:t>
            </a:r>
            <a:r>
              <a:rPr lang="ko-KR" altLang="en-US" sz="3800" b="1" dirty="0" smtClean="0"/>
              <a:t> 영향</a:t>
            </a:r>
            <a:endParaRPr lang="en-US" altLang="ko-KR" sz="3800" b="1" dirty="0" smtClean="0"/>
          </a:p>
        </p:txBody>
      </p:sp>
      <p:sp>
        <p:nvSpPr>
          <p:cNvPr id="3" name="TextBox 2"/>
          <p:cNvSpPr txBox="1"/>
          <p:nvPr/>
        </p:nvSpPr>
        <p:spPr>
          <a:xfrm>
            <a:off x="3510430" y="3929957"/>
            <a:ext cx="3613181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분배</a:t>
            </a:r>
            <a:r>
              <a:rPr lang="en-US" altLang="ko-KR" sz="2300" dirty="0" smtClean="0"/>
              <a:t>: </a:t>
            </a:r>
            <a:r>
              <a:rPr lang="ko-KR" altLang="en-US" sz="2300" dirty="0" err="1" smtClean="0"/>
              <a:t>도커</a:t>
            </a:r>
            <a:r>
              <a:rPr lang="ko-KR" altLang="en-US" sz="2300" dirty="0" smtClean="0"/>
              <a:t> 이미지 단위</a:t>
            </a:r>
            <a:endParaRPr lang="ko-KR" altLang="en-US" sz="2300" dirty="0"/>
          </a:p>
        </p:txBody>
      </p:sp>
      <p:sp>
        <p:nvSpPr>
          <p:cNvPr id="4" name="TextBox 3"/>
          <p:cNvSpPr txBox="1"/>
          <p:nvPr/>
        </p:nvSpPr>
        <p:spPr>
          <a:xfrm>
            <a:off x="3510430" y="4526494"/>
            <a:ext cx="4719170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메타</a:t>
            </a:r>
            <a:r>
              <a:rPr lang="en-US" altLang="ko-KR" sz="2300" dirty="0" smtClean="0"/>
              <a:t>: 1</a:t>
            </a:r>
            <a:r>
              <a:rPr lang="ko-KR" altLang="en-US" sz="2300" dirty="0" smtClean="0"/>
              <a:t>테이블을 </a:t>
            </a:r>
            <a:r>
              <a:rPr lang="en-US" altLang="ko-KR" sz="2300" dirty="0" smtClean="0"/>
              <a:t>1</a:t>
            </a:r>
            <a:r>
              <a:rPr lang="ko-KR" altLang="en-US" sz="2300" dirty="0" smtClean="0"/>
              <a:t>개 </a:t>
            </a:r>
            <a:r>
              <a:rPr lang="en-US" altLang="ko-KR" sz="2300" dirty="0" smtClean="0"/>
              <a:t>MSA</a:t>
            </a:r>
            <a:r>
              <a:rPr lang="ko-KR" altLang="en-US" sz="2300" dirty="0" smtClean="0"/>
              <a:t>에 배정</a:t>
            </a:r>
            <a:endParaRPr lang="ko-KR" altLang="en-US" sz="2300" dirty="0"/>
          </a:p>
        </p:txBody>
      </p:sp>
      <p:sp>
        <p:nvSpPr>
          <p:cNvPr id="5" name="TextBox 4"/>
          <p:cNvSpPr txBox="1"/>
          <p:nvPr/>
        </p:nvSpPr>
        <p:spPr>
          <a:xfrm>
            <a:off x="3510429" y="5123031"/>
            <a:ext cx="619091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연계</a:t>
            </a:r>
            <a:r>
              <a:rPr lang="en-US" altLang="ko-KR" sz="2300" dirty="0" smtClean="0"/>
              <a:t>: </a:t>
            </a:r>
            <a:r>
              <a:rPr lang="ko-KR" altLang="en-US" sz="2300" dirty="0" err="1" smtClean="0"/>
              <a:t>클라우드</a:t>
            </a:r>
            <a:r>
              <a:rPr lang="ko-KR" altLang="en-US" sz="2300" dirty="0" smtClean="0"/>
              <a:t> 사용 기관</a:t>
            </a:r>
            <a:r>
              <a:rPr lang="en-US" altLang="ko-KR" sz="2300" dirty="0" smtClean="0"/>
              <a:t>, </a:t>
            </a:r>
            <a:r>
              <a:rPr lang="ko-KR" altLang="en-US" sz="2300" dirty="0" smtClean="0"/>
              <a:t>미사용 기관 구분</a:t>
            </a:r>
            <a:endParaRPr lang="ko-KR" altLang="en-US" sz="2300" dirty="0"/>
          </a:p>
        </p:txBody>
      </p:sp>
    </p:spTree>
    <p:extLst>
      <p:ext uri="{BB962C8B-B14F-4D97-AF65-F5344CB8AC3E}">
        <p14:creationId xmlns:p14="http://schemas.microsoft.com/office/powerpoint/2010/main" val="41468002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3429" y="4236108"/>
            <a:ext cx="4076006" cy="2458360"/>
          </a:xfrm>
          <a:prstGeom prst="rect">
            <a:avLst/>
          </a:prstGeom>
        </p:spPr>
      </p:pic>
      <p:sp>
        <p:nvSpPr>
          <p:cNvPr id="42" name="직사각형 41"/>
          <p:cNvSpPr/>
          <p:nvPr/>
        </p:nvSpPr>
        <p:spPr>
          <a:xfrm>
            <a:off x="274319" y="224444"/>
            <a:ext cx="374904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err="1" smtClean="0"/>
              <a:t>클라우드</a:t>
            </a:r>
            <a:r>
              <a:rPr lang="ko-KR" altLang="en-US" sz="2300" b="1" dirty="0" smtClean="0"/>
              <a:t> </a:t>
            </a:r>
            <a:r>
              <a:rPr lang="ko-KR" altLang="en-US" sz="2300" b="1" dirty="0" err="1" smtClean="0"/>
              <a:t>네이티브의</a:t>
            </a:r>
            <a:r>
              <a:rPr lang="ko-KR" altLang="en-US" sz="2300" b="1" dirty="0" smtClean="0"/>
              <a:t> 용도</a:t>
            </a:r>
            <a:endParaRPr lang="en-US" altLang="ko-KR" sz="2300" b="1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7460777" y="37984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36081" y="400041"/>
            <a:ext cx="12656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 dirty="0" smtClean="0"/>
              <a:t>CPU: 0.1</a:t>
            </a:r>
            <a:r>
              <a:rPr lang="ko-KR" altLang="en-US" sz="1000" dirty="0" smtClean="0"/>
              <a:t>코어</a:t>
            </a:r>
            <a:endParaRPr lang="en-US" altLang="ko-KR" sz="1000" dirty="0" smtClean="0"/>
          </a:p>
          <a:p>
            <a:endParaRPr lang="en-US" altLang="ko-KR" sz="300" dirty="0"/>
          </a:p>
          <a:p>
            <a:r>
              <a:rPr lang="ko-KR" altLang="en-US" sz="1000" dirty="0" smtClean="0"/>
              <a:t>램</a:t>
            </a:r>
            <a:r>
              <a:rPr lang="en-US" altLang="ko-KR" sz="1000" dirty="0" smtClean="0"/>
              <a:t>: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256 MB</a:t>
            </a:r>
          </a:p>
          <a:p>
            <a:endParaRPr lang="en-US" altLang="ko-KR" sz="300" dirty="0"/>
          </a:p>
          <a:p>
            <a:r>
              <a:rPr lang="ko-KR" altLang="en-US" sz="1000" dirty="0" smtClean="0"/>
              <a:t>디스크</a:t>
            </a:r>
            <a:r>
              <a:rPr lang="en-US" altLang="ko-KR" sz="1000" dirty="0" smtClean="0"/>
              <a:t>: 256 MB</a:t>
            </a:r>
            <a:endParaRPr lang="ko-KR" altLang="en-US" sz="1000" dirty="0"/>
          </a:p>
        </p:txBody>
      </p:sp>
      <p:sp>
        <p:nvSpPr>
          <p:cNvPr id="7" name="직사각형 6"/>
          <p:cNvSpPr/>
          <p:nvPr/>
        </p:nvSpPr>
        <p:spPr>
          <a:xfrm>
            <a:off x="7486704" y="180267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51568" y="1843487"/>
            <a:ext cx="204255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7486704" y="2235995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651568" y="2276811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err="1" smtClean="0"/>
              <a:t>자격변경</a:t>
            </a:r>
            <a:r>
              <a:rPr lang="ko-KR" altLang="en-US" sz="1200" dirty="0" smtClean="0"/>
              <a:t>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1" name="직사각형 10"/>
          <p:cNvSpPr/>
          <p:nvPr/>
        </p:nvSpPr>
        <p:spPr>
          <a:xfrm>
            <a:off x="7486704" y="2692717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51568" y="2733533"/>
            <a:ext cx="268699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부과내역조회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274319" y="1019350"/>
            <a:ext cx="67622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u="sng" dirty="0" smtClean="0"/>
              <a:t>컨테이너</a:t>
            </a:r>
            <a:r>
              <a:rPr lang="ko-KR" altLang="en-US" sz="2100" dirty="0" smtClean="0"/>
              <a:t>를 사람이 아닌 </a:t>
            </a:r>
            <a:r>
              <a:rPr lang="ko-KR" altLang="en-US" sz="2800" b="1" u="sng" dirty="0" smtClean="0"/>
              <a:t>애플리케이션</a:t>
            </a:r>
            <a:r>
              <a:rPr lang="ko-KR" altLang="en-US" sz="2100" dirty="0" smtClean="0"/>
              <a:t>에 할당</a:t>
            </a:r>
            <a:endParaRPr lang="ko-KR" altLang="en-US" sz="2100" dirty="0"/>
          </a:p>
        </p:txBody>
      </p:sp>
      <p:sp>
        <p:nvSpPr>
          <p:cNvPr id="2" name="모서리가 둥근 사각형 설명선 1"/>
          <p:cNvSpPr/>
          <p:nvPr/>
        </p:nvSpPr>
        <p:spPr>
          <a:xfrm>
            <a:off x="4484914" y="1802671"/>
            <a:ext cx="2290553" cy="2020390"/>
          </a:xfrm>
          <a:prstGeom prst="wedgeRoundRectCallout">
            <a:avLst>
              <a:gd name="adj1" fmla="val -137603"/>
              <a:gd name="adj2" fmla="val 1967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658887" y="1946010"/>
            <a:ext cx="2116580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err="1" smtClean="0"/>
              <a:t>자격변경</a:t>
            </a:r>
            <a:r>
              <a:rPr lang="ko-KR" altLang="en-US" sz="1200" b="1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200" dirty="0"/>
          </a:p>
          <a:p>
            <a:r>
              <a:rPr lang="ko-KR" altLang="en-US" sz="1200" b="1" dirty="0" smtClean="0"/>
              <a:t>부과내역조회</a:t>
            </a:r>
            <a:r>
              <a:rPr lang="ko-KR" altLang="en-US" sz="1200" dirty="0" smtClean="0"/>
              <a:t> </a:t>
            </a:r>
            <a:r>
              <a:rPr lang="ko-KR" altLang="en-US" sz="1000" dirty="0" smtClean="0"/>
              <a:t>애플리케이션</a:t>
            </a:r>
            <a:endParaRPr lang="en-US" altLang="ko-KR" sz="1000" dirty="0" smtClean="0"/>
          </a:p>
          <a:p>
            <a:endParaRPr lang="en-US" altLang="ko-KR" sz="1000" dirty="0" smtClean="0"/>
          </a:p>
          <a:p>
            <a:r>
              <a:rPr lang="ko-KR" altLang="en-US" sz="1200" b="1" dirty="0" smtClean="0"/>
              <a:t>자격 관리 </a:t>
            </a:r>
            <a:r>
              <a:rPr lang="ko-KR" altLang="en-US" sz="1000" dirty="0" smtClean="0"/>
              <a:t>애플리케이션</a:t>
            </a:r>
            <a:endParaRPr lang="en-US" altLang="ko-KR" sz="1000" dirty="0"/>
          </a:p>
          <a:p>
            <a:endParaRPr lang="en-US" altLang="ko-KR" sz="1000" dirty="0"/>
          </a:p>
          <a:p>
            <a:r>
              <a:rPr lang="ko-KR" altLang="en-US" sz="1200" b="1" dirty="0" smtClean="0"/>
              <a:t>로그</a:t>
            </a:r>
            <a:r>
              <a:rPr lang="ko-KR" altLang="en-US" sz="1000" dirty="0" smtClean="0"/>
              <a:t> 애플리케이션</a:t>
            </a:r>
            <a:endParaRPr lang="en-US" altLang="ko-KR" sz="1000" dirty="0"/>
          </a:p>
        </p:txBody>
      </p:sp>
      <p:sp>
        <p:nvSpPr>
          <p:cNvPr id="19" name="직사각형 18"/>
          <p:cNvSpPr/>
          <p:nvPr/>
        </p:nvSpPr>
        <p:spPr>
          <a:xfrm>
            <a:off x="7486704" y="3182059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651568" y="3222875"/>
            <a:ext cx="24344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자격관리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1" name="직사각형 20"/>
          <p:cNvSpPr/>
          <p:nvPr/>
        </p:nvSpPr>
        <p:spPr>
          <a:xfrm>
            <a:off x="7486704" y="3638781"/>
            <a:ext cx="1108749" cy="3586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smtClean="0">
                <a:solidFill>
                  <a:schemeClr val="tx1"/>
                </a:solidFill>
              </a:rPr>
              <a:t>컨테이너</a:t>
            </a:r>
            <a:endParaRPr lang="ko-KR" altLang="en-US" sz="1500">
              <a:solidFill>
                <a:schemeClr val="tx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51568" y="3679597"/>
            <a:ext cx="16506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로그 </a:t>
            </a:r>
            <a:r>
              <a:rPr lang="en-US" altLang="ko-KR" sz="1200" b="1" dirty="0" smtClean="0"/>
              <a:t>MSA</a:t>
            </a:r>
            <a:r>
              <a:rPr lang="en-US" altLang="ko-KR" sz="1200" dirty="0" smtClean="0"/>
              <a:t> 1</a:t>
            </a:r>
            <a:r>
              <a:rPr lang="ko-KR" altLang="en-US" sz="1200" dirty="0" smtClean="0"/>
              <a:t>개 수행</a:t>
            </a:r>
            <a:endParaRPr lang="ko-KR" alt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6712" y="6040466"/>
            <a:ext cx="4940334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 smtClean="0"/>
              <a:t>MSA : Micro Service Architecture</a:t>
            </a:r>
            <a:endParaRPr lang="en-US" altLang="ko-KR" dirty="0" smtClean="0"/>
          </a:p>
          <a:p>
            <a:endParaRPr lang="en-US" altLang="ko-KR" sz="500" dirty="0" smtClean="0"/>
          </a:p>
          <a:p>
            <a:r>
              <a:rPr lang="en-US" altLang="ko-KR" dirty="0" smtClean="0"/>
              <a:t>         1</a:t>
            </a:r>
            <a:r>
              <a:rPr lang="en-US" altLang="ko-KR" dirty="0"/>
              <a:t> </a:t>
            </a:r>
            <a:r>
              <a:rPr lang="ko-KR" altLang="en-US" dirty="0" smtClean="0"/>
              <a:t>프로그램을 작은 서비스들로 나눈 것</a:t>
            </a:r>
            <a:endParaRPr lang="en-US" altLang="ko-KR" dirty="0" smtClean="0"/>
          </a:p>
        </p:txBody>
      </p:sp>
      <p:sp>
        <p:nvSpPr>
          <p:cNvPr id="25" name="직사각형 24"/>
          <p:cNvSpPr/>
          <p:nvPr/>
        </p:nvSpPr>
        <p:spPr>
          <a:xfrm>
            <a:off x="502429" y="3139401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징수통합시스템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517668" y="3714442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통합급여시스템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17668" y="431176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장기요양시스템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8" name="직사각형 27"/>
          <p:cNvSpPr/>
          <p:nvPr/>
        </p:nvSpPr>
        <p:spPr>
          <a:xfrm>
            <a:off x="517667" y="1972789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통합로그인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517667" y="4909096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</a:rPr>
              <a:t>포털시스템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508958" y="2555568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자격부과시스템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4359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19" y="224444"/>
            <a:ext cx="3862251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메타 </a:t>
            </a:r>
            <a:r>
              <a:rPr lang="en-US" altLang="ko-KR" sz="2300" b="1" dirty="0" smtClean="0"/>
              <a:t>(1</a:t>
            </a:r>
            <a:r>
              <a:rPr lang="ko-KR" altLang="en-US" sz="2300" b="1" dirty="0" smtClean="0"/>
              <a:t>테이블은 </a:t>
            </a:r>
            <a:r>
              <a:rPr lang="en-US" altLang="ko-KR" sz="2300" b="1" dirty="0" smtClean="0"/>
              <a:t>1MSA)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958" y="1069519"/>
            <a:ext cx="4788839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300" dirty="0" smtClean="0"/>
              <a:t>1</a:t>
            </a:r>
            <a:r>
              <a:rPr lang="ko-KR" altLang="en-US" sz="2300" dirty="0" smtClean="0"/>
              <a:t>테이블은 </a:t>
            </a:r>
            <a:r>
              <a:rPr lang="en-US" altLang="ko-KR" sz="2300" dirty="0" smtClean="0"/>
              <a:t>1</a:t>
            </a:r>
            <a:r>
              <a:rPr lang="ko-KR" altLang="en-US" sz="2300" dirty="0" smtClean="0"/>
              <a:t>개 </a:t>
            </a:r>
            <a:r>
              <a:rPr lang="en-US" altLang="ko-KR" sz="2300" dirty="0" smtClean="0"/>
              <a:t>MSA</a:t>
            </a:r>
            <a:r>
              <a:rPr lang="ko-KR" altLang="en-US" sz="2300" dirty="0" smtClean="0"/>
              <a:t>만 사용 가능</a:t>
            </a:r>
            <a:endParaRPr lang="ko-KR" altLang="en-US" sz="2300" dirty="0"/>
          </a:p>
        </p:txBody>
      </p:sp>
      <p:sp>
        <p:nvSpPr>
          <p:cNvPr id="4" name="모서리가 둥근 사각형 설명선 3"/>
          <p:cNvSpPr/>
          <p:nvPr/>
        </p:nvSpPr>
        <p:spPr>
          <a:xfrm>
            <a:off x="3048000" y="1802671"/>
            <a:ext cx="1820091" cy="2020390"/>
          </a:xfrm>
          <a:prstGeom prst="wedgeRoundRectCallout">
            <a:avLst>
              <a:gd name="adj1" fmla="val -80778"/>
              <a:gd name="adj2" fmla="val 4553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248297" y="1963091"/>
            <a:ext cx="1480457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dirty="0" err="1" smtClean="0"/>
              <a:t>자격조회</a:t>
            </a:r>
            <a:r>
              <a:rPr lang="ko-KR" altLang="en-US" sz="1200" dirty="0" smtClean="0"/>
              <a:t> </a:t>
            </a:r>
            <a:r>
              <a:rPr lang="en-US" altLang="ko-KR" sz="1000" dirty="0" smtClean="0"/>
              <a:t>MSA</a:t>
            </a:r>
          </a:p>
          <a:p>
            <a:endParaRPr lang="en-US" altLang="ko-KR" sz="1200" dirty="0"/>
          </a:p>
          <a:p>
            <a:r>
              <a:rPr lang="ko-KR" altLang="en-US" sz="1200" b="1" dirty="0" err="1" smtClean="0"/>
              <a:t>자격변경</a:t>
            </a:r>
            <a:r>
              <a:rPr lang="ko-KR" altLang="en-US" sz="1200" b="1" dirty="0" smtClean="0"/>
              <a:t> </a:t>
            </a:r>
            <a:r>
              <a:rPr lang="en-US" altLang="ko-KR" sz="1000" dirty="0" smtClean="0"/>
              <a:t>MSA</a:t>
            </a:r>
          </a:p>
          <a:p>
            <a:endParaRPr lang="en-US" altLang="ko-KR" sz="1200" dirty="0"/>
          </a:p>
          <a:p>
            <a:r>
              <a:rPr lang="ko-KR" altLang="en-US" sz="1200" b="1" dirty="0" smtClean="0"/>
              <a:t>부과내역조회</a:t>
            </a:r>
            <a:r>
              <a:rPr lang="ko-KR" altLang="en-US" sz="1200" dirty="0" smtClean="0"/>
              <a:t> </a:t>
            </a:r>
            <a:r>
              <a:rPr lang="en-US" altLang="ko-KR" sz="1000" dirty="0" smtClean="0"/>
              <a:t>MSA</a:t>
            </a:r>
          </a:p>
          <a:p>
            <a:endParaRPr lang="en-US" altLang="ko-KR" sz="1000" dirty="0" smtClean="0"/>
          </a:p>
          <a:p>
            <a:r>
              <a:rPr lang="ko-KR" altLang="en-US" sz="1200" b="1" dirty="0" smtClean="0"/>
              <a:t>자격관리 </a:t>
            </a:r>
            <a:r>
              <a:rPr lang="en-US" altLang="ko-KR" sz="1000" dirty="0" smtClean="0"/>
              <a:t>MSA</a:t>
            </a:r>
            <a:endParaRPr lang="en-US" altLang="ko-KR" sz="1000" dirty="0"/>
          </a:p>
          <a:p>
            <a:endParaRPr lang="en-US" altLang="ko-KR" sz="1000" dirty="0"/>
          </a:p>
          <a:p>
            <a:r>
              <a:rPr lang="ko-KR" altLang="en-US" sz="1200" b="1" dirty="0" smtClean="0"/>
              <a:t>로그</a:t>
            </a:r>
            <a:r>
              <a:rPr lang="ko-KR" altLang="en-US" sz="1000" dirty="0" smtClean="0"/>
              <a:t> </a:t>
            </a:r>
            <a:r>
              <a:rPr lang="en-US" altLang="ko-KR" sz="1000" dirty="0" smtClean="0"/>
              <a:t>MSA</a:t>
            </a:r>
            <a:endParaRPr lang="en-US" altLang="ko-KR" sz="1000" dirty="0"/>
          </a:p>
        </p:txBody>
      </p:sp>
      <p:sp>
        <p:nvSpPr>
          <p:cNvPr id="11" name="직사각형 10"/>
          <p:cNvSpPr/>
          <p:nvPr/>
        </p:nvSpPr>
        <p:spPr>
          <a:xfrm>
            <a:off x="508958" y="2555568"/>
            <a:ext cx="1909845" cy="507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chemeClr val="tx1"/>
                </a:solidFill>
              </a:rPr>
              <a:t>자격부과시스템</a:t>
            </a:r>
            <a:endParaRPr lang="ko-KR" altLang="en-US" dirty="0">
              <a:solidFill>
                <a:schemeClr val="tx1"/>
              </a:solidFill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31200" y="1145260"/>
            <a:ext cx="3174964" cy="2820615"/>
          </a:xfrm>
          <a:prstGeom prst="rect">
            <a:avLst/>
          </a:prstGeom>
        </p:spPr>
      </p:pic>
      <p:sp>
        <p:nvSpPr>
          <p:cNvPr id="13" name="모서리가 둥근 사각형 설명선 12"/>
          <p:cNvSpPr/>
          <p:nvPr/>
        </p:nvSpPr>
        <p:spPr>
          <a:xfrm>
            <a:off x="9197751" y="2908661"/>
            <a:ext cx="2769328" cy="814251"/>
          </a:xfrm>
          <a:prstGeom prst="wedgeRoundRectCallout">
            <a:avLst>
              <a:gd name="adj1" fmla="val -80778"/>
              <a:gd name="adj2" fmla="val 4553"/>
              <a:gd name="adj3" fmla="val 16667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237691" y="2954148"/>
            <a:ext cx="2689448" cy="723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b="1" dirty="0" smtClean="0"/>
              <a:t>이 테이블을 </a:t>
            </a:r>
            <a:r>
              <a:rPr lang="en-US" altLang="ko-KR" b="1" dirty="0" smtClean="0"/>
              <a:t>1</a:t>
            </a:r>
            <a:r>
              <a:rPr lang="ko-KR" altLang="en-US" b="1" dirty="0" smtClean="0"/>
              <a:t>개 </a:t>
            </a:r>
            <a:r>
              <a:rPr lang="en-US" altLang="ko-KR" b="1" dirty="0" smtClean="0"/>
              <a:t>MSA</a:t>
            </a:r>
            <a:r>
              <a:rPr lang="ko-KR" altLang="en-US" b="1" dirty="0" smtClean="0"/>
              <a:t>만 </a:t>
            </a:r>
            <a:r>
              <a:rPr lang="en-US" altLang="ko-KR" b="1" dirty="0" smtClean="0"/>
              <a:t/>
            </a:r>
            <a:br>
              <a:rPr lang="en-US" altLang="ko-KR" b="1" dirty="0" smtClean="0"/>
            </a:br>
            <a:endParaRPr lang="en-US" altLang="ko-KR" sz="500" b="1" dirty="0" smtClean="0"/>
          </a:p>
          <a:p>
            <a:r>
              <a:rPr lang="ko-KR" altLang="en-US" b="1" dirty="0" smtClean="0"/>
              <a:t>독점해서 쓰라고</a:t>
            </a:r>
            <a:r>
              <a:rPr lang="en-US" altLang="ko-KR" b="1" dirty="0" smtClean="0"/>
              <a:t>?</a:t>
            </a:r>
            <a:endParaRPr lang="en-US" altLang="ko-KR" dirty="0"/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7751" y="4032071"/>
            <a:ext cx="2769328" cy="276932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6825" y="4032071"/>
            <a:ext cx="2756643" cy="2769328"/>
          </a:xfrm>
          <a:prstGeom prst="rect">
            <a:avLst/>
          </a:prstGeom>
        </p:spPr>
      </p:pic>
      <p:cxnSp>
        <p:nvCxnSpPr>
          <p:cNvPr id="17" name="직선 화살표 연결선 16"/>
          <p:cNvCxnSpPr/>
          <p:nvPr/>
        </p:nvCxnSpPr>
        <p:spPr>
          <a:xfrm flipV="1">
            <a:off x="7550331" y="792480"/>
            <a:ext cx="1647420" cy="1088572"/>
          </a:xfrm>
          <a:prstGeom prst="straightConnector1">
            <a:avLst/>
          </a:prstGeom>
          <a:ln w="285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8780315" y="323348"/>
            <a:ext cx="2523410" cy="42949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100" b="1" dirty="0" smtClean="0"/>
              <a:t>1</a:t>
            </a:r>
            <a:r>
              <a:rPr lang="ko-KR" altLang="en-US" sz="2100" b="1" dirty="0" smtClean="0"/>
              <a:t>개 </a:t>
            </a:r>
            <a:r>
              <a:rPr lang="en-US" altLang="ko-KR" sz="2100" b="1" dirty="0" smtClean="0"/>
              <a:t>MSA</a:t>
            </a:r>
            <a:r>
              <a:rPr lang="ko-KR" altLang="en-US" sz="2100" b="1" dirty="0" smtClean="0"/>
              <a:t>의 쿼리</a:t>
            </a:r>
            <a:endParaRPr lang="en-US" altLang="ko-KR" sz="2100" b="1" dirty="0" smtClean="0"/>
          </a:p>
        </p:txBody>
      </p:sp>
    </p:spTree>
    <p:extLst>
      <p:ext uri="{BB962C8B-B14F-4D97-AF65-F5344CB8AC3E}">
        <p14:creationId xmlns:p14="http://schemas.microsoft.com/office/powerpoint/2010/main" val="28675505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연계</a:t>
            </a:r>
            <a:endParaRPr lang="en-US" altLang="ko-KR" sz="2300" b="1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5995" y="224444"/>
            <a:ext cx="6638594" cy="590392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1500266"/>
            <a:ext cx="3174274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err="1" smtClean="0"/>
              <a:t>클라우드</a:t>
            </a:r>
            <a:r>
              <a:rPr lang="ko-KR" altLang="en-US" sz="2300" dirty="0" smtClean="0"/>
              <a:t> 내에서 연계</a:t>
            </a:r>
            <a:endParaRPr lang="ko-KR" altLang="en-US" sz="2300" dirty="0"/>
          </a:p>
        </p:txBody>
      </p:sp>
      <p:sp>
        <p:nvSpPr>
          <p:cNvPr id="6" name="TextBox 5"/>
          <p:cNvSpPr txBox="1"/>
          <p:nvPr/>
        </p:nvSpPr>
        <p:spPr>
          <a:xfrm>
            <a:off x="2873829" y="4047850"/>
            <a:ext cx="209753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smtClean="0"/>
              <a:t>대구 </a:t>
            </a:r>
            <a:r>
              <a:rPr lang="ko-KR" altLang="en-US" sz="2300" dirty="0" err="1" smtClean="0"/>
              <a:t>클라우드</a:t>
            </a:r>
            <a:endParaRPr lang="ko-KR" altLang="en-US" sz="2300" dirty="0"/>
          </a:p>
        </p:txBody>
      </p:sp>
      <p:pic>
        <p:nvPicPr>
          <p:cNvPr id="7" name="Picture 2" descr="AWS 클라우드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84495" y="4542564"/>
            <a:ext cx="1408832" cy="1174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4495" y="3355125"/>
            <a:ext cx="1572714" cy="5464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3471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연계</a:t>
            </a:r>
            <a:endParaRPr lang="en-US" altLang="ko-KR" sz="2300" b="1" dirty="0" smtClean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0650" y="335688"/>
            <a:ext cx="6991350" cy="6238875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331" y="2815193"/>
            <a:ext cx="1572714" cy="546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525336"/>
            <a:ext cx="209753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smtClean="0"/>
              <a:t>대구 </a:t>
            </a:r>
            <a:r>
              <a:rPr lang="ko-KR" altLang="en-US" sz="2300" dirty="0" err="1" smtClean="0"/>
              <a:t>클라우드</a:t>
            </a:r>
            <a:endParaRPr lang="ko-KR" altLang="en-US" sz="2300" dirty="0"/>
          </a:p>
        </p:txBody>
      </p:sp>
      <p:sp>
        <p:nvSpPr>
          <p:cNvPr id="7" name="TextBox 6"/>
          <p:cNvSpPr txBox="1"/>
          <p:nvPr/>
        </p:nvSpPr>
        <p:spPr>
          <a:xfrm>
            <a:off x="3207619" y="3525336"/>
            <a:ext cx="209753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dirty="0" smtClean="0"/>
              <a:t>세종 </a:t>
            </a:r>
            <a:r>
              <a:rPr lang="ko-KR" altLang="en-US" sz="2300" dirty="0" err="1" smtClean="0"/>
              <a:t>클라우드</a:t>
            </a:r>
            <a:endParaRPr lang="ko-KR" altLang="en-US" sz="2300" dirty="0"/>
          </a:p>
        </p:txBody>
      </p:sp>
      <p:pic>
        <p:nvPicPr>
          <p:cNvPr id="1026" name="Picture 2" descr="AWS 클라우드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6" y="4020050"/>
            <a:ext cx="1408832" cy="1174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5989" y="4020050"/>
            <a:ext cx="1876291" cy="963261"/>
          </a:xfrm>
          <a:prstGeom prst="rect">
            <a:avLst/>
          </a:prstGeom>
        </p:spPr>
      </p:pic>
      <p:cxnSp>
        <p:nvCxnSpPr>
          <p:cNvPr id="11" name="직선 연결선 10"/>
          <p:cNvCxnSpPr/>
          <p:nvPr/>
        </p:nvCxnSpPr>
        <p:spPr>
          <a:xfrm flipV="1">
            <a:off x="1741714" y="2943497"/>
            <a:ext cx="3400566" cy="1"/>
          </a:xfrm>
          <a:prstGeom prst="line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862755" y="2653610"/>
            <a:ext cx="80646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연계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4382111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연계</a:t>
            </a:r>
            <a:endParaRPr lang="en-US" altLang="ko-KR" sz="2300" b="1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1" y="2815193"/>
            <a:ext cx="1572714" cy="546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0" y="3525336"/>
            <a:ext cx="2097535" cy="446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smtClean="0"/>
              <a:t>대구 </a:t>
            </a:r>
            <a:r>
              <a:rPr lang="ko-KR" altLang="en-US" sz="2300" dirty="0" err="1" smtClean="0"/>
              <a:t>클라우드</a:t>
            </a:r>
            <a:endParaRPr lang="ko-KR" altLang="en-US" sz="2300" dirty="0"/>
          </a:p>
        </p:txBody>
      </p:sp>
      <p:pic>
        <p:nvPicPr>
          <p:cNvPr id="1026" name="Picture 2" descr="AWS 클라우드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66" y="4020050"/>
            <a:ext cx="1408832" cy="11740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1" name="직선 연결선 10"/>
          <p:cNvCxnSpPr/>
          <p:nvPr/>
        </p:nvCxnSpPr>
        <p:spPr>
          <a:xfrm>
            <a:off x="1741714" y="2943499"/>
            <a:ext cx="4929052" cy="33276"/>
          </a:xfrm>
          <a:prstGeom prst="line">
            <a:avLst/>
          </a:prstGeom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212584" y="2653610"/>
            <a:ext cx="80646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smtClean="0"/>
              <a:t>연계</a:t>
            </a:r>
            <a:endParaRPr lang="ko-KR" altLang="en-US" sz="1500" dirty="0"/>
          </a:p>
        </p:txBody>
      </p:sp>
      <p:sp>
        <p:nvSpPr>
          <p:cNvPr id="12" name="직사각형 11"/>
          <p:cNvSpPr/>
          <p:nvPr/>
        </p:nvSpPr>
        <p:spPr>
          <a:xfrm>
            <a:off x="6670765" y="2727393"/>
            <a:ext cx="2934789" cy="498763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100" b="1" err="1" smtClean="0"/>
              <a:t>클라우드</a:t>
            </a:r>
            <a:r>
              <a:rPr lang="ko-KR" altLang="en-US" sz="2100" b="1" dirty="0" smtClean="0"/>
              <a:t> </a:t>
            </a:r>
            <a:r>
              <a:rPr lang="ko-KR" altLang="en-US" sz="2100" b="1" dirty="0" err="1" smtClean="0"/>
              <a:t>미도입</a:t>
            </a:r>
            <a:r>
              <a:rPr lang="ko-KR" altLang="en-US" sz="2100" b="1" dirty="0" smtClean="0"/>
              <a:t> 기관</a:t>
            </a:r>
            <a:endParaRPr lang="en-US" altLang="ko-KR" sz="2100" b="1" dirty="0" smtClean="0"/>
          </a:p>
        </p:txBody>
      </p:sp>
    </p:spTree>
    <p:extLst>
      <p:ext uri="{BB962C8B-B14F-4D97-AF65-F5344CB8AC3E}">
        <p14:creationId xmlns:p14="http://schemas.microsoft.com/office/powerpoint/2010/main" val="14542155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직사각형 41"/>
          <p:cNvSpPr/>
          <p:nvPr/>
        </p:nvSpPr>
        <p:spPr>
          <a:xfrm>
            <a:off x="274320" y="224444"/>
            <a:ext cx="2086496" cy="498763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300" b="1" dirty="0" smtClean="0"/>
              <a:t>데이터 센터</a:t>
            </a:r>
            <a:endParaRPr lang="en-US" altLang="ko-KR" sz="2300" b="1" dirty="0" smtClean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1213" y="0"/>
            <a:ext cx="7414055" cy="68580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1886690"/>
            <a:ext cx="4771213" cy="29794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09358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1762</TotalTime>
  <Words>1144</Words>
  <Application>Microsoft Office PowerPoint</Application>
  <PresentationFormat>와이드스크린</PresentationFormat>
  <Paragraphs>491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Administrator</dc:creator>
  <cp:lastModifiedBy>Administrator</cp:lastModifiedBy>
  <cp:revision>93</cp:revision>
  <dcterms:created xsi:type="dcterms:W3CDTF">2026-05-27T12:37:02Z</dcterms:created>
  <dcterms:modified xsi:type="dcterms:W3CDTF">2026-08-03T14:21:56Z</dcterms:modified>
</cp:coreProperties>
</file>