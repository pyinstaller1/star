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69" r:id="rId3"/>
    <p:sldId id="270" r:id="rId4"/>
    <p:sldId id="271" r:id="rId5"/>
    <p:sldId id="278" r:id="rId6"/>
    <p:sldId id="272" r:id="rId7"/>
    <p:sldId id="273" r:id="rId8"/>
    <p:sldId id="279" r:id="rId9"/>
    <p:sldId id="274" r:id="rId10"/>
    <p:sldId id="280" r:id="rId11"/>
    <p:sldId id="281" r:id="rId12"/>
    <p:sldId id="275" r:id="rId13"/>
    <p:sldId id="282" r:id="rId14"/>
    <p:sldId id="276" r:id="rId15"/>
    <p:sldId id="284" r:id="rId16"/>
    <p:sldId id="285" r:id="rId17"/>
    <p:sldId id="289" r:id="rId18"/>
    <p:sldId id="286" r:id="rId19"/>
    <p:sldId id="287" r:id="rId20"/>
    <p:sldId id="288" r:id="rId21"/>
    <p:sldId id="290" r:id="rId22"/>
    <p:sldId id="277" r:id="rId23"/>
  </p:sldIdLst>
  <p:sldSz cx="12192000" cy="6858000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F6600"/>
    <a:srgbClr val="FF5050"/>
    <a:srgbClr val="FF3300"/>
    <a:srgbClr val="FF0066"/>
    <a:srgbClr val="FF3399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6353" autoAdjust="0"/>
    <p:restoredTop sz="95238" autoAdjust="0"/>
  </p:normalViewPr>
  <p:slideViewPr>
    <p:cSldViewPr snapToGrid="0">
      <p:cViewPr varScale="1">
        <p:scale>
          <a:sx n="110" d="100"/>
          <a:sy n="110" d="100"/>
        </p:scale>
        <p:origin x="552" y="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theme" Target="theme/theme1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presProps" Target="pres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tableStyles" Target="tableStyle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부제목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ko-KR" altLang="en-US" smtClean="0"/>
              <a:t>클릭하여 마스터 부제목 스타일 편집</a:t>
            </a:r>
            <a:endParaRPr lang="ko-KR" altLang="en-US"/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0A7BD22-C8EB-4173-A227-EB4225261623}" type="datetimeFigureOut">
              <a:rPr lang="ko-KR" altLang="en-US" smtClean="0"/>
              <a:t>2026-08-03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AB0B60-0E14-4984-B448-AA36DEC673ED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23854224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0A7BD22-C8EB-4173-A227-EB4225261623}" type="datetimeFigureOut">
              <a:rPr lang="ko-KR" altLang="en-US" smtClean="0"/>
              <a:t>2026-08-03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AB0B60-0E14-4984-B448-AA36DEC673ED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0012040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 smtClean="0"/>
              <a:t>마스터 텍스트 스타일 편집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0A7BD22-C8EB-4173-A227-EB4225261623}" type="datetimeFigureOut">
              <a:rPr lang="ko-KR" altLang="en-US" smtClean="0"/>
              <a:t>2026-08-03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AB0B60-0E14-4984-B448-AA36DEC673ED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99174317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내용 개체 틀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4" name="내용 개체 틀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5" name="날짜 개체 틀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0A7BD22-C8EB-4173-A227-EB4225261623}" type="datetimeFigureOut">
              <a:rPr lang="ko-KR" altLang="en-US" smtClean="0"/>
              <a:t>2026-08-03</a:t>
            </a:fld>
            <a:endParaRPr lang="ko-KR" altLang="en-US"/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AB0B60-0E14-4984-B448-AA36DEC673ED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65361018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 smtClean="0"/>
              <a:t>마스터 텍스트 스타일 편집</a:t>
            </a:r>
          </a:p>
        </p:txBody>
      </p:sp>
      <p:sp>
        <p:nvSpPr>
          <p:cNvPr id="4" name="내용 개체 틀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5" name="텍스트 개체 틀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 smtClean="0"/>
              <a:t>마스터 텍스트 스타일 편집</a:t>
            </a:r>
          </a:p>
        </p:txBody>
      </p:sp>
      <p:sp>
        <p:nvSpPr>
          <p:cNvPr id="6" name="내용 개체 틀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7" name="날짜 개체 틀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0A7BD22-C8EB-4173-A227-EB4225261623}" type="datetimeFigureOut">
              <a:rPr lang="ko-KR" altLang="en-US" smtClean="0"/>
              <a:t>2026-08-03</a:t>
            </a:fld>
            <a:endParaRPr lang="ko-KR" altLang="en-US"/>
          </a:p>
        </p:txBody>
      </p:sp>
      <p:sp>
        <p:nvSpPr>
          <p:cNvPr id="8" name="바닥글 개체 틀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슬라이드 번호 개체 틀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AB0B60-0E14-4984-B448-AA36DEC673ED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33469394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0A7BD22-C8EB-4173-A227-EB4225261623}" type="datetimeFigureOut">
              <a:rPr lang="ko-KR" altLang="en-US" smtClean="0"/>
              <a:t>2026-08-03</a:t>
            </a:fld>
            <a:endParaRPr lang="ko-KR" altLang="en-US"/>
          </a:p>
        </p:txBody>
      </p:sp>
      <p:sp>
        <p:nvSpPr>
          <p:cNvPr id="4" name="바닥글 개체 틀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슬라이드 번호 개체 틀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AB0B60-0E14-4984-B448-AA36DEC673ED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60518512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0A7BD22-C8EB-4173-A227-EB4225261623}" type="datetimeFigureOut">
              <a:rPr lang="ko-KR" altLang="en-US" smtClean="0"/>
              <a:t>2026-08-03</a:t>
            </a:fld>
            <a:endParaRPr lang="ko-KR" altLang="en-US"/>
          </a:p>
        </p:txBody>
      </p:sp>
      <p:sp>
        <p:nvSpPr>
          <p:cNvPr id="3" name="바닥글 개체 틀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AB0B60-0E14-4984-B448-AA36DEC673ED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05596130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4" name="텍스트 개체 틀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 smtClean="0"/>
              <a:t>마스터 텍스트 스타일 편집</a:t>
            </a:r>
          </a:p>
        </p:txBody>
      </p:sp>
      <p:sp>
        <p:nvSpPr>
          <p:cNvPr id="5" name="날짜 개체 틀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0A7BD22-C8EB-4173-A227-EB4225261623}" type="datetimeFigureOut">
              <a:rPr lang="ko-KR" altLang="en-US" smtClean="0"/>
              <a:t>2026-08-03</a:t>
            </a:fld>
            <a:endParaRPr lang="ko-KR" altLang="en-US"/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AB0B60-0E14-4984-B448-AA36DEC673ED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04955965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그림 개체 틀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/>
          </a:p>
        </p:txBody>
      </p:sp>
      <p:sp>
        <p:nvSpPr>
          <p:cNvPr id="4" name="텍스트 개체 틀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 smtClean="0"/>
              <a:t>마스터 텍스트 스타일 편집</a:t>
            </a:r>
          </a:p>
        </p:txBody>
      </p:sp>
      <p:sp>
        <p:nvSpPr>
          <p:cNvPr id="5" name="날짜 개체 틀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0A7BD22-C8EB-4173-A227-EB4225261623}" type="datetimeFigureOut">
              <a:rPr lang="ko-KR" altLang="en-US" smtClean="0"/>
              <a:t>2026-08-03</a:t>
            </a:fld>
            <a:endParaRPr lang="ko-KR" altLang="en-US"/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AB0B60-0E14-4984-B448-AA36DEC673ED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68040498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세로 텍스트 개체 틀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0A7BD22-C8EB-4173-A227-EB4225261623}" type="datetimeFigureOut">
              <a:rPr lang="ko-KR" altLang="en-US" smtClean="0"/>
              <a:t>2026-08-03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AB0B60-0E14-4984-B448-AA36DEC673ED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66621154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세로 텍스트 개체 틀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0A7BD22-C8EB-4173-A227-EB4225261623}" type="datetimeFigureOut">
              <a:rPr lang="ko-KR" altLang="en-US" smtClean="0"/>
              <a:t>2026-08-03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AB0B60-0E14-4984-B448-AA36DEC673ED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6841694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00A7BD22-C8EB-4173-A227-EB4225261623}" type="datetimeFigureOut">
              <a:rPr lang="ko-KR" altLang="en-US" smtClean="0"/>
              <a:t>2026-08-03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FAB0B60-0E14-4984-B448-AA36DEC673ED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39030094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6.png"/><Relationship Id="rId4" Type="http://schemas.openxmlformats.org/officeDocument/2006/relationships/image" Target="../media/image3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9.png"/><Relationship Id="rId4" Type="http://schemas.openxmlformats.org/officeDocument/2006/relationships/image" Target="../media/image8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2.png"/><Relationship Id="rId5" Type="http://schemas.openxmlformats.org/officeDocument/2006/relationships/image" Target="../media/image3.png"/><Relationship Id="rId4" Type="http://schemas.openxmlformats.org/officeDocument/2006/relationships/image" Target="../media/image11.png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6.png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9.png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21.png"/><Relationship Id="rId4" Type="http://schemas.openxmlformats.org/officeDocument/2006/relationships/image" Target="../media/image18.png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직사각형 3"/>
          <p:cNvSpPr/>
          <p:nvPr/>
        </p:nvSpPr>
        <p:spPr>
          <a:xfrm>
            <a:off x="3923607" y="1840212"/>
            <a:ext cx="3782294" cy="728421"/>
          </a:xfrm>
          <a:prstGeom prst="rect">
            <a:avLst/>
          </a:prstGeom>
          <a:solidFill>
            <a:srgbClr val="00B0F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2800" b="1" smtClean="0"/>
              <a:t>클라우드</a:t>
            </a:r>
            <a:r>
              <a:rPr lang="ko-KR" altLang="en-US" sz="2800" b="1" dirty="0" smtClean="0"/>
              <a:t> </a:t>
            </a:r>
            <a:r>
              <a:rPr lang="ko-KR" altLang="en-US" sz="2800" b="1" dirty="0" err="1" smtClean="0"/>
              <a:t>네이티브</a:t>
            </a:r>
            <a:endParaRPr lang="en-US" altLang="ko-KR" sz="2800" b="1" dirty="0" smtClean="0"/>
          </a:p>
        </p:txBody>
      </p:sp>
      <p:pic>
        <p:nvPicPr>
          <p:cNvPr id="7" name="그림 6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07477" y="3401551"/>
            <a:ext cx="4419600" cy="28479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67293963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직사각형 41"/>
          <p:cNvSpPr/>
          <p:nvPr/>
        </p:nvSpPr>
        <p:spPr>
          <a:xfrm>
            <a:off x="274320" y="224444"/>
            <a:ext cx="2086496" cy="498763"/>
          </a:xfrm>
          <a:prstGeom prst="rect">
            <a:avLst/>
          </a:prstGeom>
          <a:solidFill>
            <a:srgbClr val="00B0F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2300" b="1" dirty="0" err="1" smtClean="0"/>
              <a:t>서버실</a:t>
            </a:r>
            <a:r>
              <a:rPr lang="ko-KR" altLang="en-US" sz="2300" b="1" dirty="0" smtClean="0"/>
              <a:t> 해체</a:t>
            </a:r>
            <a:endParaRPr lang="en-US" altLang="ko-KR" sz="2300" b="1" dirty="0" smtClean="0"/>
          </a:p>
        </p:txBody>
      </p:sp>
      <p:sp>
        <p:nvSpPr>
          <p:cNvPr id="3" name="직사각형 2"/>
          <p:cNvSpPr/>
          <p:nvPr/>
        </p:nvSpPr>
        <p:spPr>
          <a:xfrm>
            <a:off x="598517" y="2844737"/>
            <a:ext cx="1354974" cy="369517"/>
          </a:xfrm>
          <a:prstGeom prst="rect">
            <a:avLst/>
          </a:prstGeom>
          <a:solidFill>
            <a:schemeClr val="tx2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b="1" dirty="0" err="1" smtClean="0"/>
              <a:t>건보공단</a:t>
            </a:r>
            <a:endParaRPr lang="en-US" altLang="ko-KR" b="1" dirty="0" smtClean="0"/>
          </a:p>
        </p:txBody>
      </p:sp>
      <p:sp>
        <p:nvSpPr>
          <p:cNvPr id="4" name="직사각형 3"/>
          <p:cNvSpPr/>
          <p:nvPr/>
        </p:nvSpPr>
        <p:spPr>
          <a:xfrm>
            <a:off x="598517" y="3703715"/>
            <a:ext cx="1354974" cy="369517"/>
          </a:xfrm>
          <a:prstGeom prst="rect">
            <a:avLst/>
          </a:prstGeom>
          <a:solidFill>
            <a:schemeClr val="tx2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b="1" dirty="0" smtClean="0"/>
              <a:t>심평원</a:t>
            </a:r>
            <a:endParaRPr lang="en-US" altLang="ko-KR" b="1" dirty="0" smtClean="0"/>
          </a:p>
        </p:txBody>
      </p:sp>
      <p:sp>
        <p:nvSpPr>
          <p:cNvPr id="5" name="직사각형 4"/>
          <p:cNvSpPr/>
          <p:nvPr/>
        </p:nvSpPr>
        <p:spPr>
          <a:xfrm>
            <a:off x="598517" y="3271458"/>
            <a:ext cx="1354974" cy="369517"/>
          </a:xfrm>
          <a:prstGeom prst="rect">
            <a:avLst/>
          </a:prstGeom>
          <a:solidFill>
            <a:schemeClr val="tx2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b="1" dirty="0" err="1" smtClean="0"/>
              <a:t>연금공단</a:t>
            </a:r>
            <a:endParaRPr lang="en-US" altLang="ko-KR" b="1" dirty="0" smtClean="0"/>
          </a:p>
        </p:txBody>
      </p:sp>
      <p:sp>
        <p:nvSpPr>
          <p:cNvPr id="6" name="직사각형 5"/>
          <p:cNvSpPr/>
          <p:nvPr/>
        </p:nvSpPr>
        <p:spPr>
          <a:xfrm>
            <a:off x="598517" y="5659977"/>
            <a:ext cx="1354974" cy="369517"/>
          </a:xfrm>
          <a:prstGeom prst="rect">
            <a:avLst/>
          </a:prstGeom>
          <a:solidFill>
            <a:schemeClr val="tx2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b="1" dirty="0" smtClean="0"/>
              <a:t>농어촌공사</a:t>
            </a:r>
            <a:endParaRPr lang="en-US" altLang="ko-KR" b="1" dirty="0" smtClean="0"/>
          </a:p>
        </p:txBody>
      </p:sp>
      <p:sp>
        <p:nvSpPr>
          <p:cNvPr id="7" name="직사각형 6"/>
          <p:cNvSpPr/>
          <p:nvPr/>
        </p:nvSpPr>
        <p:spPr>
          <a:xfrm>
            <a:off x="598517" y="6103323"/>
            <a:ext cx="1354974" cy="369517"/>
          </a:xfrm>
          <a:prstGeom prst="rect">
            <a:avLst/>
          </a:prstGeom>
          <a:solidFill>
            <a:schemeClr val="tx2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b="1" dirty="0" smtClean="0"/>
              <a:t>철도공사</a:t>
            </a:r>
            <a:endParaRPr lang="en-US" altLang="ko-KR" b="1" dirty="0" smtClean="0"/>
          </a:p>
        </p:txBody>
      </p:sp>
      <p:sp>
        <p:nvSpPr>
          <p:cNvPr id="8" name="직사각형 7"/>
          <p:cNvSpPr/>
          <p:nvPr/>
        </p:nvSpPr>
        <p:spPr>
          <a:xfrm>
            <a:off x="1953492" y="2975956"/>
            <a:ext cx="706582" cy="242854"/>
          </a:xfrm>
          <a:prstGeom prst="rect">
            <a:avLst/>
          </a:prstGeom>
          <a:solidFill>
            <a:schemeClr val="tx1">
              <a:lumMod val="65000"/>
              <a:lumOff val="3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200" b="1" dirty="0" err="1" smtClean="0"/>
              <a:t>서버실</a:t>
            </a:r>
            <a:endParaRPr lang="en-US" altLang="ko-KR" sz="1200" b="1" dirty="0" smtClean="0"/>
          </a:p>
        </p:txBody>
      </p:sp>
      <p:sp>
        <p:nvSpPr>
          <p:cNvPr id="9" name="직사각형 8"/>
          <p:cNvSpPr/>
          <p:nvPr/>
        </p:nvSpPr>
        <p:spPr>
          <a:xfrm>
            <a:off x="1953491" y="3398121"/>
            <a:ext cx="706582" cy="242854"/>
          </a:xfrm>
          <a:prstGeom prst="rect">
            <a:avLst/>
          </a:prstGeom>
          <a:solidFill>
            <a:schemeClr val="tx1">
              <a:lumMod val="65000"/>
              <a:lumOff val="3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200" b="1" dirty="0" err="1" smtClean="0"/>
              <a:t>서버실</a:t>
            </a:r>
            <a:endParaRPr lang="en-US" altLang="ko-KR" sz="1200" b="1" dirty="0" smtClean="0"/>
          </a:p>
        </p:txBody>
      </p:sp>
      <p:sp>
        <p:nvSpPr>
          <p:cNvPr id="10" name="직사각형 9"/>
          <p:cNvSpPr/>
          <p:nvPr/>
        </p:nvSpPr>
        <p:spPr>
          <a:xfrm>
            <a:off x="1953491" y="3825031"/>
            <a:ext cx="706582" cy="242854"/>
          </a:xfrm>
          <a:prstGeom prst="rect">
            <a:avLst/>
          </a:prstGeom>
          <a:solidFill>
            <a:schemeClr val="tx1">
              <a:lumMod val="65000"/>
              <a:lumOff val="3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200" b="1" dirty="0" err="1" smtClean="0"/>
              <a:t>서버실</a:t>
            </a:r>
            <a:endParaRPr lang="en-US" altLang="ko-KR" sz="1200" b="1" dirty="0" smtClean="0"/>
          </a:p>
        </p:txBody>
      </p:sp>
      <p:sp>
        <p:nvSpPr>
          <p:cNvPr id="11" name="직사각형 10"/>
          <p:cNvSpPr/>
          <p:nvPr/>
        </p:nvSpPr>
        <p:spPr>
          <a:xfrm>
            <a:off x="1953491" y="5786640"/>
            <a:ext cx="706582" cy="242854"/>
          </a:xfrm>
          <a:prstGeom prst="rect">
            <a:avLst/>
          </a:prstGeom>
          <a:solidFill>
            <a:schemeClr val="tx1">
              <a:lumMod val="65000"/>
              <a:lumOff val="3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200" b="1" dirty="0" err="1" smtClean="0"/>
              <a:t>서버실</a:t>
            </a:r>
            <a:endParaRPr lang="en-US" altLang="ko-KR" sz="1200" b="1" dirty="0" smtClean="0"/>
          </a:p>
        </p:txBody>
      </p:sp>
      <p:sp>
        <p:nvSpPr>
          <p:cNvPr id="12" name="직사각형 11"/>
          <p:cNvSpPr/>
          <p:nvPr/>
        </p:nvSpPr>
        <p:spPr>
          <a:xfrm>
            <a:off x="1953491" y="6229986"/>
            <a:ext cx="706582" cy="242854"/>
          </a:xfrm>
          <a:prstGeom prst="rect">
            <a:avLst/>
          </a:prstGeom>
          <a:solidFill>
            <a:schemeClr val="tx1">
              <a:lumMod val="65000"/>
              <a:lumOff val="3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200" b="1" dirty="0" err="1" smtClean="0"/>
              <a:t>서버실</a:t>
            </a:r>
            <a:endParaRPr lang="en-US" altLang="ko-KR" sz="1200" b="1" dirty="0" smtClean="0"/>
          </a:p>
        </p:txBody>
      </p:sp>
      <p:sp>
        <p:nvSpPr>
          <p:cNvPr id="13" name="직사각형 12"/>
          <p:cNvSpPr/>
          <p:nvPr/>
        </p:nvSpPr>
        <p:spPr>
          <a:xfrm>
            <a:off x="1179022" y="1986654"/>
            <a:ext cx="1127760" cy="397225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b="1" smtClean="0"/>
              <a:t>현재</a:t>
            </a:r>
            <a:endParaRPr lang="en-US" altLang="ko-KR" b="1" dirty="0" smtClean="0"/>
          </a:p>
        </p:txBody>
      </p:sp>
      <p:pic>
        <p:nvPicPr>
          <p:cNvPr id="14" name="그림 1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143702" y="3270891"/>
            <a:ext cx="3707476" cy="2389085"/>
          </a:xfrm>
          <a:prstGeom prst="rect">
            <a:avLst/>
          </a:prstGeom>
        </p:spPr>
      </p:pic>
      <p:sp>
        <p:nvSpPr>
          <p:cNvPr id="20" name="직사각형 19"/>
          <p:cNvSpPr/>
          <p:nvPr/>
        </p:nvSpPr>
        <p:spPr>
          <a:xfrm>
            <a:off x="6353684" y="2847510"/>
            <a:ext cx="1354974" cy="369517"/>
          </a:xfrm>
          <a:prstGeom prst="rect">
            <a:avLst/>
          </a:prstGeom>
          <a:solidFill>
            <a:schemeClr val="tx2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b="1" dirty="0" err="1" smtClean="0"/>
              <a:t>건보공단</a:t>
            </a:r>
            <a:endParaRPr lang="en-US" altLang="ko-KR" b="1" dirty="0" smtClean="0"/>
          </a:p>
        </p:txBody>
      </p:sp>
      <p:sp>
        <p:nvSpPr>
          <p:cNvPr id="21" name="직사각형 20"/>
          <p:cNvSpPr/>
          <p:nvPr/>
        </p:nvSpPr>
        <p:spPr>
          <a:xfrm>
            <a:off x="6353684" y="3706488"/>
            <a:ext cx="1354974" cy="369517"/>
          </a:xfrm>
          <a:prstGeom prst="rect">
            <a:avLst/>
          </a:prstGeom>
          <a:solidFill>
            <a:schemeClr val="tx2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b="1" dirty="0" smtClean="0"/>
              <a:t>심평원</a:t>
            </a:r>
            <a:endParaRPr lang="en-US" altLang="ko-KR" b="1" dirty="0" smtClean="0"/>
          </a:p>
        </p:txBody>
      </p:sp>
      <p:sp>
        <p:nvSpPr>
          <p:cNvPr id="22" name="직사각형 21"/>
          <p:cNvSpPr/>
          <p:nvPr/>
        </p:nvSpPr>
        <p:spPr>
          <a:xfrm>
            <a:off x="6353684" y="3274231"/>
            <a:ext cx="1354974" cy="369517"/>
          </a:xfrm>
          <a:prstGeom prst="rect">
            <a:avLst/>
          </a:prstGeom>
          <a:solidFill>
            <a:schemeClr val="tx2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b="1" dirty="0" err="1" smtClean="0"/>
              <a:t>연금공단</a:t>
            </a:r>
            <a:endParaRPr lang="en-US" altLang="ko-KR" b="1" dirty="0" smtClean="0"/>
          </a:p>
        </p:txBody>
      </p:sp>
      <p:sp>
        <p:nvSpPr>
          <p:cNvPr id="23" name="직사각형 22"/>
          <p:cNvSpPr/>
          <p:nvPr/>
        </p:nvSpPr>
        <p:spPr>
          <a:xfrm>
            <a:off x="6353684" y="5321928"/>
            <a:ext cx="1354974" cy="369517"/>
          </a:xfrm>
          <a:prstGeom prst="rect">
            <a:avLst/>
          </a:prstGeom>
          <a:solidFill>
            <a:schemeClr val="tx2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b="1" dirty="0" smtClean="0"/>
              <a:t>농어촌공사</a:t>
            </a:r>
            <a:endParaRPr lang="en-US" altLang="ko-KR" b="1" dirty="0" smtClean="0"/>
          </a:p>
        </p:txBody>
      </p:sp>
      <p:sp>
        <p:nvSpPr>
          <p:cNvPr id="24" name="직사각형 23"/>
          <p:cNvSpPr/>
          <p:nvPr/>
        </p:nvSpPr>
        <p:spPr>
          <a:xfrm>
            <a:off x="6353684" y="5765274"/>
            <a:ext cx="1354974" cy="369517"/>
          </a:xfrm>
          <a:prstGeom prst="rect">
            <a:avLst/>
          </a:prstGeom>
          <a:solidFill>
            <a:schemeClr val="tx2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b="1" dirty="0" smtClean="0"/>
              <a:t>철도공사</a:t>
            </a:r>
            <a:endParaRPr lang="en-US" altLang="ko-KR" b="1" dirty="0" smtClean="0"/>
          </a:p>
        </p:txBody>
      </p:sp>
      <p:pic>
        <p:nvPicPr>
          <p:cNvPr id="2" name="그림 1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049403" y="2415145"/>
            <a:ext cx="2293171" cy="1768780"/>
          </a:xfrm>
          <a:prstGeom prst="rect">
            <a:avLst/>
          </a:prstGeom>
        </p:spPr>
      </p:pic>
      <p:sp>
        <p:nvSpPr>
          <p:cNvPr id="26" name="직사각형 25"/>
          <p:cNvSpPr/>
          <p:nvPr/>
        </p:nvSpPr>
        <p:spPr>
          <a:xfrm>
            <a:off x="8945766" y="1986654"/>
            <a:ext cx="1127760" cy="397225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b="1" dirty="0" smtClean="0"/>
              <a:t>미래</a:t>
            </a:r>
            <a:endParaRPr lang="en-US" altLang="ko-KR" b="1" dirty="0" smtClean="0"/>
          </a:p>
        </p:txBody>
      </p:sp>
      <p:cxnSp>
        <p:nvCxnSpPr>
          <p:cNvPr id="27" name="직선 연결선 26"/>
          <p:cNvCxnSpPr/>
          <p:nvPr/>
        </p:nvCxnSpPr>
        <p:spPr>
          <a:xfrm>
            <a:off x="7708658" y="3049357"/>
            <a:ext cx="1237108" cy="897101"/>
          </a:xfrm>
          <a:prstGeom prst="line">
            <a:avLst/>
          </a:prstGeom>
          <a:ln w="19050">
            <a:solidFill>
              <a:srgbClr val="00B0F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0" name="직선 연결선 29"/>
          <p:cNvCxnSpPr/>
          <p:nvPr/>
        </p:nvCxnSpPr>
        <p:spPr>
          <a:xfrm>
            <a:off x="7708658" y="3464171"/>
            <a:ext cx="1141626" cy="703821"/>
          </a:xfrm>
          <a:prstGeom prst="line">
            <a:avLst/>
          </a:prstGeom>
          <a:ln w="19050">
            <a:solidFill>
              <a:srgbClr val="00B0F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3" name="직선 연결선 32"/>
          <p:cNvCxnSpPr>
            <a:stCxn id="21" idx="3"/>
          </p:cNvCxnSpPr>
          <p:nvPr/>
        </p:nvCxnSpPr>
        <p:spPr>
          <a:xfrm>
            <a:off x="7708658" y="3891247"/>
            <a:ext cx="1019705" cy="498279"/>
          </a:xfrm>
          <a:prstGeom prst="line">
            <a:avLst/>
          </a:prstGeom>
          <a:ln w="19050">
            <a:solidFill>
              <a:srgbClr val="00B0F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6" name="직선 연결선 35"/>
          <p:cNvCxnSpPr/>
          <p:nvPr/>
        </p:nvCxnSpPr>
        <p:spPr>
          <a:xfrm flipV="1">
            <a:off x="7708657" y="5100394"/>
            <a:ext cx="570814" cy="406292"/>
          </a:xfrm>
          <a:prstGeom prst="line">
            <a:avLst/>
          </a:prstGeom>
          <a:ln w="19050">
            <a:solidFill>
              <a:srgbClr val="00B0F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9" name="직선 연결선 38"/>
          <p:cNvCxnSpPr/>
          <p:nvPr/>
        </p:nvCxnSpPr>
        <p:spPr>
          <a:xfrm flipV="1">
            <a:off x="7708656" y="5252794"/>
            <a:ext cx="723215" cy="697238"/>
          </a:xfrm>
          <a:prstGeom prst="line">
            <a:avLst/>
          </a:prstGeom>
          <a:ln w="19050">
            <a:solidFill>
              <a:srgbClr val="00B0F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0" name="타원 39"/>
          <p:cNvSpPr/>
          <p:nvPr/>
        </p:nvSpPr>
        <p:spPr>
          <a:xfrm>
            <a:off x="1176249" y="4480062"/>
            <a:ext cx="99753" cy="108066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3" name="타원 42"/>
          <p:cNvSpPr/>
          <p:nvPr/>
        </p:nvSpPr>
        <p:spPr>
          <a:xfrm>
            <a:off x="1170709" y="4740527"/>
            <a:ext cx="99753" cy="108066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4" name="타원 43"/>
          <p:cNvSpPr/>
          <p:nvPr/>
        </p:nvSpPr>
        <p:spPr>
          <a:xfrm>
            <a:off x="1170704" y="4981593"/>
            <a:ext cx="99753" cy="108066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5" name="타원 44"/>
          <p:cNvSpPr/>
          <p:nvPr/>
        </p:nvSpPr>
        <p:spPr>
          <a:xfrm>
            <a:off x="6948037" y="4424643"/>
            <a:ext cx="99753" cy="108066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6" name="타원 45"/>
          <p:cNvSpPr/>
          <p:nvPr/>
        </p:nvSpPr>
        <p:spPr>
          <a:xfrm>
            <a:off x="6942497" y="4685108"/>
            <a:ext cx="99753" cy="108066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7" name="타원 46"/>
          <p:cNvSpPr/>
          <p:nvPr/>
        </p:nvSpPr>
        <p:spPr>
          <a:xfrm>
            <a:off x="6942492" y="4926174"/>
            <a:ext cx="99753" cy="108066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48" name="직선 연결선 47"/>
          <p:cNvCxnSpPr/>
          <p:nvPr/>
        </p:nvCxnSpPr>
        <p:spPr>
          <a:xfrm>
            <a:off x="5476277" y="0"/>
            <a:ext cx="35061" cy="6858000"/>
          </a:xfrm>
          <a:prstGeom prst="line">
            <a:avLst/>
          </a:prstGeom>
          <a:ln w="1905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0" name="직사각형 49"/>
          <p:cNvSpPr/>
          <p:nvPr/>
        </p:nvSpPr>
        <p:spPr>
          <a:xfrm>
            <a:off x="9527783" y="5562150"/>
            <a:ext cx="1287075" cy="242854"/>
          </a:xfrm>
          <a:prstGeom prst="rect">
            <a:avLst/>
          </a:prstGeom>
          <a:solidFill>
            <a:schemeClr val="tx1">
              <a:lumMod val="65000"/>
              <a:lumOff val="3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200" b="1" dirty="0" smtClean="0"/>
              <a:t>데이터센터</a:t>
            </a:r>
            <a:endParaRPr lang="en-US" altLang="ko-KR" sz="1200" b="1" dirty="0" smtClean="0"/>
          </a:p>
        </p:txBody>
      </p:sp>
    </p:spTree>
    <p:extLst>
      <p:ext uri="{BB962C8B-B14F-4D97-AF65-F5344CB8AC3E}">
        <p14:creationId xmlns:p14="http://schemas.microsoft.com/office/powerpoint/2010/main" val="3589285324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직사각형 2"/>
          <p:cNvSpPr/>
          <p:nvPr/>
        </p:nvSpPr>
        <p:spPr>
          <a:xfrm>
            <a:off x="706590" y="121917"/>
            <a:ext cx="570797" cy="1471749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500" b="1" dirty="0" smtClean="0"/>
              <a:t>기존</a:t>
            </a:r>
            <a:endParaRPr lang="en-US" altLang="ko-KR" sz="1500" b="1" dirty="0" smtClean="0"/>
          </a:p>
        </p:txBody>
      </p:sp>
      <p:sp>
        <p:nvSpPr>
          <p:cNvPr id="2" name="오른쪽 화살표 1"/>
          <p:cNvSpPr/>
          <p:nvPr/>
        </p:nvSpPr>
        <p:spPr>
          <a:xfrm>
            <a:off x="1345267" y="306541"/>
            <a:ext cx="224442" cy="191193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500"/>
          </a:p>
        </p:txBody>
      </p:sp>
      <p:sp>
        <p:nvSpPr>
          <p:cNvPr id="5" name="직사각형 4"/>
          <p:cNvSpPr/>
          <p:nvPr/>
        </p:nvSpPr>
        <p:spPr>
          <a:xfrm>
            <a:off x="1615396" y="190429"/>
            <a:ext cx="1778912" cy="410586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500" b="1" dirty="0" err="1" smtClean="0"/>
              <a:t>클라우드</a:t>
            </a:r>
            <a:r>
              <a:rPr lang="en-US" altLang="ko-KR" sz="1500" b="1" dirty="0"/>
              <a:t> </a:t>
            </a:r>
            <a:r>
              <a:rPr lang="en-US" altLang="ko-KR" sz="1500" b="1" dirty="0" smtClean="0"/>
              <a:t>(VM)</a:t>
            </a:r>
          </a:p>
        </p:txBody>
      </p:sp>
      <p:sp>
        <p:nvSpPr>
          <p:cNvPr id="6" name="오른쪽 화살표 5"/>
          <p:cNvSpPr/>
          <p:nvPr/>
        </p:nvSpPr>
        <p:spPr>
          <a:xfrm>
            <a:off x="1345267" y="1198246"/>
            <a:ext cx="224442" cy="191193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500"/>
          </a:p>
        </p:txBody>
      </p:sp>
      <p:sp>
        <p:nvSpPr>
          <p:cNvPr id="7" name="직사각형 6"/>
          <p:cNvSpPr/>
          <p:nvPr/>
        </p:nvSpPr>
        <p:spPr>
          <a:xfrm>
            <a:off x="1615396" y="1085051"/>
            <a:ext cx="1778912" cy="410586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500" b="1" dirty="0" err="1" smtClean="0"/>
              <a:t>클라우드</a:t>
            </a:r>
            <a:r>
              <a:rPr lang="en-US" altLang="ko-KR" sz="1500" b="1" dirty="0"/>
              <a:t> </a:t>
            </a:r>
            <a:r>
              <a:rPr lang="ko-KR" altLang="en-US" sz="1500" b="1" dirty="0" err="1" smtClean="0"/>
              <a:t>네이티브</a:t>
            </a:r>
            <a:endParaRPr lang="en-US" altLang="ko-KR" sz="1500" b="1" dirty="0" smtClean="0"/>
          </a:p>
        </p:txBody>
      </p:sp>
      <p:pic>
        <p:nvPicPr>
          <p:cNvPr id="9" name="그림 8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5748" y="2934393"/>
            <a:ext cx="752835" cy="764598"/>
          </a:xfrm>
          <a:prstGeom prst="rect">
            <a:avLst/>
          </a:prstGeom>
        </p:spPr>
      </p:pic>
      <p:sp>
        <p:nvSpPr>
          <p:cNvPr id="11" name="직사각형 10"/>
          <p:cNvSpPr/>
          <p:nvPr/>
        </p:nvSpPr>
        <p:spPr>
          <a:xfrm>
            <a:off x="1410388" y="2748568"/>
            <a:ext cx="487659" cy="950422"/>
          </a:xfrm>
          <a:prstGeom prst="rect">
            <a:avLst/>
          </a:prstGeom>
          <a:solidFill>
            <a:schemeClr val="tx1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100" b="1" dirty="0" smtClean="0"/>
              <a:t>업무</a:t>
            </a:r>
            <a:endParaRPr lang="en-US" altLang="ko-KR" sz="1100" b="1" dirty="0" smtClean="0"/>
          </a:p>
          <a:p>
            <a:pPr algn="ctr"/>
            <a:r>
              <a:rPr lang="en-US" altLang="ko-KR" sz="1100" b="1" dirty="0" smtClean="0"/>
              <a:t>PC</a:t>
            </a:r>
          </a:p>
        </p:txBody>
      </p:sp>
      <p:sp>
        <p:nvSpPr>
          <p:cNvPr id="12" name="직사각형 11"/>
          <p:cNvSpPr/>
          <p:nvPr/>
        </p:nvSpPr>
        <p:spPr>
          <a:xfrm>
            <a:off x="1978430" y="3158836"/>
            <a:ext cx="307571" cy="540153"/>
          </a:xfrm>
          <a:prstGeom prst="rect">
            <a:avLst/>
          </a:prstGeom>
          <a:solidFill>
            <a:schemeClr val="bg1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altLang="ko-KR" sz="800" b="1" dirty="0" smtClean="0"/>
          </a:p>
        </p:txBody>
      </p:sp>
      <p:sp>
        <p:nvSpPr>
          <p:cNvPr id="13" name="TextBox 12"/>
          <p:cNvSpPr txBox="1"/>
          <p:nvPr/>
        </p:nvSpPr>
        <p:spPr>
          <a:xfrm>
            <a:off x="3331930" y="240554"/>
            <a:ext cx="2044932" cy="3231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500" dirty="0" smtClean="0"/>
              <a:t>(</a:t>
            </a:r>
            <a:r>
              <a:rPr lang="ko-KR" altLang="en-US" sz="1500" dirty="0" err="1" smtClean="0"/>
              <a:t>외부망</a:t>
            </a:r>
            <a:r>
              <a:rPr lang="ko-KR" altLang="en-US" sz="1500" dirty="0" smtClean="0"/>
              <a:t> </a:t>
            </a:r>
            <a:r>
              <a:rPr lang="en-US" altLang="ko-KR" sz="1500" dirty="0" smtClean="0"/>
              <a:t>PC 16,000</a:t>
            </a:r>
            <a:r>
              <a:rPr lang="ko-KR" altLang="en-US" sz="1500" dirty="0" smtClean="0"/>
              <a:t>대</a:t>
            </a:r>
            <a:r>
              <a:rPr lang="en-US" altLang="ko-KR" sz="1500" dirty="0" smtClean="0"/>
              <a:t>)</a:t>
            </a:r>
            <a:endParaRPr lang="ko-KR" altLang="en-US" sz="1500" dirty="0"/>
          </a:p>
        </p:txBody>
      </p:sp>
      <p:sp>
        <p:nvSpPr>
          <p:cNvPr id="14" name="TextBox 13"/>
          <p:cNvSpPr txBox="1"/>
          <p:nvPr/>
        </p:nvSpPr>
        <p:spPr>
          <a:xfrm>
            <a:off x="3331930" y="1130277"/>
            <a:ext cx="2044932" cy="3231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500" dirty="0" smtClean="0"/>
              <a:t>(</a:t>
            </a:r>
            <a:r>
              <a:rPr lang="ko-KR" altLang="en-US" sz="1500" dirty="0" err="1" smtClean="0"/>
              <a:t>전산동</a:t>
            </a:r>
            <a:r>
              <a:rPr lang="ko-KR" altLang="en-US" sz="1500" dirty="0" smtClean="0"/>
              <a:t> 서버 전체</a:t>
            </a:r>
            <a:r>
              <a:rPr lang="en-US" altLang="ko-KR" sz="1500" dirty="0" smtClean="0"/>
              <a:t>)</a:t>
            </a:r>
            <a:endParaRPr lang="ko-KR" altLang="en-US" sz="1500" dirty="0"/>
          </a:p>
        </p:txBody>
      </p:sp>
      <p:sp>
        <p:nvSpPr>
          <p:cNvPr id="15" name="TextBox 14"/>
          <p:cNvSpPr txBox="1"/>
          <p:nvPr/>
        </p:nvSpPr>
        <p:spPr>
          <a:xfrm>
            <a:off x="1904263" y="2943392"/>
            <a:ext cx="638783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800" dirty="0" err="1" smtClean="0"/>
              <a:t>외부망</a:t>
            </a:r>
            <a:r>
              <a:rPr lang="en-US" altLang="ko-KR" sz="800" dirty="0" smtClean="0"/>
              <a:t>PC</a:t>
            </a:r>
            <a:endParaRPr lang="ko-KR" altLang="en-US" sz="800" dirty="0"/>
          </a:p>
        </p:txBody>
      </p:sp>
      <p:pic>
        <p:nvPicPr>
          <p:cNvPr id="16" name="그림 15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5748" y="3989949"/>
            <a:ext cx="752835" cy="764598"/>
          </a:xfrm>
          <a:prstGeom prst="rect">
            <a:avLst/>
          </a:prstGeom>
        </p:spPr>
      </p:pic>
      <p:sp>
        <p:nvSpPr>
          <p:cNvPr id="17" name="직사각형 16"/>
          <p:cNvSpPr/>
          <p:nvPr/>
        </p:nvSpPr>
        <p:spPr>
          <a:xfrm>
            <a:off x="1410388" y="3804124"/>
            <a:ext cx="487659" cy="950422"/>
          </a:xfrm>
          <a:prstGeom prst="rect">
            <a:avLst/>
          </a:prstGeom>
          <a:solidFill>
            <a:schemeClr val="tx1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100" b="1" dirty="0" smtClean="0"/>
              <a:t>업무</a:t>
            </a:r>
            <a:endParaRPr lang="en-US" altLang="ko-KR" sz="1100" b="1" dirty="0" smtClean="0"/>
          </a:p>
          <a:p>
            <a:pPr algn="ctr"/>
            <a:r>
              <a:rPr lang="en-US" altLang="ko-KR" sz="1100" b="1" dirty="0" smtClean="0"/>
              <a:t>PC</a:t>
            </a:r>
          </a:p>
        </p:txBody>
      </p:sp>
      <p:sp>
        <p:nvSpPr>
          <p:cNvPr id="18" name="직사각형 17"/>
          <p:cNvSpPr/>
          <p:nvPr/>
        </p:nvSpPr>
        <p:spPr>
          <a:xfrm>
            <a:off x="1978430" y="4214392"/>
            <a:ext cx="307571" cy="540153"/>
          </a:xfrm>
          <a:prstGeom prst="rect">
            <a:avLst/>
          </a:prstGeom>
          <a:solidFill>
            <a:schemeClr val="bg1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altLang="ko-KR" sz="800" b="1" dirty="0" smtClean="0"/>
          </a:p>
        </p:txBody>
      </p:sp>
      <p:sp>
        <p:nvSpPr>
          <p:cNvPr id="19" name="TextBox 18"/>
          <p:cNvSpPr txBox="1"/>
          <p:nvPr/>
        </p:nvSpPr>
        <p:spPr>
          <a:xfrm>
            <a:off x="1904263" y="3998948"/>
            <a:ext cx="638783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800" dirty="0" err="1" smtClean="0"/>
              <a:t>외부망</a:t>
            </a:r>
            <a:r>
              <a:rPr lang="en-US" altLang="ko-KR" sz="800" dirty="0" smtClean="0"/>
              <a:t>PC</a:t>
            </a:r>
            <a:endParaRPr lang="ko-KR" altLang="en-US" sz="800" dirty="0"/>
          </a:p>
        </p:txBody>
      </p:sp>
      <p:pic>
        <p:nvPicPr>
          <p:cNvPr id="24" name="그림 2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5748" y="5042562"/>
            <a:ext cx="752835" cy="764598"/>
          </a:xfrm>
          <a:prstGeom prst="rect">
            <a:avLst/>
          </a:prstGeom>
        </p:spPr>
      </p:pic>
      <p:sp>
        <p:nvSpPr>
          <p:cNvPr id="25" name="직사각형 24"/>
          <p:cNvSpPr/>
          <p:nvPr/>
        </p:nvSpPr>
        <p:spPr>
          <a:xfrm>
            <a:off x="1410388" y="4856737"/>
            <a:ext cx="487659" cy="950422"/>
          </a:xfrm>
          <a:prstGeom prst="rect">
            <a:avLst/>
          </a:prstGeom>
          <a:solidFill>
            <a:schemeClr val="tx1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100" b="1" dirty="0" smtClean="0"/>
              <a:t>업무</a:t>
            </a:r>
            <a:endParaRPr lang="en-US" altLang="ko-KR" sz="1100" b="1" dirty="0" smtClean="0"/>
          </a:p>
          <a:p>
            <a:pPr algn="ctr"/>
            <a:r>
              <a:rPr lang="en-US" altLang="ko-KR" sz="1100" b="1" dirty="0" smtClean="0"/>
              <a:t>PC</a:t>
            </a:r>
          </a:p>
        </p:txBody>
      </p:sp>
      <p:sp>
        <p:nvSpPr>
          <p:cNvPr id="26" name="직사각형 25"/>
          <p:cNvSpPr/>
          <p:nvPr/>
        </p:nvSpPr>
        <p:spPr>
          <a:xfrm>
            <a:off x="1978430" y="5267005"/>
            <a:ext cx="307571" cy="540153"/>
          </a:xfrm>
          <a:prstGeom prst="rect">
            <a:avLst/>
          </a:prstGeom>
          <a:solidFill>
            <a:schemeClr val="bg1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altLang="ko-KR" sz="800" b="1" dirty="0" smtClean="0"/>
          </a:p>
        </p:txBody>
      </p:sp>
      <p:sp>
        <p:nvSpPr>
          <p:cNvPr id="27" name="TextBox 26"/>
          <p:cNvSpPr txBox="1"/>
          <p:nvPr/>
        </p:nvSpPr>
        <p:spPr>
          <a:xfrm>
            <a:off x="1904263" y="5051561"/>
            <a:ext cx="638783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800" dirty="0" err="1" smtClean="0"/>
              <a:t>외부망</a:t>
            </a:r>
            <a:r>
              <a:rPr lang="en-US" altLang="ko-KR" sz="800" dirty="0" smtClean="0"/>
              <a:t>PC</a:t>
            </a:r>
            <a:endParaRPr lang="ko-KR" altLang="en-US" sz="800" dirty="0"/>
          </a:p>
        </p:txBody>
      </p:sp>
      <p:sp>
        <p:nvSpPr>
          <p:cNvPr id="28" name="TextBox 27"/>
          <p:cNvSpPr txBox="1"/>
          <p:nvPr/>
        </p:nvSpPr>
        <p:spPr>
          <a:xfrm>
            <a:off x="706590" y="6095174"/>
            <a:ext cx="168747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mtClean="0"/>
              <a:t>직원 </a:t>
            </a:r>
            <a:r>
              <a:rPr lang="en-US" altLang="ko-KR" dirty="0" smtClean="0"/>
              <a:t>16,000</a:t>
            </a:r>
            <a:r>
              <a:rPr lang="ko-KR" altLang="en-US" dirty="0"/>
              <a:t>명</a:t>
            </a:r>
          </a:p>
        </p:txBody>
      </p:sp>
      <p:pic>
        <p:nvPicPr>
          <p:cNvPr id="29" name="그림 28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86300" y="2945479"/>
            <a:ext cx="752835" cy="764598"/>
          </a:xfrm>
          <a:prstGeom prst="rect">
            <a:avLst/>
          </a:prstGeom>
        </p:spPr>
      </p:pic>
      <p:sp>
        <p:nvSpPr>
          <p:cNvPr id="30" name="직사각형 29"/>
          <p:cNvSpPr/>
          <p:nvPr/>
        </p:nvSpPr>
        <p:spPr>
          <a:xfrm>
            <a:off x="7680940" y="2759654"/>
            <a:ext cx="487659" cy="950422"/>
          </a:xfrm>
          <a:prstGeom prst="rect">
            <a:avLst/>
          </a:prstGeom>
          <a:solidFill>
            <a:schemeClr val="tx1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100" b="1" dirty="0" smtClean="0"/>
              <a:t>업무</a:t>
            </a:r>
            <a:endParaRPr lang="en-US" altLang="ko-KR" sz="1100" b="1" dirty="0" smtClean="0"/>
          </a:p>
          <a:p>
            <a:pPr algn="ctr"/>
            <a:r>
              <a:rPr lang="en-US" altLang="ko-KR" sz="1100" b="1" dirty="0" smtClean="0"/>
              <a:t>PC</a:t>
            </a:r>
          </a:p>
        </p:txBody>
      </p:sp>
      <p:pic>
        <p:nvPicPr>
          <p:cNvPr id="33" name="그림 32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86300" y="4001035"/>
            <a:ext cx="752835" cy="764598"/>
          </a:xfrm>
          <a:prstGeom prst="rect">
            <a:avLst/>
          </a:prstGeom>
        </p:spPr>
      </p:pic>
      <p:sp>
        <p:nvSpPr>
          <p:cNvPr id="34" name="직사각형 33"/>
          <p:cNvSpPr/>
          <p:nvPr/>
        </p:nvSpPr>
        <p:spPr>
          <a:xfrm>
            <a:off x="7680940" y="3815210"/>
            <a:ext cx="487659" cy="950422"/>
          </a:xfrm>
          <a:prstGeom prst="rect">
            <a:avLst/>
          </a:prstGeom>
          <a:solidFill>
            <a:schemeClr val="tx1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100" b="1" dirty="0" smtClean="0"/>
              <a:t>업무</a:t>
            </a:r>
            <a:endParaRPr lang="en-US" altLang="ko-KR" sz="1100" b="1" dirty="0" smtClean="0"/>
          </a:p>
          <a:p>
            <a:pPr algn="ctr"/>
            <a:r>
              <a:rPr lang="en-US" altLang="ko-KR" sz="1100" b="1" dirty="0" smtClean="0"/>
              <a:t>PC</a:t>
            </a:r>
          </a:p>
        </p:txBody>
      </p:sp>
      <p:pic>
        <p:nvPicPr>
          <p:cNvPr id="37" name="그림 36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86300" y="5053648"/>
            <a:ext cx="752835" cy="764598"/>
          </a:xfrm>
          <a:prstGeom prst="rect">
            <a:avLst/>
          </a:prstGeom>
        </p:spPr>
      </p:pic>
      <p:sp>
        <p:nvSpPr>
          <p:cNvPr id="38" name="직사각형 37"/>
          <p:cNvSpPr/>
          <p:nvPr/>
        </p:nvSpPr>
        <p:spPr>
          <a:xfrm>
            <a:off x="7680940" y="4867823"/>
            <a:ext cx="487659" cy="950422"/>
          </a:xfrm>
          <a:prstGeom prst="rect">
            <a:avLst/>
          </a:prstGeom>
          <a:solidFill>
            <a:schemeClr val="tx1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100" b="1" dirty="0" smtClean="0"/>
              <a:t>업무</a:t>
            </a:r>
            <a:endParaRPr lang="en-US" altLang="ko-KR" sz="1100" b="1" dirty="0" smtClean="0"/>
          </a:p>
          <a:p>
            <a:pPr algn="ctr"/>
            <a:r>
              <a:rPr lang="en-US" altLang="ko-KR" sz="1100" b="1" dirty="0" smtClean="0"/>
              <a:t>PC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977142" y="6106260"/>
            <a:ext cx="168747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dirty="0" smtClean="0"/>
              <a:t>직원 </a:t>
            </a:r>
            <a:r>
              <a:rPr lang="en-US" altLang="ko-KR" dirty="0" smtClean="0"/>
              <a:t>16,000</a:t>
            </a:r>
            <a:r>
              <a:rPr lang="ko-KR" altLang="en-US" dirty="0"/>
              <a:t>명</a:t>
            </a:r>
          </a:p>
        </p:txBody>
      </p:sp>
      <p:sp>
        <p:nvSpPr>
          <p:cNvPr id="43" name="직사각형 42"/>
          <p:cNvSpPr/>
          <p:nvPr/>
        </p:nvSpPr>
        <p:spPr>
          <a:xfrm>
            <a:off x="10099964" y="3466407"/>
            <a:ext cx="756417" cy="1737360"/>
          </a:xfrm>
          <a:prstGeom prst="rect">
            <a:avLst/>
          </a:prstGeom>
          <a:solidFill>
            <a:schemeClr val="tx1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100" b="1" dirty="0" err="1" smtClean="0"/>
              <a:t>클라우드</a:t>
            </a:r>
            <a:endParaRPr lang="en-US" altLang="ko-KR" sz="1100" b="1" dirty="0" smtClean="0"/>
          </a:p>
          <a:p>
            <a:pPr algn="ctr"/>
            <a:endParaRPr lang="en-US" altLang="ko-KR" sz="1100" b="1" dirty="0" smtClean="0"/>
          </a:p>
          <a:p>
            <a:pPr algn="ctr"/>
            <a:r>
              <a:rPr lang="ko-KR" altLang="en-US" sz="1100" b="1" dirty="0" smtClean="0"/>
              <a:t>서버</a:t>
            </a:r>
            <a:endParaRPr lang="en-US" altLang="ko-KR" sz="1100" b="1" dirty="0" smtClean="0"/>
          </a:p>
        </p:txBody>
      </p:sp>
      <p:sp>
        <p:nvSpPr>
          <p:cNvPr id="44" name="TextBox 43"/>
          <p:cNvSpPr txBox="1"/>
          <p:nvPr/>
        </p:nvSpPr>
        <p:spPr>
          <a:xfrm>
            <a:off x="10143514" y="5203767"/>
            <a:ext cx="771827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200" dirty="0" err="1" smtClean="0"/>
              <a:t>전산동</a:t>
            </a:r>
            <a:endParaRPr lang="ko-KR" altLang="en-US" sz="1200" dirty="0"/>
          </a:p>
        </p:txBody>
      </p:sp>
      <p:cxnSp>
        <p:nvCxnSpPr>
          <p:cNvPr id="45" name="직선 연결선 44"/>
          <p:cNvCxnSpPr/>
          <p:nvPr/>
        </p:nvCxnSpPr>
        <p:spPr>
          <a:xfrm>
            <a:off x="4746171" y="1593666"/>
            <a:ext cx="18501" cy="5264334"/>
          </a:xfrm>
          <a:prstGeom prst="line">
            <a:avLst/>
          </a:prstGeom>
          <a:ln w="1905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6" name="직선 화살표 연결선 35"/>
          <p:cNvCxnSpPr>
            <a:endCxn id="43" idx="0"/>
          </p:cNvCxnSpPr>
          <p:nvPr/>
        </p:nvCxnSpPr>
        <p:spPr>
          <a:xfrm>
            <a:off x="5278461" y="497734"/>
            <a:ext cx="5199712" cy="2968673"/>
          </a:xfrm>
          <a:prstGeom prst="straightConnector1">
            <a:avLst/>
          </a:prstGeom>
          <a:ln w="28575">
            <a:solidFill>
              <a:srgbClr val="00B0F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9" name="TextBox 38"/>
          <p:cNvSpPr txBox="1"/>
          <p:nvPr/>
        </p:nvSpPr>
        <p:spPr>
          <a:xfrm>
            <a:off x="7464147" y="1463970"/>
            <a:ext cx="1453430" cy="3231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500" b="1" dirty="0" err="1" smtClean="0"/>
              <a:t>클라우드</a:t>
            </a:r>
            <a:r>
              <a:rPr lang="ko-KR" altLang="en-US" sz="1500" b="1" dirty="0" smtClean="0"/>
              <a:t> 전환</a:t>
            </a:r>
            <a:endParaRPr lang="ko-KR" altLang="en-US" sz="1500" b="1" dirty="0"/>
          </a:p>
        </p:txBody>
      </p:sp>
      <p:sp>
        <p:nvSpPr>
          <p:cNvPr id="40" name="TextBox 39"/>
          <p:cNvSpPr txBox="1"/>
          <p:nvPr/>
        </p:nvSpPr>
        <p:spPr>
          <a:xfrm>
            <a:off x="869739" y="2152313"/>
            <a:ext cx="2056616" cy="44627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2300" b="1" dirty="0" smtClean="0"/>
              <a:t>기존 </a:t>
            </a:r>
            <a:r>
              <a:rPr lang="en-US" altLang="ko-KR" sz="2300" b="1" dirty="0" smtClean="0"/>
              <a:t>(2015</a:t>
            </a:r>
            <a:r>
              <a:rPr lang="ko-KR" altLang="en-US" sz="2300" b="1" dirty="0" smtClean="0"/>
              <a:t>년</a:t>
            </a:r>
            <a:r>
              <a:rPr lang="en-US" altLang="ko-KR" sz="2300" b="1" dirty="0" smtClean="0"/>
              <a:t>)</a:t>
            </a:r>
            <a:endParaRPr lang="ko-KR" altLang="en-US" sz="2300" b="1" dirty="0"/>
          </a:p>
        </p:txBody>
      </p:sp>
    </p:spTree>
    <p:extLst>
      <p:ext uri="{BB962C8B-B14F-4D97-AF65-F5344CB8AC3E}">
        <p14:creationId xmlns:p14="http://schemas.microsoft.com/office/powerpoint/2010/main" val="2893558957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직사각형 41"/>
          <p:cNvSpPr/>
          <p:nvPr/>
        </p:nvSpPr>
        <p:spPr>
          <a:xfrm>
            <a:off x="274320" y="224444"/>
            <a:ext cx="2086496" cy="498763"/>
          </a:xfrm>
          <a:prstGeom prst="rect">
            <a:avLst/>
          </a:prstGeom>
          <a:solidFill>
            <a:srgbClr val="00B0F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2300" b="1" dirty="0" smtClean="0"/>
              <a:t>자원 절감</a:t>
            </a:r>
            <a:endParaRPr lang="en-US" altLang="ko-KR" sz="2300" b="1" dirty="0" smtClean="0"/>
          </a:p>
        </p:txBody>
      </p:sp>
      <p:sp>
        <p:nvSpPr>
          <p:cNvPr id="3" name="직사각형 2"/>
          <p:cNvSpPr/>
          <p:nvPr/>
        </p:nvSpPr>
        <p:spPr>
          <a:xfrm>
            <a:off x="453690" y="3718061"/>
            <a:ext cx="307571" cy="540153"/>
          </a:xfrm>
          <a:prstGeom prst="rect">
            <a:avLst/>
          </a:prstGeom>
          <a:solidFill>
            <a:schemeClr val="bg1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altLang="ko-KR" sz="800" b="1" dirty="0" smtClean="0"/>
          </a:p>
        </p:txBody>
      </p:sp>
      <p:sp>
        <p:nvSpPr>
          <p:cNvPr id="4" name="TextBox 3"/>
          <p:cNvSpPr txBox="1"/>
          <p:nvPr/>
        </p:nvSpPr>
        <p:spPr>
          <a:xfrm>
            <a:off x="379523" y="3502617"/>
            <a:ext cx="638783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800" dirty="0" err="1" smtClean="0"/>
              <a:t>외부망</a:t>
            </a:r>
            <a:r>
              <a:rPr lang="en-US" altLang="ko-KR" sz="800" dirty="0" smtClean="0"/>
              <a:t>PC</a:t>
            </a:r>
            <a:endParaRPr lang="ko-KR" altLang="en-US" sz="800" dirty="0"/>
          </a:p>
        </p:txBody>
      </p:sp>
      <p:sp>
        <p:nvSpPr>
          <p:cNvPr id="6" name="TextBox 5"/>
          <p:cNvSpPr txBox="1"/>
          <p:nvPr/>
        </p:nvSpPr>
        <p:spPr>
          <a:xfrm>
            <a:off x="274320" y="4258214"/>
            <a:ext cx="1687475" cy="76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dirty="0" err="1" smtClean="0"/>
              <a:t>외부망</a:t>
            </a:r>
            <a:r>
              <a:rPr lang="ko-KR" altLang="en-US" dirty="0" smtClean="0"/>
              <a:t> </a:t>
            </a:r>
            <a:r>
              <a:rPr lang="en-US" altLang="ko-KR" dirty="0" smtClean="0"/>
              <a:t>PC</a:t>
            </a:r>
          </a:p>
          <a:p>
            <a:endParaRPr lang="en-US" altLang="ko-KR" sz="800" dirty="0" smtClean="0"/>
          </a:p>
          <a:p>
            <a:r>
              <a:rPr lang="en-US" altLang="ko-KR" dirty="0" smtClean="0"/>
              <a:t>16,000</a:t>
            </a:r>
            <a:r>
              <a:rPr lang="ko-KR" altLang="en-US" dirty="0" smtClean="0"/>
              <a:t>대 절감</a:t>
            </a:r>
            <a:endParaRPr lang="ko-KR" altLang="en-US" dirty="0"/>
          </a:p>
        </p:txBody>
      </p:sp>
      <p:pic>
        <p:nvPicPr>
          <p:cNvPr id="7" name="그림 6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00454" y="2945479"/>
            <a:ext cx="752835" cy="764598"/>
          </a:xfrm>
          <a:prstGeom prst="rect">
            <a:avLst/>
          </a:prstGeom>
        </p:spPr>
      </p:pic>
      <p:sp>
        <p:nvSpPr>
          <p:cNvPr id="8" name="직사각형 7"/>
          <p:cNvSpPr/>
          <p:nvPr/>
        </p:nvSpPr>
        <p:spPr>
          <a:xfrm>
            <a:off x="8695094" y="2759654"/>
            <a:ext cx="487659" cy="950422"/>
          </a:xfrm>
          <a:prstGeom prst="rect">
            <a:avLst/>
          </a:prstGeom>
          <a:solidFill>
            <a:schemeClr val="tx1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100" b="1" dirty="0" smtClean="0"/>
              <a:t>업무</a:t>
            </a:r>
            <a:endParaRPr lang="en-US" altLang="ko-KR" sz="1100" b="1" dirty="0" smtClean="0"/>
          </a:p>
          <a:p>
            <a:pPr algn="ctr"/>
            <a:r>
              <a:rPr lang="en-US" altLang="ko-KR" sz="1100" b="1" dirty="0" smtClean="0"/>
              <a:t>PC</a:t>
            </a:r>
          </a:p>
        </p:txBody>
      </p:sp>
      <p:pic>
        <p:nvPicPr>
          <p:cNvPr id="9" name="그림 8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00454" y="4001035"/>
            <a:ext cx="752835" cy="764598"/>
          </a:xfrm>
          <a:prstGeom prst="rect">
            <a:avLst/>
          </a:prstGeom>
        </p:spPr>
      </p:pic>
      <p:sp>
        <p:nvSpPr>
          <p:cNvPr id="10" name="직사각형 9"/>
          <p:cNvSpPr/>
          <p:nvPr/>
        </p:nvSpPr>
        <p:spPr>
          <a:xfrm>
            <a:off x="8695094" y="3815210"/>
            <a:ext cx="487659" cy="950422"/>
          </a:xfrm>
          <a:prstGeom prst="rect">
            <a:avLst/>
          </a:prstGeom>
          <a:solidFill>
            <a:schemeClr val="tx1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100" b="1" dirty="0" smtClean="0"/>
              <a:t>업무</a:t>
            </a:r>
            <a:endParaRPr lang="en-US" altLang="ko-KR" sz="1100" b="1" dirty="0" smtClean="0"/>
          </a:p>
          <a:p>
            <a:pPr algn="ctr"/>
            <a:r>
              <a:rPr lang="en-US" altLang="ko-KR" sz="1100" b="1" dirty="0" smtClean="0"/>
              <a:t>PC</a:t>
            </a:r>
          </a:p>
        </p:txBody>
      </p:sp>
      <p:pic>
        <p:nvPicPr>
          <p:cNvPr id="11" name="그림 10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00454" y="5053648"/>
            <a:ext cx="752835" cy="764598"/>
          </a:xfrm>
          <a:prstGeom prst="rect">
            <a:avLst/>
          </a:prstGeom>
        </p:spPr>
      </p:pic>
      <p:sp>
        <p:nvSpPr>
          <p:cNvPr id="12" name="직사각형 11"/>
          <p:cNvSpPr/>
          <p:nvPr/>
        </p:nvSpPr>
        <p:spPr>
          <a:xfrm>
            <a:off x="8695094" y="4867823"/>
            <a:ext cx="487659" cy="950422"/>
          </a:xfrm>
          <a:prstGeom prst="rect">
            <a:avLst/>
          </a:prstGeom>
          <a:solidFill>
            <a:schemeClr val="tx1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100" b="1" dirty="0" smtClean="0"/>
              <a:t>업무</a:t>
            </a:r>
            <a:endParaRPr lang="en-US" altLang="ko-KR" sz="1100" b="1" dirty="0" smtClean="0"/>
          </a:p>
          <a:p>
            <a:pPr algn="ctr"/>
            <a:r>
              <a:rPr lang="en-US" altLang="ko-KR" sz="1100" b="1" dirty="0" smtClean="0"/>
              <a:t>PC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991296" y="6106260"/>
            <a:ext cx="168747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dirty="0" smtClean="0"/>
              <a:t>직원 </a:t>
            </a:r>
            <a:r>
              <a:rPr lang="en-US" altLang="ko-KR" dirty="0" smtClean="0"/>
              <a:t>16,000</a:t>
            </a:r>
            <a:r>
              <a:rPr lang="ko-KR" altLang="en-US" dirty="0"/>
              <a:t>명</a:t>
            </a:r>
          </a:p>
        </p:txBody>
      </p:sp>
      <p:sp>
        <p:nvSpPr>
          <p:cNvPr id="14" name="직사각형 13"/>
          <p:cNvSpPr/>
          <p:nvPr/>
        </p:nvSpPr>
        <p:spPr>
          <a:xfrm>
            <a:off x="10440786" y="3466407"/>
            <a:ext cx="756417" cy="1737360"/>
          </a:xfrm>
          <a:prstGeom prst="rect">
            <a:avLst/>
          </a:prstGeom>
          <a:solidFill>
            <a:schemeClr val="tx1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altLang="ko-KR" sz="1100" b="1" dirty="0" smtClean="0"/>
          </a:p>
        </p:txBody>
      </p:sp>
      <p:sp>
        <p:nvSpPr>
          <p:cNvPr id="15" name="TextBox 14"/>
          <p:cNvSpPr txBox="1"/>
          <p:nvPr/>
        </p:nvSpPr>
        <p:spPr>
          <a:xfrm>
            <a:off x="10740044" y="2683637"/>
            <a:ext cx="1546168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200" dirty="0" smtClean="0"/>
              <a:t>VM 3,000</a:t>
            </a:r>
            <a:r>
              <a:rPr lang="ko-KR" altLang="en-US" sz="1200" dirty="0" smtClean="0"/>
              <a:t>개로 분해</a:t>
            </a:r>
            <a:endParaRPr lang="ko-KR" altLang="en-US" sz="1200" dirty="0"/>
          </a:p>
        </p:txBody>
      </p:sp>
      <p:pic>
        <p:nvPicPr>
          <p:cNvPr id="16" name="그림 15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465733" y="3604626"/>
            <a:ext cx="706522" cy="1034184"/>
          </a:xfrm>
          <a:prstGeom prst="rect">
            <a:avLst/>
          </a:prstGeom>
        </p:spPr>
      </p:pic>
      <p:cxnSp>
        <p:nvCxnSpPr>
          <p:cNvPr id="18" name="직선 연결선 17"/>
          <p:cNvCxnSpPr/>
          <p:nvPr/>
        </p:nvCxnSpPr>
        <p:spPr>
          <a:xfrm flipH="1">
            <a:off x="11055928" y="2945479"/>
            <a:ext cx="141275" cy="764597"/>
          </a:xfrm>
          <a:prstGeom prst="line">
            <a:avLst/>
          </a:prstGeom>
          <a:ln w="19050">
            <a:solidFill>
              <a:srgbClr val="00B0F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" name="직사각형 20"/>
          <p:cNvSpPr/>
          <p:nvPr/>
        </p:nvSpPr>
        <p:spPr>
          <a:xfrm>
            <a:off x="1205349" y="2659204"/>
            <a:ext cx="1475502" cy="78483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altLang="ko-KR" sz="1500" dirty="0"/>
              <a:t>CPU: </a:t>
            </a:r>
            <a:r>
              <a:rPr lang="en-US" altLang="ko-KR" sz="1500" dirty="0" smtClean="0"/>
              <a:t>1</a:t>
            </a:r>
            <a:r>
              <a:rPr lang="ko-KR" altLang="en-US" sz="1500" dirty="0" smtClean="0"/>
              <a:t>코어</a:t>
            </a:r>
            <a:endParaRPr lang="ko-KR" altLang="en-US" sz="1500" dirty="0"/>
          </a:p>
          <a:p>
            <a:r>
              <a:rPr lang="ko-KR" altLang="en-US" sz="1500" dirty="0"/>
              <a:t>램</a:t>
            </a:r>
            <a:r>
              <a:rPr lang="en-US" altLang="ko-KR" sz="1500" dirty="0"/>
              <a:t>: 4GB</a:t>
            </a:r>
          </a:p>
          <a:p>
            <a:r>
              <a:rPr lang="ko-KR" altLang="en-US" sz="1500" dirty="0"/>
              <a:t>디스크</a:t>
            </a:r>
            <a:r>
              <a:rPr lang="en-US" altLang="ko-KR" sz="1500" dirty="0"/>
              <a:t>: 256GB</a:t>
            </a:r>
            <a:endParaRPr lang="ko-KR" altLang="en-US" sz="1500" dirty="0"/>
          </a:p>
        </p:txBody>
      </p:sp>
      <p:sp>
        <p:nvSpPr>
          <p:cNvPr id="22" name="모서리가 둥근 사각형 설명선 21"/>
          <p:cNvSpPr/>
          <p:nvPr/>
        </p:nvSpPr>
        <p:spPr>
          <a:xfrm>
            <a:off x="1118057" y="2576764"/>
            <a:ext cx="1596043" cy="1027862"/>
          </a:xfrm>
          <a:prstGeom prst="wedgeRoundRectCallout">
            <a:avLst>
              <a:gd name="adj1" fmla="val -71944"/>
              <a:gd name="adj2" fmla="val 75632"/>
              <a:gd name="adj3" fmla="val 16667"/>
            </a:avLst>
          </a:prstGeom>
          <a:noFill/>
          <a:ln w="952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24" name="직선 연결선 23"/>
          <p:cNvCxnSpPr/>
          <p:nvPr/>
        </p:nvCxnSpPr>
        <p:spPr>
          <a:xfrm>
            <a:off x="3110936" y="723207"/>
            <a:ext cx="11154" cy="6134793"/>
          </a:xfrm>
          <a:prstGeom prst="line">
            <a:avLst/>
          </a:prstGeom>
          <a:ln w="1905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6" name="직사각형 25"/>
          <p:cNvSpPr/>
          <p:nvPr/>
        </p:nvSpPr>
        <p:spPr>
          <a:xfrm>
            <a:off x="5120247" y="1018713"/>
            <a:ext cx="1371992" cy="73866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altLang="ko-KR" sz="1200" dirty="0"/>
              <a:t>CPU: </a:t>
            </a:r>
            <a:r>
              <a:rPr lang="en-US" altLang="ko-KR" sz="1200" dirty="0" smtClean="0"/>
              <a:t>16,000</a:t>
            </a:r>
            <a:r>
              <a:rPr lang="ko-KR" altLang="en-US" sz="1200" dirty="0" smtClean="0"/>
              <a:t>코어</a:t>
            </a:r>
            <a:endParaRPr lang="ko-KR" altLang="en-US" sz="1200" dirty="0"/>
          </a:p>
          <a:p>
            <a:endParaRPr lang="en-US" altLang="ko-KR" sz="300" dirty="0" smtClean="0"/>
          </a:p>
          <a:p>
            <a:r>
              <a:rPr lang="ko-KR" altLang="en-US" sz="1200" dirty="0" smtClean="0"/>
              <a:t>램</a:t>
            </a:r>
            <a:r>
              <a:rPr lang="en-US" altLang="ko-KR" sz="1200" dirty="0"/>
              <a:t>: </a:t>
            </a:r>
            <a:r>
              <a:rPr lang="en-US" altLang="ko-KR" sz="1200" dirty="0" smtClean="0"/>
              <a:t>64,000GB</a:t>
            </a:r>
          </a:p>
          <a:p>
            <a:endParaRPr lang="en-US" altLang="ko-KR" sz="300" dirty="0"/>
          </a:p>
          <a:p>
            <a:r>
              <a:rPr lang="ko-KR" altLang="en-US" sz="1200" dirty="0"/>
              <a:t>디스크</a:t>
            </a:r>
            <a:r>
              <a:rPr lang="en-US" altLang="ko-KR" sz="1200" dirty="0"/>
              <a:t>: </a:t>
            </a:r>
            <a:r>
              <a:rPr lang="en-US" altLang="ko-KR" sz="1200" dirty="0" smtClean="0"/>
              <a:t>4,000TB</a:t>
            </a:r>
            <a:endParaRPr lang="ko-KR" altLang="en-US" sz="1200" dirty="0"/>
          </a:p>
        </p:txBody>
      </p:sp>
      <p:sp>
        <p:nvSpPr>
          <p:cNvPr id="27" name="TextBox 26"/>
          <p:cNvSpPr txBox="1"/>
          <p:nvPr/>
        </p:nvSpPr>
        <p:spPr>
          <a:xfrm>
            <a:off x="3771561" y="1018713"/>
            <a:ext cx="147376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b="1" dirty="0" smtClean="0"/>
              <a:t>16,000</a:t>
            </a:r>
            <a:r>
              <a:rPr lang="ko-KR" altLang="en-US" b="1" dirty="0" smtClean="0"/>
              <a:t>명 분</a:t>
            </a:r>
            <a:endParaRPr lang="ko-KR" altLang="en-US" b="1" dirty="0"/>
          </a:p>
        </p:txBody>
      </p:sp>
      <p:sp>
        <p:nvSpPr>
          <p:cNvPr id="28" name="TextBox 27"/>
          <p:cNvSpPr txBox="1"/>
          <p:nvPr/>
        </p:nvSpPr>
        <p:spPr>
          <a:xfrm>
            <a:off x="3816400" y="4084980"/>
            <a:ext cx="147376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b="1" dirty="0" smtClean="0"/>
              <a:t>3,000</a:t>
            </a:r>
            <a:r>
              <a:rPr lang="ko-KR" altLang="en-US" b="1" dirty="0" smtClean="0"/>
              <a:t>명 분</a:t>
            </a:r>
            <a:endParaRPr lang="ko-KR" altLang="en-US" b="1" dirty="0"/>
          </a:p>
        </p:txBody>
      </p:sp>
      <p:sp>
        <p:nvSpPr>
          <p:cNvPr id="29" name="직사각형 28"/>
          <p:cNvSpPr/>
          <p:nvPr/>
        </p:nvSpPr>
        <p:spPr>
          <a:xfrm>
            <a:off x="5046504" y="4049105"/>
            <a:ext cx="1371992" cy="73866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altLang="ko-KR" sz="1200" dirty="0"/>
              <a:t>CPU: </a:t>
            </a:r>
            <a:r>
              <a:rPr lang="en-US" altLang="ko-KR" sz="1200" dirty="0" smtClean="0"/>
              <a:t>3,000</a:t>
            </a:r>
            <a:r>
              <a:rPr lang="ko-KR" altLang="en-US" sz="1200" dirty="0" smtClean="0"/>
              <a:t>코어</a:t>
            </a:r>
            <a:endParaRPr lang="ko-KR" altLang="en-US" sz="1200" dirty="0"/>
          </a:p>
          <a:p>
            <a:endParaRPr lang="en-US" altLang="ko-KR" sz="300" dirty="0" smtClean="0"/>
          </a:p>
          <a:p>
            <a:r>
              <a:rPr lang="ko-KR" altLang="en-US" sz="1200" dirty="0" smtClean="0"/>
              <a:t>램</a:t>
            </a:r>
            <a:r>
              <a:rPr lang="en-US" altLang="ko-KR" sz="1200" dirty="0"/>
              <a:t>: </a:t>
            </a:r>
            <a:r>
              <a:rPr lang="en-US" altLang="ko-KR" sz="1200" dirty="0" smtClean="0"/>
              <a:t>12,000GB</a:t>
            </a:r>
          </a:p>
          <a:p>
            <a:endParaRPr lang="en-US" altLang="ko-KR" sz="300" dirty="0"/>
          </a:p>
          <a:p>
            <a:r>
              <a:rPr lang="ko-KR" altLang="en-US" sz="1200" dirty="0"/>
              <a:t>디스크</a:t>
            </a:r>
            <a:r>
              <a:rPr lang="en-US" altLang="ko-KR" sz="1200" dirty="0"/>
              <a:t>: </a:t>
            </a:r>
            <a:r>
              <a:rPr lang="en-US" altLang="ko-KR" sz="1200" dirty="0" smtClean="0"/>
              <a:t>768TB</a:t>
            </a:r>
            <a:endParaRPr lang="ko-KR" altLang="en-US" sz="1200" dirty="0"/>
          </a:p>
        </p:txBody>
      </p:sp>
      <p:sp>
        <p:nvSpPr>
          <p:cNvPr id="30" name="오른쪽 화살표 29"/>
          <p:cNvSpPr/>
          <p:nvPr/>
        </p:nvSpPr>
        <p:spPr>
          <a:xfrm rot="5400000">
            <a:off x="3203488" y="2405761"/>
            <a:ext cx="2556345" cy="661504"/>
          </a:xfrm>
          <a:prstGeom prst="rightArrow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500"/>
          </a:p>
        </p:txBody>
      </p:sp>
      <p:sp>
        <p:nvSpPr>
          <p:cNvPr id="31" name="직사각형 30"/>
          <p:cNvSpPr/>
          <p:nvPr/>
        </p:nvSpPr>
        <p:spPr>
          <a:xfrm>
            <a:off x="4580993" y="2498972"/>
            <a:ext cx="1441901" cy="32316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ko-KR" altLang="en-US" sz="1500" dirty="0" err="1" smtClean="0"/>
              <a:t>클라우드</a:t>
            </a:r>
            <a:r>
              <a:rPr lang="ko-KR" altLang="en-US" sz="1500" dirty="0" smtClean="0"/>
              <a:t> 전환</a:t>
            </a:r>
            <a:endParaRPr lang="ko-KR" altLang="en-US" sz="1500" dirty="0"/>
          </a:p>
        </p:txBody>
      </p:sp>
      <p:pic>
        <p:nvPicPr>
          <p:cNvPr id="32" name="그림 31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5330" y="5635334"/>
            <a:ext cx="706522" cy="1034184"/>
          </a:xfrm>
          <a:prstGeom prst="rect">
            <a:avLst/>
          </a:prstGeom>
        </p:spPr>
      </p:pic>
      <p:sp>
        <p:nvSpPr>
          <p:cNvPr id="33" name="TextBox 32"/>
          <p:cNvSpPr txBox="1"/>
          <p:nvPr/>
        </p:nvSpPr>
        <p:spPr>
          <a:xfrm>
            <a:off x="5186751" y="5400937"/>
            <a:ext cx="1546168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200" dirty="0" smtClean="0"/>
              <a:t>VM 3,000</a:t>
            </a:r>
            <a:r>
              <a:rPr lang="ko-KR" altLang="en-US" sz="1200" dirty="0" smtClean="0"/>
              <a:t>개로 분해</a:t>
            </a:r>
            <a:endParaRPr lang="ko-KR" altLang="en-US" sz="1200" dirty="0"/>
          </a:p>
        </p:txBody>
      </p:sp>
      <p:sp>
        <p:nvSpPr>
          <p:cNvPr id="34" name="TextBox 33"/>
          <p:cNvSpPr txBox="1"/>
          <p:nvPr/>
        </p:nvSpPr>
        <p:spPr>
          <a:xfrm>
            <a:off x="3662864" y="6013927"/>
            <a:ext cx="732276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200" b="1" dirty="0" smtClean="0"/>
              <a:t>VM 1</a:t>
            </a:r>
            <a:r>
              <a:rPr lang="ko-KR" altLang="en-US" sz="1200" b="1" dirty="0" smtClean="0"/>
              <a:t>개</a:t>
            </a:r>
            <a:endParaRPr lang="ko-KR" altLang="en-US" sz="1200" b="1" dirty="0"/>
          </a:p>
        </p:txBody>
      </p:sp>
      <p:sp>
        <p:nvSpPr>
          <p:cNvPr id="35" name="TextBox 34"/>
          <p:cNvSpPr txBox="1"/>
          <p:nvPr/>
        </p:nvSpPr>
        <p:spPr>
          <a:xfrm>
            <a:off x="4264825" y="6019372"/>
            <a:ext cx="1022748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000" dirty="0" smtClean="0"/>
              <a:t>CPU: 1</a:t>
            </a:r>
            <a:r>
              <a:rPr lang="ko-KR" altLang="en-US" sz="1000" dirty="0" smtClean="0"/>
              <a:t>코어</a:t>
            </a:r>
            <a:endParaRPr lang="en-US" altLang="ko-KR" sz="1000" dirty="0" smtClean="0"/>
          </a:p>
          <a:p>
            <a:endParaRPr lang="en-US" altLang="ko-KR" sz="300" dirty="0"/>
          </a:p>
          <a:p>
            <a:r>
              <a:rPr lang="ko-KR" altLang="en-US" sz="1000" dirty="0" smtClean="0"/>
              <a:t>램</a:t>
            </a:r>
            <a:r>
              <a:rPr lang="en-US" altLang="ko-KR" sz="1000" dirty="0" smtClean="0"/>
              <a:t>:</a:t>
            </a:r>
            <a:r>
              <a:rPr lang="ko-KR" altLang="en-US" sz="1000" dirty="0" smtClean="0"/>
              <a:t> </a:t>
            </a:r>
            <a:r>
              <a:rPr lang="en-US" altLang="ko-KR" sz="1000" dirty="0" smtClean="0"/>
              <a:t>4GB</a:t>
            </a:r>
          </a:p>
          <a:p>
            <a:endParaRPr lang="en-US" altLang="ko-KR" sz="300" dirty="0"/>
          </a:p>
          <a:p>
            <a:r>
              <a:rPr lang="ko-KR" altLang="en-US" sz="1000" dirty="0" smtClean="0"/>
              <a:t>디스크</a:t>
            </a:r>
            <a:r>
              <a:rPr lang="en-US" altLang="ko-KR" sz="1000" dirty="0" smtClean="0"/>
              <a:t>: 256GB</a:t>
            </a:r>
            <a:endParaRPr lang="ko-KR" altLang="en-US" sz="1000" dirty="0"/>
          </a:p>
        </p:txBody>
      </p:sp>
      <p:cxnSp>
        <p:nvCxnSpPr>
          <p:cNvPr id="37" name="직선 연결선 36"/>
          <p:cNvCxnSpPr/>
          <p:nvPr/>
        </p:nvCxnSpPr>
        <p:spPr>
          <a:xfrm>
            <a:off x="7236125" y="726166"/>
            <a:ext cx="11154" cy="6134793"/>
          </a:xfrm>
          <a:prstGeom prst="line">
            <a:avLst/>
          </a:prstGeom>
          <a:ln w="1905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8" name="TextBox 37"/>
          <p:cNvSpPr txBox="1"/>
          <p:nvPr/>
        </p:nvSpPr>
        <p:spPr>
          <a:xfrm>
            <a:off x="3709502" y="657873"/>
            <a:ext cx="123010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dirty="0" err="1" smtClean="0"/>
              <a:t>외부망</a:t>
            </a:r>
            <a:r>
              <a:rPr lang="ko-KR" altLang="en-US" dirty="0" smtClean="0"/>
              <a:t> </a:t>
            </a:r>
            <a:r>
              <a:rPr lang="en-US" altLang="ko-KR" dirty="0" smtClean="0"/>
              <a:t>PC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631815898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직사각형 41"/>
          <p:cNvSpPr/>
          <p:nvPr/>
        </p:nvSpPr>
        <p:spPr>
          <a:xfrm>
            <a:off x="274320" y="224444"/>
            <a:ext cx="2086496" cy="498763"/>
          </a:xfrm>
          <a:prstGeom prst="rect">
            <a:avLst/>
          </a:prstGeom>
          <a:solidFill>
            <a:srgbClr val="00B0F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2300" b="1" dirty="0" smtClean="0"/>
              <a:t>자원 절감</a:t>
            </a:r>
            <a:endParaRPr lang="en-US" altLang="ko-KR" sz="2300" b="1" dirty="0" smtClean="0"/>
          </a:p>
        </p:txBody>
      </p:sp>
      <p:sp>
        <p:nvSpPr>
          <p:cNvPr id="28" name="TextBox 27"/>
          <p:cNvSpPr txBox="1"/>
          <p:nvPr/>
        </p:nvSpPr>
        <p:spPr>
          <a:xfrm>
            <a:off x="836192" y="2209136"/>
            <a:ext cx="147376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b="1" dirty="0" smtClean="0"/>
              <a:t>3,000</a:t>
            </a:r>
            <a:r>
              <a:rPr lang="ko-KR" altLang="en-US" b="1" dirty="0" smtClean="0"/>
              <a:t>명 분</a:t>
            </a:r>
            <a:endParaRPr lang="ko-KR" altLang="en-US" b="1" dirty="0"/>
          </a:p>
        </p:txBody>
      </p:sp>
      <p:sp>
        <p:nvSpPr>
          <p:cNvPr id="29" name="직사각형 28"/>
          <p:cNvSpPr/>
          <p:nvPr/>
        </p:nvSpPr>
        <p:spPr>
          <a:xfrm>
            <a:off x="2066296" y="2173261"/>
            <a:ext cx="1371992" cy="98488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altLang="ko-KR" sz="1200" dirty="0"/>
              <a:t>CPU: </a:t>
            </a:r>
            <a:r>
              <a:rPr lang="en-US" altLang="ko-KR" sz="1200" dirty="0" smtClean="0"/>
              <a:t>3,000</a:t>
            </a:r>
            <a:r>
              <a:rPr lang="ko-KR" altLang="en-US" sz="1200" dirty="0" smtClean="0"/>
              <a:t>코어</a:t>
            </a:r>
            <a:endParaRPr lang="ko-KR" altLang="en-US" sz="1200" dirty="0"/>
          </a:p>
          <a:p>
            <a:endParaRPr lang="en-US" altLang="ko-KR" sz="300" dirty="0" smtClean="0"/>
          </a:p>
          <a:p>
            <a:r>
              <a:rPr lang="ko-KR" altLang="en-US" sz="1200" dirty="0" smtClean="0"/>
              <a:t>램</a:t>
            </a:r>
            <a:r>
              <a:rPr lang="en-US" altLang="ko-KR" sz="1200" dirty="0"/>
              <a:t>: </a:t>
            </a:r>
            <a:r>
              <a:rPr lang="en-US" altLang="ko-KR" sz="1200" dirty="0" smtClean="0"/>
              <a:t>12,000GB</a:t>
            </a:r>
          </a:p>
          <a:p>
            <a:endParaRPr lang="en-US" altLang="ko-KR" sz="300" dirty="0"/>
          </a:p>
          <a:p>
            <a:endParaRPr lang="en-US" altLang="ko-KR" sz="1400" dirty="0" smtClean="0"/>
          </a:p>
          <a:p>
            <a:r>
              <a:rPr lang="ko-KR" altLang="en-US" sz="1400" dirty="0" smtClean="0"/>
              <a:t>디스크</a:t>
            </a:r>
            <a:r>
              <a:rPr lang="en-US" altLang="ko-KR" sz="1400" dirty="0"/>
              <a:t>: </a:t>
            </a:r>
            <a:r>
              <a:rPr lang="en-US" altLang="ko-KR" sz="1400" dirty="0" smtClean="0"/>
              <a:t>768TB</a:t>
            </a:r>
            <a:endParaRPr lang="ko-KR" altLang="en-US" sz="1400" dirty="0"/>
          </a:p>
        </p:txBody>
      </p:sp>
      <p:pic>
        <p:nvPicPr>
          <p:cNvPr id="32" name="그림 31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86506" y="5224983"/>
            <a:ext cx="706522" cy="1034184"/>
          </a:xfrm>
          <a:prstGeom prst="rect">
            <a:avLst/>
          </a:prstGeom>
        </p:spPr>
      </p:pic>
      <p:sp>
        <p:nvSpPr>
          <p:cNvPr id="33" name="TextBox 32"/>
          <p:cNvSpPr txBox="1"/>
          <p:nvPr/>
        </p:nvSpPr>
        <p:spPr>
          <a:xfrm>
            <a:off x="1293212" y="4947984"/>
            <a:ext cx="1546168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200" dirty="0" smtClean="0"/>
              <a:t>VM 3,000</a:t>
            </a:r>
            <a:r>
              <a:rPr lang="ko-KR" altLang="en-US" sz="1200" dirty="0" smtClean="0"/>
              <a:t>개로 분해</a:t>
            </a:r>
            <a:endParaRPr lang="ko-KR" altLang="en-US" sz="1200" dirty="0"/>
          </a:p>
        </p:txBody>
      </p:sp>
      <p:sp>
        <p:nvSpPr>
          <p:cNvPr id="34" name="TextBox 33"/>
          <p:cNvSpPr txBox="1"/>
          <p:nvPr/>
        </p:nvSpPr>
        <p:spPr>
          <a:xfrm>
            <a:off x="44040" y="5603576"/>
            <a:ext cx="732276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200" b="1" dirty="0" smtClean="0"/>
              <a:t>VM 1</a:t>
            </a:r>
            <a:r>
              <a:rPr lang="ko-KR" altLang="en-US" sz="1200" b="1" dirty="0" smtClean="0"/>
              <a:t>개</a:t>
            </a:r>
            <a:endParaRPr lang="ko-KR" altLang="en-US" sz="1200" b="1" dirty="0"/>
          </a:p>
        </p:txBody>
      </p:sp>
      <p:sp>
        <p:nvSpPr>
          <p:cNvPr id="35" name="TextBox 34"/>
          <p:cNvSpPr txBox="1"/>
          <p:nvPr/>
        </p:nvSpPr>
        <p:spPr>
          <a:xfrm>
            <a:off x="646001" y="5609021"/>
            <a:ext cx="1022748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000" dirty="0" smtClean="0"/>
              <a:t>CPU: 1</a:t>
            </a:r>
            <a:r>
              <a:rPr lang="ko-KR" altLang="en-US" sz="1000" dirty="0" smtClean="0"/>
              <a:t>코어</a:t>
            </a:r>
            <a:endParaRPr lang="en-US" altLang="ko-KR" sz="1000" dirty="0" smtClean="0"/>
          </a:p>
          <a:p>
            <a:endParaRPr lang="en-US" altLang="ko-KR" sz="300" dirty="0"/>
          </a:p>
          <a:p>
            <a:r>
              <a:rPr lang="ko-KR" altLang="en-US" sz="1000" dirty="0" smtClean="0"/>
              <a:t>램</a:t>
            </a:r>
            <a:r>
              <a:rPr lang="en-US" altLang="ko-KR" sz="1000" dirty="0" smtClean="0"/>
              <a:t>:</a:t>
            </a:r>
            <a:r>
              <a:rPr lang="ko-KR" altLang="en-US" sz="1000" dirty="0" smtClean="0"/>
              <a:t> </a:t>
            </a:r>
            <a:r>
              <a:rPr lang="en-US" altLang="ko-KR" sz="1000" dirty="0" smtClean="0"/>
              <a:t>4GB</a:t>
            </a:r>
          </a:p>
          <a:p>
            <a:endParaRPr lang="en-US" altLang="ko-KR" sz="300" dirty="0"/>
          </a:p>
          <a:p>
            <a:r>
              <a:rPr lang="ko-KR" altLang="en-US" sz="1000" dirty="0" smtClean="0"/>
              <a:t>디스크</a:t>
            </a:r>
            <a:r>
              <a:rPr lang="en-US" altLang="ko-KR" sz="1000" dirty="0" smtClean="0"/>
              <a:t>: 256GB</a:t>
            </a:r>
          </a:p>
          <a:p>
            <a:endParaRPr lang="en-US" altLang="ko-KR" sz="1000" dirty="0"/>
          </a:p>
          <a:p>
            <a:r>
              <a:rPr lang="ko-KR" altLang="en-US" sz="1000" dirty="0" smtClean="0"/>
              <a:t>윈도우</a:t>
            </a:r>
            <a:r>
              <a:rPr lang="en-US" altLang="ko-KR" sz="1000" dirty="0" smtClean="0"/>
              <a:t>1</a:t>
            </a:r>
            <a:r>
              <a:rPr lang="ko-KR" altLang="en-US" sz="1000" dirty="0" smtClean="0"/>
              <a:t>개</a:t>
            </a:r>
            <a:endParaRPr lang="ko-KR" altLang="en-US" sz="1000" dirty="0"/>
          </a:p>
        </p:txBody>
      </p:sp>
      <p:sp>
        <p:nvSpPr>
          <p:cNvPr id="2" name="모서리가 둥근 직사각형 1"/>
          <p:cNvSpPr/>
          <p:nvPr/>
        </p:nvSpPr>
        <p:spPr>
          <a:xfrm>
            <a:off x="4946081" y="1326222"/>
            <a:ext cx="2718262" cy="1026279"/>
          </a:xfrm>
          <a:prstGeom prst="roundRect">
            <a:avLst>
              <a:gd name="adj" fmla="val 4038"/>
            </a:avLst>
          </a:prstGeom>
          <a:noFill/>
          <a:ln w="952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6" name="TextBox 35"/>
          <p:cNvSpPr txBox="1"/>
          <p:nvPr/>
        </p:nvSpPr>
        <p:spPr>
          <a:xfrm>
            <a:off x="4946080" y="997248"/>
            <a:ext cx="1504604" cy="3231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500" dirty="0" smtClean="0"/>
              <a:t>컴퓨팅 </a:t>
            </a:r>
            <a:r>
              <a:rPr lang="ko-KR" altLang="en-US" sz="1500" dirty="0" err="1" smtClean="0"/>
              <a:t>서버군</a:t>
            </a:r>
            <a:endParaRPr lang="ko-KR" altLang="en-US" sz="1500" dirty="0"/>
          </a:p>
        </p:txBody>
      </p:sp>
      <p:sp>
        <p:nvSpPr>
          <p:cNvPr id="38" name="직사각형 37"/>
          <p:cNvSpPr/>
          <p:nvPr/>
        </p:nvSpPr>
        <p:spPr>
          <a:xfrm>
            <a:off x="5108894" y="1455115"/>
            <a:ext cx="319325" cy="811923"/>
          </a:xfrm>
          <a:prstGeom prst="rect">
            <a:avLst/>
          </a:prstGeom>
          <a:solidFill>
            <a:schemeClr val="tx1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100" b="1" dirty="0" smtClean="0"/>
              <a:t>서버</a:t>
            </a:r>
            <a:endParaRPr lang="en-US" altLang="ko-KR" sz="1100" b="1" dirty="0" smtClean="0"/>
          </a:p>
        </p:txBody>
      </p:sp>
      <p:sp>
        <p:nvSpPr>
          <p:cNvPr id="39" name="직사각형 38"/>
          <p:cNvSpPr/>
          <p:nvPr/>
        </p:nvSpPr>
        <p:spPr>
          <a:xfrm>
            <a:off x="5507484" y="1455115"/>
            <a:ext cx="319325" cy="811923"/>
          </a:xfrm>
          <a:prstGeom prst="rect">
            <a:avLst/>
          </a:prstGeom>
          <a:solidFill>
            <a:schemeClr val="tx1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100" b="1" dirty="0" smtClean="0"/>
              <a:t>서버</a:t>
            </a:r>
            <a:endParaRPr lang="en-US" altLang="ko-KR" sz="1100" b="1" dirty="0" smtClean="0"/>
          </a:p>
        </p:txBody>
      </p:sp>
      <p:sp>
        <p:nvSpPr>
          <p:cNvPr id="40" name="직사각형 39"/>
          <p:cNvSpPr/>
          <p:nvPr/>
        </p:nvSpPr>
        <p:spPr>
          <a:xfrm>
            <a:off x="5906074" y="1455115"/>
            <a:ext cx="319325" cy="811923"/>
          </a:xfrm>
          <a:prstGeom prst="rect">
            <a:avLst/>
          </a:prstGeom>
          <a:solidFill>
            <a:schemeClr val="tx1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100" b="1" dirty="0" smtClean="0"/>
              <a:t>서버</a:t>
            </a:r>
            <a:endParaRPr lang="en-US" altLang="ko-KR" sz="1100" b="1" dirty="0" smtClean="0"/>
          </a:p>
        </p:txBody>
      </p:sp>
      <p:sp>
        <p:nvSpPr>
          <p:cNvPr id="41" name="직사각형 40"/>
          <p:cNvSpPr/>
          <p:nvPr/>
        </p:nvSpPr>
        <p:spPr>
          <a:xfrm>
            <a:off x="6332974" y="1455115"/>
            <a:ext cx="319325" cy="811923"/>
          </a:xfrm>
          <a:prstGeom prst="rect">
            <a:avLst/>
          </a:prstGeom>
          <a:solidFill>
            <a:schemeClr val="tx1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100" b="1" dirty="0" smtClean="0"/>
              <a:t>서버</a:t>
            </a:r>
            <a:endParaRPr lang="en-US" altLang="ko-KR" sz="1100" b="1" dirty="0" smtClean="0"/>
          </a:p>
        </p:txBody>
      </p:sp>
      <p:sp>
        <p:nvSpPr>
          <p:cNvPr id="43" name="직사각형 42"/>
          <p:cNvSpPr/>
          <p:nvPr/>
        </p:nvSpPr>
        <p:spPr>
          <a:xfrm>
            <a:off x="6731564" y="1455114"/>
            <a:ext cx="319325" cy="811923"/>
          </a:xfrm>
          <a:prstGeom prst="rect">
            <a:avLst/>
          </a:prstGeom>
          <a:solidFill>
            <a:schemeClr val="tx1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100" b="1" dirty="0" smtClean="0"/>
              <a:t>서버</a:t>
            </a:r>
            <a:endParaRPr lang="en-US" altLang="ko-KR" sz="1100" b="1" dirty="0" smtClean="0"/>
          </a:p>
        </p:txBody>
      </p:sp>
      <p:sp>
        <p:nvSpPr>
          <p:cNvPr id="44" name="직사각형 43"/>
          <p:cNvSpPr/>
          <p:nvPr/>
        </p:nvSpPr>
        <p:spPr>
          <a:xfrm>
            <a:off x="7142409" y="1455114"/>
            <a:ext cx="319325" cy="811923"/>
          </a:xfrm>
          <a:prstGeom prst="rect">
            <a:avLst/>
          </a:prstGeom>
          <a:solidFill>
            <a:schemeClr val="tx1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100" b="1" dirty="0" smtClean="0"/>
              <a:t>서버</a:t>
            </a:r>
            <a:endParaRPr lang="en-US" altLang="ko-KR" sz="1100" b="1" dirty="0" smtClean="0"/>
          </a:p>
        </p:txBody>
      </p:sp>
      <p:sp>
        <p:nvSpPr>
          <p:cNvPr id="45" name="TextBox 44"/>
          <p:cNvSpPr txBox="1"/>
          <p:nvPr/>
        </p:nvSpPr>
        <p:spPr>
          <a:xfrm>
            <a:off x="5130273" y="2793669"/>
            <a:ext cx="1614414" cy="3231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500" smtClean="0"/>
              <a:t>스토리지 </a:t>
            </a:r>
            <a:r>
              <a:rPr lang="ko-KR" altLang="en-US" sz="1500" dirty="0" err="1" smtClean="0"/>
              <a:t>서버군</a:t>
            </a:r>
            <a:endParaRPr lang="ko-KR" altLang="en-US" sz="1500" dirty="0"/>
          </a:p>
        </p:txBody>
      </p:sp>
      <p:sp>
        <p:nvSpPr>
          <p:cNvPr id="47" name="모서리가 둥근 직사각형 46"/>
          <p:cNvSpPr/>
          <p:nvPr/>
        </p:nvSpPr>
        <p:spPr>
          <a:xfrm>
            <a:off x="5257241" y="3116834"/>
            <a:ext cx="994703" cy="1026279"/>
          </a:xfrm>
          <a:prstGeom prst="roundRect">
            <a:avLst>
              <a:gd name="adj" fmla="val 4038"/>
            </a:avLst>
          </a:prstGeom>
          <a:noFill/>
          <a:ln w="952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8" name="직사각형 47"/>
          <p:cNvSpPr/>
          <p:nvPr/>
        </p:nvSpPr>
        <p:spPr>
          <a:xfrm>
            <a:off x="5420054" y="3245727"/>
            <a:ext cx="319325" cy="811923"/>
          </a:xfrm>
          <a:prstGeom prst="rect">
            <a:avLst/>
          </a:prstGeom>
          <a:solidFill>
            <a:schemeClr val="tx1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100" b="1" dirty="0" smtClean="0"/>
              <a:t>서버</a:t>
            </a:r>
            <a:endParaRPr lang="en-US" altLang="ko-KR" sz="1100" b="1" dirty="0" smtClean="0"/>
          </a:p>
        </p:txBody>
      </p:sp>
      <p:sp>
        <p:nvSpPr>
          <p:cNvPr id="49" name="직사각형 48"/>
          <p:cNvSpPr/>
          <p:nvPr/>
        </p:nvSpPr>
        <p:spPr>
          <a:xfrm>
            <a:off x="5818644" y="3245727"/>
            <a:ext cx="319325" cy="811923"/>
          </a:xfrm>
          <a:prstGeom prst="rect">
            <a:avLst/>
          </a:prstGeom>
          <a:solidFill>
            <a:schemeClr val="tx1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100" b="1" dirty="0" smtClean="0"/>
              <a:t>서버</a:t>
            </a:r>
            <a:endParaRPr lang="en-US" altLang="ko-KR" sz="1100" b="1" dirty="0" smtClean="0"/>
          </a:p>
        </p:txBody>
      </p:sp>
      <p:cxnSp>
        <p:nvCxnSpPr>
          <p:cNvPr id="17" name="직선 화살표 연결선 16"/>
          <p:cNvCxnSpPr/>
          <p:nvPr/>
        </p:nvCxnSpPr>
        <p:spPr>
          <a:xfrm flipH="1">
            <a:off x="3241972" y="1187512"/>
            <a:ext cx="1786570" cy="1079525"/>
          </a:xfrm>
          <a:prstGeom prst="straightConnector1">
            <a:avLst/>
          </a:prstGeom>
          <a:ln w="28575">
            <a:solidFill>
              <a:srgbClr val="00B0F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4" name="직선 화살표 연결선 53"/>
          <p:cNvCxnSpPr/>
          <p:nvPr/>
        </p:nvCxnSpPr>
        <p:spPr>
          <a:xfrm flipH="1">
            <a:off x="3081465" y="1261819"/>
            <a:ext cx="1998501" cy="1296162"/>
          </a:xfrm>
          <a:prstGeom prst="straightConnector1">
            <a:avLst/>
          </a:prstGeom>
          <a:ln w="28575">
            <a:solidFill>
              <a:srgbClr val="00B0F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5" name="직선 화살표 연결선 54"/>
          <p:cNvCxnSpPr>
            <a:stCxn id="45" idx="1"/>
          </p:cNvCxnSpPr>
          <p:nvPr/>
        </p:nvCxnSpPr>
        <p:spPr>
          <a:xfrm flipH="1">
            <a:off x="3321335" y="2955252"/>
            <a:ext cx="1808938" cy="30556"/>
          </a:xfrm>
          <a:prstGeom prst="straightConnector1">
            <a:avLst/>
          </a:prstGeom>
          <a:ln w="28575">
            <a:solidFill>
              <a:srgbClr val="00B0F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5" name="오른쪽 화살표 64"/>
          <p:cNvSpPr/>
          <p:nvPr/>
        </p:nvSpPr>
        <p:spPr>
          <a:xfrm>
            <a:off x="2502772" y="5395252"/>
            <a:ext cx="1220118" cy="661504"/>
          </a:xfrm>
          <a:prstGeom prst="rightArrow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500"/>
          </a:p>
        </p:txBody>
      </p:sp>
      <p:cxnSp>
        <p:nvCxnSpPr>
          <p:cNvPr id="66" name="직선 연결선 65"/>
          <p:cNvCxnSpPr/>
          <p:nvPr/>
        </p:nvCxnSpPr>
        <p:spPr>
          <a:xfrm>
            <a:off x="7937813" y="0"/>
            <a:ext cx="45964" cy="6858000"/>
          </a:xfrm>
          <a:prstGeom prst="line">
            <a:avLst/>
          </a:prstGeom>
          <a:ln w="1905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9" name="직사각형 68"/>
          <p:cNvSpPr/>
          <p:nvPr/>
        </p:nvSpPr>
        <p:spPr>
          <a:xfrm>
            <a:off x="8298341" y="199504"/>
            <a:ext cx="1528602" cy="36576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500" b="1" dirty="0" err="1" smtClean="0"/>
              <a:t>하이퍼바이저</a:t>
            </a:r>
            <a:endParaRPr lang="en-US" altLang="ko-KR" sz="1500" b="1" dirty="0" smtClean="0"/>
          </a:p>
        </p:txBody>
      </p:sp>
      <p:sp>
        <p:nvSpPr>
          <p:cNvPr id="72" name="TextBox 71"/>
          <p:cNvSpPr txBox="1"/>
          <p:nvPr/>
        </p:nvSpPr>
        <p:spPr>
          <a:xfrm>
            <a:off x="44040" y="6540552"/>
            <a:ext cx="2419339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200" b="1" dirty="0" smtClean="0"/>
              <a:t>VM: </a:t>
            </a:r>
            <a:r>
              <a:rPr lang="en-US" altLang="ko-KR" sz="1200" dirty="0" smtClean="0"/>
              <a:t>Virtual Machine (</a:t>
            </a:r>
            <a:r>
              <a:rPr lang="ko-KR" altLang="en-US" sz="1200" dirty="0" err="1" smtClean="0"/>
              <a:t>가상머신</a:t>
            </a:r>
            <a:r>
              <a:rPr lang="en-US" altLang="ko-KR" sz="1200" dirty="0" smtClean="0"/>
              <a:t>)</a:t>
            </a:r>
            <a:endParaRPr lang="ko-KR" altLang="en-US" sz="1200" dirty="0"/>
          </a:p>
        </p:txBody>
      </p:sp>
      <p:sp>
        <p:nvSpPr>
          <p:cNvPr id="75" name="TextBox 74"/>
          <p:cNvSpPr txBox="1"/>
          <p:nvPr/>
        </p:nvSpPr>
        <p:spPr>
          <a:xfrm>
            <a:off x="8354233" y="641036"/>
            <a:ext cx="3396499" cy="113877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500" dirty="0" smtClean="0"/>
              <a:t>1</a:t>
            </a:r>
            <a:r>
              <a:rPr lang="ko-KR" altLang="en-US" sz="1500" dirty="0" smtClean="0"/>
              <a:t>개의 </a:t>
            </a:r>
            <a:r>
              <a:rPr lang="ko-KR" altLang="en-US" sz="1500" dirty="0" err="1" smtClean="0"/>
              <a:t>클라우드로</a:t>
            </a:r>
            <a:r>
              <a:rPr lang="ko-KR" altLang="en-US" sz="1500" dirty="0" smtClean="0"/>
              <a:t> 합쳐서</a:t>
            </a:r>
            <a:endParaRPr lang="en-US" altLang="ko-KR" sz="1500" dirty="0" smtClean="0"/>
          </a:p>
          <a:p>
            <a:endParaRPr lang="en-US" altLang="ko-KR" sz="800" dirty="0"/>
          </a:p>
          <a:p>
            <a:r>
              <a:rPr lang="en-US" altLang="ko-KR" sz="1500" dirty="0" smtClean="0"/>
              <a:t>3,000</a:t>
            </a:r>
            <a:r>
              <a:rPr lang="ko-KR" altLang="en-US" sz="1500" dirty="0" smtClean="0"/>
              <a:t>대의 </a:t>
            </a:r>
            <a:r>
              <a:rPr lang="en-US" altLang="ko-KR" sz="1500" dirty="0" smtClean="0"/>
              <a:t>VM</a:t>
            </a:r>
            <a:r>
              <a:rPr lang="ko-KR" altLang="en-US" sz="1500" dirty="0" err="1" smtClean="0"/>
              <a:t>으로</a:t>
            </a:r>
            <a:r>
              <a:rPr lang="ko-KR" altLang="en-US" sz="1500" dirty="0" smtClean="0"/>
              <a:t> 분할</a:t>
            </a:r>
            <a:endParaRPr lang="en-US" altLang="ko-KR" sz="1500" dirty="0" smtClean="0"/>
          </a:p>
          <a:p>
            <a:endParaRPr lang="en-US" altLang="ko-KR" sz="1500" dirty="0"/>
          </a:p>
          <a:p>
            <a:r>
              <a:rPr lang="ko-KR" altLang="en-US" sz="1500" dirty="0" smtClean="0"/>
              <a:t>       각 </a:t>
            </a:r>
            <a:r>
              <a:rPr lang="en-US" altLang="ko-KR" sz="1500" dirty="0" smtClean="0"/>
              <a:t>VM</a:t>
            </a:r>
            <a:r>
              <a:rPr lang="ko-KR" altLang="en-US" sz="1500" dirty="0" smtClean="0"/>
              <a:t>은</a:t>
            </a:r>
            <a:r>
              <a:rPr lang="en-US" altLang="ko-KR" sz="1500" dirty="0"/>
              <a:t> </a:t>
            </a:r>
            <a:r>
              <a:rPr lang="en-US" altLang="ko-KR" sz="1500" dirty="0" smtClean="0"/>
              <a:t>[CPU, </a:t>
            </a:r>
            <a:r>
              <a:rPr lang="ko-KR" altLang="en-US" sz="1500" dirty="0" smtClean="0"/>
              <a:t>램</a:t>
            </a:r>
            <a:r>
              <a:rPr lang="en-US" altLang="ko-KR" sz="1500" dirty="0" smtClean="0"/>
              <a:t>, </a:t>
            </a:r>
            <a:r>
              <a:rPr lang="ko-KR" altLang="en-US" sz="1500" dirty="0" smtClean="0"/>
              <a:t>디스크</a:t>
            </a:r>
            <a:r>
              <a:rPr lang="en-US" altLang="ko-KR" sz="1500" dirty="0" smtClean="0"/>
              <a:t>]</a:t>
            </a:r>
            <a:r>
              <a:rPr lang="ko-KR" altLang="en-US" sz="1500" dirty="0" smtClean="0"/>
              <a:t> 보유</a:t>
            </a:r>
            <a:endParaRPr lang="ko-KR" altLang="en-US" sz="1500" dirty="0"/>
          </a:p>
        </p:txBody>
      </p:sp>
      <p:sp>
        <p:nvSpPr>
          <p:cNvPr id="77" name="오른쪽 화살표 76"/>
          <p:cNvSpPr/>
          <p:nvPr/>
        </p:nvSpPr>
        <p:spPr>
          <a:xfrm>
            <a:off x="8572435" y="1533993"/>
            <a:ext cx="224442" cy="191193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500"/>
          </a:p>
        </p:txBody>
      </p:sp>
      <p:pic>
        <p:nvPicPr>
          <p:cNvPr id="80" name="그림 79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796877" y="2820008"/>
            <a:ext cx="600075" cy="676275"/>
          </a:xfrm>
          <a:prstGeom prst="rect">
            <a:avLst/>
          </a:prstGeom>
        </p:spPr>
      </p:pic>
      <p:sp>
        <p:nvSpPr>
          <p:cNvPr id="81" name="TextBox 80"/>
          <p:cNvSpPr txBox="1"/>
          <p:nvPr/>
        </p:nvSpPr>
        <p:spPr>
          <a:xfrm>
            <a:off x="9331803" y="2794795"/>
            <a:ext cx="1999080" cy="80021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200" dirty="0" smtClean="0"/>
              <a:t>업체 엔지니어가</a:t>
            </a:r>
            <a:endParaRPr lang="en-US" altLang="ko-KR" sz="1200" dirty="0" smtClean="0"/>
          </a:p>
          <a:p>
            <a:endParaRPr lang="en-US" altLang="ko-KR" sz="500" dirty="0" smtClean="0"/>
          </a:p>
          <a:p>
            <a:r>
              <a:rPr lang="ko-KR" altLang="en-US" sz="1200" dirty="0" smtClean="0"/>
              <a:t>각 </a:t>
            </a:r>
            <a:r>
              <a:rPr lang="en-US" altLang="ko-KR" sz="1200" dirty="0" smtClean="0"/>
              <a:t>VM</a:t>
            </a:r>
            <a:r>
              <a:rPr lang="ko-KR" altLang="en-US" sz="1200" dirty="0" smtClean="0"/>
              <a:t>에 </a:t>
            </a:r>
            <a:r>
              <a:rPr lang="en-US" altLang="ko-KR" sz="1200" dirty="0" smtClean="0"/>
              <a:t>Guest</a:t>
            </a:r>
            <a:r>
              <a:rPr lang="ko-KR" altLang="en-US" sz="1200" dirty="0" smtClean="0"/>
              <a:t> </a:t>
            </a:r>
            <a:r>
              <a:rPr lang="en-US" altLang="ko-KR" sz="1200" dirty="0" smtClean="0"/>
              <a:t>OS </a:t>
            </a:r>
            <a:r>
              <a:rPr lang="ko-KR" altLang="en-US" sz="1200" dirty="0" smtClean="0"/>
              <a:t>설치</a:t>
            </a:r>
            <a:endParaRPr lang="en-US" altLang="ko-KR" sz="1200" dirty="0" smtClean="0"/>
          </a:p>
          <a:p>
            <a:endParaRPr lang="en-US" altLang="ko-KR" sz="500" dirty="0"/>
          </a:p>
          <a:p>
            <a:r>
              <a:rPr lang="en-US" altLang="ko-KR" sz="1200" dirty="0" smtClean="0"/>
              <a:t>            (</a:t>
            </a:r>
            <a:r>
              <a:rPr lang="ko-KR" altLang="en-US" sz="1200" dirty="0" smtClean="0"/>
              <a:t>윈도우</a:t>
            </a:r>
            <a:r>
              <a:rPr lang="en-US" altLang="ko-KR" sz="1200" dirty="0" smtClean="0"/>
              <a:t>, </a:t>
            </a:r>
            <a:r>
              <a:rPr lang="ko-KR" altLang="en-US" sz="1200" dirty="0" smtClean="0"/>
              <a:t>구름</a:t>
            </a:r>
            <a:r>
              <a:rPr lang="en-US" altLang="ko-KR" sz="1200" dirty="0" smtClean="0"/>
              <a:t>)</a:t>
            </a:r>
            <a:endParaRPr lang="ko-KR" altLang="en-US" sz="1200" dirty="0"/>
          </a:p>
        </p:txBody>
      </p:sp>
      <p:sp>
        <p:nvSpPr>
          <p:cNvPr id="82" name="오른쪽 화살표 81"/>
          <p:cNvSpPr/>
          <p:nvPr/>
        </p:nvSpPr>
        <p:spPr>
          <a:xfrm rot="5400000">
            <a:off x="753591" y="3504805"/>
            <a:ext cx="2210103" cy="661504"/>
          </a:xfrm>
          <a:prstGeom prst="rightArrow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500"/>
          </a:p>
        </p:txBody>
      </p:sp>
      <p:pic>
        <p:nvPicPr>
          <p:cNvPr id="83" name="그림 82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739719" y="5216858"/>
            <a:ext cx="493653" cy="501366"/>
          </a:xfrm>
          <a:prstGeom prst="rect">
            <a:avLst/>
          </a:prstGeom>
        </p:spPr>
      </p:pic>
      <p:pic>
        <p:nvPicPr>
          <p:cNvPr id="84" name="그림 83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190771" y="5212663"/>
            <a:ext cx="493653" cy="501366"/>
          </a:xfrm>
          <a:prstGeom prst="rect">
            <a:avLst/>
          </a:prstGeom>
        </p:spPr>
      </p:pic>
      <p:pic>
        <p:nvPicPr>
          <p:cNvPr id="85" name="그림 84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658652" y="5212663"/>
            <a:ext cx="493653" cy="501366"/>
          </a:xfrm>
          <a:prstGeom prst="rect">
            <a:avLst/>
          </a:prstGeom>
        </p:spPr>
      </p:pic>
      <p:pic>
        <p:nvPicPr>
          <p:cNvPr id="86" name="그림 85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739719" y="5754999"/>
            <a:ext cx="493653" cy="501366"/>
          </a:xfrm>
          <a:prstGeom prst="rect">
            <a:avLst/>
          </a:prstGeom>
        </p:spPr>
      </p:pic>
      <p:pic>
        <p:nvPicPr>
          <p:cNvPr id="87" name="그림 86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190771" y="5750804"/>
            <a:ext cx="493653" cy="501366"/>
          </a:xfrm>
          <a:prstGeom prst="rect">
            <a:avLst/>
          </a:prstGeom>
        </p:spPr>
      </p:pic>
      <p:pic>
        <p:nvPicPr>
          <p:cNvPr id="88" name="그림 87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658652" y="5750804"/>
            <a:ext cx="493653" cy="501366"/>
          </a:xfrm>
          <a:prstGeom prst="rect">
            <a:avLst/>
          </a:prstGeom>
        </p:spPr>
      </p:pic>
      <p:sp>
        <p:nvSpPr>
          <p:cNvPr id="89" name="TextBox 88"/>
          <p:cNvSpPr txBox="1"/>
          <p:nvPr/>
        </p:nvSpPr>
        <p:spPr>
          <a:xfrm>
            <a:off x="3670065" y="6254737"/>
            <a:ext cx="3222488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200" b="1" dirty="0" smtClean="0"/>
              <a:t>직원 </a:t>
            </a:r>
            <a:r>
              <a:rPr lang="en-US" altLang="ko-KR" sz="1200" b="1" dirty="0" smtClean="0"/>
              <a:t>16,000</a:t>
            </a:r>
            <a:r>
              <a:rPr lang="ko-KR" altLang="en-US" sz="1200" b="1" dirty="0" smtClean="0"/>
              <a:t>명이 사용 </a:t>
            </a:r>
            <a:r>
              <a:rPr lang="en-US" altLang="ko-KR" sz="1200" dirty="0" smtClean="0"/>
              <a:t>(</a:t>
            </a:r>
            <a:r>
              <a:rPr lang="ko-KR" altLang="en-US" sz="1200" dirty="0" smtClean="0"/>
              <a:t>동시 접속 </a:t>
            </a:r>
            <a:r>
              <a:rPr lang="en-US" altLang="ko-KR" sz="1200" dirty="0" smtClean="0"/>
              <a:t>3,000</a:t>
            </a:r>
            <a:r>
              <a:rPr lang="ko-KR" altLang="en-US" sz="1200" dirty="0" smtClean="0"/>
              <a:t>명</a:t>
            </a:r>
            <a:r>
              <a:rPr lang="en-US" altLang="ko-KR" sz="1200" dirty="0" smtClean="0"/>
              <a:t>)</a:t>
            </a:r>
            <a:endParaRPr lang="ko-KR" altLang="en-US" sz="1200" dirty="0"/>
          </a:p>
        </p:txBody>
      </p:sp>
      <p:pic>
        <p:nvPicPr>
          <p:cNvPr id="92" name="그림 91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501739" y="3995870"/>
            <a:ext cx="2905125" cy="21812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11186551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그림 2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96877" y="2820008"/>
            <a:ext cx="600075" cy="676275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9331803" y="2794795"/>
            <a:ext cx="1999080" cy="80021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200" dirty="0" smtClean="0"/>
              <a:t>업체 엔지니어가</a:t>
            </a:r>
            <a:endParaRPr lang="en-US" altLang="ko-KR" sz="1200" dirty="0" smtClean="0"/>
          </a:p>
          <a:p>
            <a:endParaRPr lang="en-US" altLang="ko-KR" sz="500" dirty="0" smtClean="0"/>
          </a:p>
          <a:p>
            <a:r>
              <a:rPr lang="ko-KR" altLang="en-US" sz="1200" dirty="0" smtClean="0"/>
              <a:t>각 </a:t>
            </a:r>
            <a:r>
              <a:rPr lang="en-US" altLang="ko-KR" sz="1200" dirty="0" smtClean="0"/>
              <a:t>VM</a:t>
            </a:r>
            <a:r>
              <a:rPr lang="ko-KR" altLang="en-US" sz="1200" dirty="0" smtClean="0"/>
              <a:t>에 </a:t>
            </a:r>
            <a:r>
              <a:rPr lang="en-US" altLang="ko-KR" sz="1200" dirty="0" smtClean="0"/>
              <a:t>Guest</a:t>
            </a:r>
            <a:r>
              <a:rPr lang="ko-KR" altLang="en-US" sz="1200" dirty="0" smtClean="0"/>
              <a:t> </a:t>
            </a:r>
            <a:r>
              <a:rPr lang="en-US" altLang="ko-KR" sz="1200" dirty="0" smtClean="0"/>
              <a:t>OS </a:t>
            </a:r>
            <a:r>
              <a:rPr lang="ko-KR" altLang="en-US" sz="1200" dirty="0" smtClean="0"/>
              <a:t>설치</a:t>
            </a:r>
            <a:endParaRPr lang="en-US" altLang="ko-KR" sz="1200" dirty="0" smtClean="0"/>
          </a:p>
          <a:p>
            <a:endParaRPr lang="en-US" altLang="ko-KR" sz="500" dirty="0"/>
          </a:p>
          <a:p>
            <a:r>
              <a:rPr lang="en-US" altLang="ko-KR" sz="1200" dirty="0" smtClean="0"/>
              <a:t>            (</a:t>
            </a:r>
            <a:r>
              <a:rPr lang="ko-KR" altLang="en-US" sz="1200" dirty="0" smtClean="0"/>
              <a:t>윈도우</a:t>
            </a:r>
            <a:r>
              <a:rPr lang="en-US" altLang="ko-KR" sz="1200" dirty="0" smtClean="0"/>
              <a:t>, </a:t>
            </a:r>
            <a:r>
              <a:rPr lang="ko-KR" altLang="en-US" sz="1200" dirty="0" smtClean="0"/>
              <a:t>구름</a:t>
            </a:r>
            <a:r>
              <a:rPr lang="en-US" altLang="ko-KR" sz="1200" dirty="0" smtClean="0"/>
              <a:t>)</a:t>
            </a:r>
            <a:endParaRPr lang="ko-KR" altLang="en-US" sz="1200" dirty="0"/>
          </a:p>
        </p:txBody>
      </p:sp>
      <p:pic>
        <p:nvPicPr>
          <p:cNvPr id="5" name="그림 4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01739" y="3995870"/>
            <a:ext cx="2905125" cy="2181225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7390012" y="841303"/>
            <a:ext cx="4148053" cy="76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dirty="0" smtClean="0"/>
              <a:t>램</a:t>
            </a:r>
            <a:r>
              <a:rPr lang="en-US" altLang="ko-KR" dirty="0" smtClean="0"/>
              <a:t>, </a:t>
            </a:r>
            <a:r>
              <a:rPr lang="ko-KR" altLang="en-US" dirty="0" smtClean="0"/>
              <a:t>디스크 낭비</a:t>
            </a:r>
            <a:r>
              <a:rPr lang="en-US" altLang="ko-KR" dirty="0" smtClean="0"/>
              <a:t>: </a:t>
            </a:r>
            <a:r>
              <a:rPr lang="ko-KR" altLang="en-US" dirty="0" smtClean="0"/>
              <a:t>윈도우 </a:t>
            </a:r>
            <a:r>
              <a:rPr lang="en-US" altLang="ko-KR" dirty="0" smtClean="0"/>
              <a:t>3,000 </a:t>
            </a:r>
            <a:r>
              <a:rPr lang="ko-KR" altLang="en-US" dirty="0" smtClean="0"/>
              <a:t>개 설치</a:t>
            </a:r>
            <a:endParaRPr lang="en-US" altLang="ko-KR" dirty="0"/>
          </a:p>
          <a:p>
            <a:endParaRPr lang="en-US" altLang="ko-KR" sz="800" dirty="0" smtClean="0"/>
          </a:p>
          <a:p>
            <a:r>
              <a:rPr lang="ko-KR" altLang="en-US" dirty="0" smtClean="0"/>
              <a:t>긴 부팅시간</a:t>
            </a:r>
            <a:endParaRPr lang="en-US" altLang="ko-KR" dirty="0"/>
          </a:p>
        </p:txBody>
      </p:sp>
      <p:sp>
        <p:nvSpPr>
          <p:cNvPr id="7" name="직사각형 6"/>
          <p:cNvSpPr/>
          <p:nvPr/>
        </p:nvSpPr>
        <p:spPr>
          <a:xfrm>
            <a:off x="274319" y="224444"/>
            <a:ext cx="2751513" cy="498763"/>
          </a:xfrm>
          <a:prstGeom prst="rect">
            <a:avLst/>
          </a:prstGeom>
          <a:solidFill>
            <a:srgbClr val="00B0F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2300" b="1" dirty="0" smtClean="0"/>
              <a:t>VM </a:t>
            </a:r>
            <a:r>
              <a:rPr lang="ko-KR" altLang="en-US" sz="2300" b="1" dirty="0" smtClean="0"/>
              <a:t>방식의 문제점</a:t>
            </a:r>
            <a:endParaRPr lang="en-US" altLang="ko-KR" sz="2300" b="1" dirty="0" smtClean="0"/>
          </a:p>
        </p:txBody>
      </p:sp>
    </p:spTree>
    <p:extLst>
      <p:ext uri="{BB962C8B-B14F-4D97-AF65-F5344CB8AC3E}">
        <p14:creationId xmlns:p14="http://schemas.microsoft.com/office/powerpoint/2010/main" val="973489048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직사각형 41"/>
          <p:cNvSpPr/>
          <p:nvPr/>
        </p:nvSpPr>
        <p:spPr>
          <a:xfrm>
            <a:off x="274319" y="224444"/>
            <a:ext cx="3782292" cy="498763"/>
          </a:xfrm>
          <a:prstGeom prst="rect">
            <a:avLst/>
          </a:prstGeom>
          <a:solidFill>
            <a:srgbClr val="00B0F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2300" b="1" err="1" smtClean="0"/>
              <a:t>클라우드</a:t>
            </a:r>
            <a:r>
              <a:rPr lang="ko-KR" altLang="en-US" sz="2300" b="1" dirty="0" smtClean="0"/>
              <a:t> </a:t>
            </a:r>
            <a:r>
              <a:rPr lang="ko-KR" altLang="en-US" sz="2300" b="1" dirty="0" err="1" smtClean="0"/>
              <a:t>네이티브로</a:t>
            </a:r>
            <a:r>
              <a:rPr lang="ko-KR" altLang="en-US" sz="2300" b="1" dirty="0" smtClean="0"/>
              <a:t> 해결</a:t>
            </a:r>
            <a:endParaRPr lang="en-US" altLang="ko-KR" sz="2300" b="1" dirty="0" smtClean="0"/>
          </a:p>
        </p:txBody>
      </p:sp>
      <p:pic>
        <p:nvPicPr>
          <p:cNvPr id="5" name="그림 4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5838" y="1312632"/>
            <a:ext cx="7574010" cy="3009252"/>
          </a:xfrm>
          <a:prstGeom prst="rect">
            <a:avLst/>
          </a:prstGeom>
        </p:spPr>
      </p:pic>
      <p:pic>
        <p:nvPicPr>
          <p:cNvPr id="6" name="그림 5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1999" y="5117105"/>
            <a:ext cx="493653" cy="501366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4967951" y="5229288"/>
            <a:ext cx="3353089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200" dirty="0" smtClean="0"/>
              <a:t>직원이 돌린 프로그램이 </a:t>
            </a:r>
            <a:r>
              <a:rPr lang="en-US" altLang="ko-KR" sz="1200" dirty="0" smtClean="0"/>
              <a:t>CPU, </a:t>
            </a:r>
            <a:r>
              <a:rPr lang="ko-KR" altLang="en-US" sz="1200" dirty="0" smtClean="0"/>
              <a:t>램이 부족하면</a:t>
            </a:r>
            <a:r>
              <a:rPr lang="en-US" altLang="ko-KR" sz="1200" dirty="0" smtClean="0"/>
              <a:t>?</a:t>
            </a:r>
            <a:endParaRPr lang="ko-KR" altLang="en-US" sz="1200" dirty="0"/>
          </a:p>
        </p:txBody>
      </p:sp>
      <p:sp>
        <p:nvSpPr>
          <p:cNvPr id="8" name="TextBox 7"/>
          <p:cNvSpPr txBox="1"/>
          <p:nvPr/>
        </p:nvSpPr>
        <p:spPr>
          <a:xfrm>
            <a:off x="5220391" y="5632073"/>
            <a:ext cx="248550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dirty="0" smtClean="0"/>
              <a:t>컨테이너 자동 추가</a:t>
            </a:r>
            <a:endParaRPr lang="en-US" altLang="ko-KR" dirty="0"/>
          </a:p>
        </p:txBody>
      </p:sp>
      <p:sp>
        <p:nvSpPr>
          <p:cNvPr id="9" name="직사각형 8"/>
          <p:cNvSpPr/>
          <p:nvPr/>
        </p:nvSpPr>
        <p:spPr>
          <a:xfrm>
            <a:off x="5380574" y="6087260"/>
            <a:ext cx="671093" cy="36576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500" b="1" dirty="0" smtClean="0"/>
              <a:t>HPA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993188" y="6176021"/>
            <a:ext cx="2078471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200" dirty="0" smtClean="0"/>
              <a:t>Horizontal Pod Autoscaler</a:t>
            </a:r>
            <a:endParaRPr lang="ko-KR" altLang="en-US" sz="1200" dirty="0"/>
          </a:p>
        </p:txBody>
      </p:sp>
    </p:spTree>
    <p:extLst>
      <p:ext uri="{BB962C8B-B14F-4D97-AF65-F5344CB8AC3E}">
        <p14:creationId xmlns:p14="http://schemas.microsoft.com/office/powerpoint/2010/main" val="623085851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직사각형 41"/>
          <p:cNvSpPr/>
          <p:nvPr/>
        </p:nvSpPr>
        <p:spPr>
          <a:xfrm>
            <a:off x="274320" y="224444"/>
            <a:ext cx="2086496" cy="498763"/>
          </a:xfrm>
          <a:prstGeom prst="rect">
            <a:avLst/>
          </a:prstGeom>
          <a:solidFill>
            <a:srgbClr val="00B0F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2300" b="1" dirty="0" smtClean="0"/>
              <a:t>자원 절감</a:t>
            </a:r>
            <a:endParaRPr lang="en-US" altLang="ko-KR" sz="2300" b="1" dirty="0" smtClean="0"/>
          </a:p>
        </p:txBody>
      </p:sp>
      <p:sp>
        <p:nvSpPr>
          <p:cNvPr id="28" name="TextBox 27"/>
          <p:cNvSpPr txBox="1"/>
          <p:nvPr/>
        </p:nvSpPr>
        <p:spPr>
          <a:xfrm>
            <a:off x="836192" y="2209136"/>
            <a:ext cx="147376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b="1" dirty="0" smtClean="0"/>
              <a:t>3,000</a:t>
            </a:r>
            <a:r>
              <a:rPr lang="ko-KR" altLang="en-US" b="1" dirty="0" smtClean="0"/>
              <a:t>명 분</a:t>
            </a:r>
            <a:endParaRPr lang="ko-KR" altLang="en-US" b="1" dirty="0"/>
          </a:p>
        </p:txBody>
      </p:sp>
      <p:sp>
        <p:nvSpPr>
          <p:cNvPr id="29" name="직사각형 28"/>
          <p:cNvSpPr/>
          <p:nvPr/>
        </p:nvSpPr>
        <p:spPr>
          <a:xfrm>
            <a:off x="2066296" y="2173261"/>
            <a:ext cx="1371992" cy="98488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altLang="ko-KR" sz="1200" dirty="0"/>
              <a:t>CPU: </a:t>
            </a:r>
            <a:r>
              <a:rPr lang="en-US" altLang="ko-KR" sz="1200" dirty="0" smtClean="0"/>
              <a:t>3,000</a:t>
            </a:r>
            <a:r>
              <a:rPr lang="ko-KR" altLang="en-US" sz="1200" dirty="0" smtClean="0"/>
              <a:t>코어</a:t>
            </a:r>
            <a:endParaRPr lang="ko-KR" altLang="en-US" sz="1200" dirty="0"/>
          </a:p>
          <a:p>
            <a:endParaRPr lang="en-US" altLang="ko-KR" sz="300" dirty="0" smtClean="0"/>
          </a:p>
          <a:p>
            <a:r>
              <a:rPr lang="ko-KR" altLang="en-US" sz="1200" dirty="0" smtClean="0"/>
              <a:t>램</a:t>
            </a:r>
            <a:r>
              <a:rPr lang="en-US" altLang="ko-KR" sz="1200" dirty="0"/>
              <a:t>: </a:t>
            </a:r>
            <a:r>
              <a:rPr lang="en-US" altLang="ko-KR" sz="1200" dirty="0" smtClean="0"/>
              <a:t>12,000GB</a:t>
            </a:r>
          </a:p>
          <a:p>
            <a:endParaRPr lang="en-US" altLang="ko-KR" sz="300" dirty="0"/>
          </a:p>
          <a:p>
            <a:endParaRPr lang="en-US" altLang="ko-KR" sz="1400" dirty="0" smtClean="0"/>
          </a:p>
          <a:p>
            <a:r>
              <a:rPr lang="ko-KR" altLang="en-US" sz="1400" dirty="0" smtClean="0"/>
              <a:t>디스크</a:t>
            </a:r>
            <a:r>
              <a:rPr lang="en-US" altLang="ko-KR" sz="1400" dirty="0"/>
              <a:t>: </a:t>
            </a:r>
            <a:r>
              <a:rPr lang="en-US" altLang="ko-KR" sz="1400" dirty="0" smtClean="0"/>
              <a:t>768TB</a:t>
            </a:r>
            <a:endParaRPr lang="ko-KR" altLang="en-US" sz="1400" dirty="0"/>
          </a:p>
        </p:txBody>
      </p:sp>
      <p:pic>
        <p:nvPicPr>
          <p:cNvPr id="32" name="그림 31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86506" y="5224983"/>
            <a:ext cx="706522" cy="1034184"/>
          </a:xfrm>
          <a:prstGeom prst="rect">
            <a:avLst/>
          </a:prstGeom>
        </p:spPr>
      </p:pic>
      <p:sp>
        <p:nvSpPr>
          <p:cNvPr id="33" name="TextBox 32"/>
          <p:cNvSpPr txBox="1"/>
          <p:nvPr/>
        </p:nvSpPr>
        <p:spPr>
          <a:xfrm>
            <a:off x="1219199" y="4947984"/>
            <a:ext cx="1942011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200" smtClean="0"/>
              <a:t>컨테이너</a:t>
            </a:r>
            <a:r>
              <a:rPr lang="en-US" altLang="ko-KR" sz="1200" dirty="0" smtClean="0"/>
              <a:t> 3,000</a:t>
            </a:r>
            <a:r>
              <a:rPr lang="ko-KR" altLang="en-US" sz="1200" dirty="0" smtClean="0"/>
              <a:t>개로 분해</a:t>
            </a:r>
            <a:endParaRPr lang="ko-KR" altLang="en-US" sz="1200" dirty="0"/>
          </a:p>
        </p:txBody>
      </p:sp>
      <p:sp>
        <p:nvSpPr>
          <p:cNvPr id="34" name="TextBox 33"/>
          <p:cNvSpPr txBox="1"/>
          <p:nvPr/>
        </p:nvSpPr>
        <p:spPr>
          <a:xfrm>
            <a:off x="27211" y="5335986"/>
            <a:ext cx="1191414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200" b="1" smtClean="0"/>
              <a:t>컨테이너</a:t>
            </a:r>
            <a:r>
              <a:rPr lang="en-US" altLang="ko-KR" sz="1200" b="1" dirty="0" smtClean="0"/>
              <a:t> 1</a:t>
            </a:r>
            <a:r>
              <a:rPr lang="ko-KR" altLang="en-US" sz="1200" b="1" dirty="0" smtClean="0"/>
              <a:t>개</a:t>
            </a:r>
            <a:endParaRPr lang="ko-KR" altLang="en-US" sz="1200" b="1" dirty="0"/>
          </a:p>
        </p:txBody>
      </p:sp>
      <p:sp>
        <p:nvSpPr>
          <p:cNvPr id="35" name="TextBox 34"/>
          <p:cNvSpPr txBox="1"/>
          <p:nvPr/>
        </p:nvSpPr>
        <p:spPr>
          <a:xfrm>
            <a:off x="332198" y="5579702"/>
            <a:ext cx="1022748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000" dirty="0" smtClean="0"/>
              <a:t>CPU: 1</a:t>
            </a:r>
            <a:r>
              <a:rPr lang="ko-KR" altLang="en-US" sz="1000" dirty="0" smtClean="0"/>
              <a:t>코어</a:t>
            </a:r>
            <a:endParaRPr lang="en-US" altLang="ko-KR" sz="1000" dirty="0" smtClean="0"/>
          </a:p>
          <a:p>
            <a:endParaRPr lang="en-US" altLang="ko-KR" sz="300" dirty="0"/>
          </a:p>
          <a:p>
            <a:r>
              <a:rPr lang="ko-KR" altLang="en-US" sz="1000" dirty="0" smtClean="0"/>
              <a:t>램</a:t>
            </a:r>
            <a:r>
              <a:rPr lang="en-US" altLang="ko-KR" sz="1000" dirty="0" smtClean="0"/>
              <a:t>:</a:t>
            </a:r>
            <a:r>
              <a:rPr lang="ko-KR" altLang="en-US" sz="1000" dirty="0" smtClean="0"/>
              <a:t> </a:t>
            </a:r>
            <a:r>
              <a:rPr lang="en-US" altLang="ko-KR" sz="1000" dirty="0" smtClean="0"/>
              <a:t>4GB</a:t>
            </a:r>
          </a:p>
          <a:p>
            <a:endParaRPr lang="en-US" altLang="ko-KR" sz="300" dirty="0"/>
          </a:p>
          <a:p>
            <a:r>
              <a:rPr lang="ko-KR" altLang="en-US" sz="1000" dirty="0" smtClean="0"/>
              <a:t>디스크</a:t>
            </a:r>
            <a:r>
              <a:rPr lang="en-US" altLang="ko-KR" sz="1000" dirty="0" smtClean="0"/>
              <a:t>: 256GB</a:t>
            </a:r>
          </a:p>
        </p:txBody>
      </p:sp>
      <p:sp>
        <p:nvSpPr>
          <p:cNvPr id="2" name="모서리가 둥근 직사각형 1"/>
          <p:cNvSpPr/>
          <p:nvPr/>
        </p:nvSpPr>
        <p:spPr>
          <a:xfrm>
            <a:off x="4946081" y="1326222"/>
            <a:ext cx="2718262" cy="1026279"/>
          </a:xfrm>
          <a:prstGeom prst="roundRect">
            <a:avLst>
              <a:gd name="adj" fmla="val 4038"/>
            </a:avLst>
          </a:prstGeom>
          <a:noFill/>
          <a:ln w="952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6" name="TextBox 35"/>
          <p:cNvSpPr txBox="1"/>
          <p:nvPr/>
        </p:nvSpPr>
        <p:spPr>
          <a:xfrm>
            <a:off x="4946080" y="997248"/>
            <a:ext cx="1504604" cy="3231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500" dirty="0" smtClean="0"/>
              <a:t>컴퓨팅 </a:t>
            </a:r>
            <a:r>
              <a:rPr lang="ko-KR" altLang="en-US" sz="1500" dirty="0" err="1" smtClean="0"/>
              <a:t>서버군</a:t>
            </a:r>
            <a:endParaRPr lang="ko-KR" altLang="en-US" sz="1500" dirty="0"/>
          </a:p>
        </p:txBody>
      </p:sp>
      <p:sp>
        <p:nvSpPr>
          <p:cNvPr id="38" name="직사각형 37"/>
          <p:cNvSpPr/>
          <p:nvPr/>
        </p:nvSpPr>
        <p:spPr>
          <a:xfrm>
            <a:off x="5108894" y="1455115"/>
            <a:ext cx="319325" cy="811923"/>
          </a:xfrm>
          <a:prstGeom prst="rect">
            <a:avLst/>
          </a:prstGeom>
          <a:solidFill>
            <a:schemeClr val="tx1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100" b="1" dirty="0" smtClean="0"/>
              <a:t>서버</a:t>
            </a:r>
            <a:endParaRPr lang="en-US" altLang="ko-KR" sz="1100" b="1" dirty="0" smtClean="0"/>
          </a:p>
        </p:txBody>
      </p:sp>
      <p:sp>
        <p:nvSpPr>
          <p:cNvPr id="39" name="직사각형 38"/>
          <p:cNvSpPr/>
          <p:nvPr/>
        </p:nvSpPr>
        <p:spPr>
          <a:xfrm>
            <a:off x="5507484" y="1455115"/>
            <a:ext cx="319325" cy="811923"/>
          </a:xfrm>
          <a:prstGeom prst="rect">
            <a:avLst/>
          </a:prstGeom>
          <a:solidFill>
            <a:schemeClr val="tx1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100" b="1" dirty="0" smtClean="0"/>
              <a:t>서버</a:t>
            </a:r>
            <a:endParaRPr lang="en-US" altLang="ko-KR" sz="1100" b="1" dirty="0" smtClean="0"/>
          </a:p>
        </p:txBody>
      </p:sp>
      <p:sp>
        <p:nvSpPr>
          <p:cNvPr id="40" name="직사각형 39"/>
          <p:cNvSpPr/>
          <p:nvPr/>
        </p:nvSpPr>
        <p:spPr>
          <a:xfrm>
            <a:off x="5906074" y="1455115"/>
            <a:ext cx="319325" cy="811923"/>
          </a:xfrm>
          <a:prstGeom prst="rect">
            <a:avLst/>
          </a:prstGeom>
          <a:solidFill>
            <a:schemeClr val="tx1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100" b="1" dirty="0" smtClean="0"/>
              <a:t>서버</a:t>
            </a:r>
            <a:endParaRPr lang="en-US" altLang="ko-KR" sz="1100" b="1" dirty="0" smtClean="0"/>
          </a:p>
        </p:txBody>
      </p:sp>
      <p:sp>
        <p:nvSpPr>
          <p:cNvPr id="41" name="직사각형 40"/>
          <p:cNvSpPr/>
          <p:nvPr/>
        </p:nvSpPr>
        <p:spPr>
          <a:xfrm>
            <a:off x="6332974" y="1455115"/>
            <a:ext cx="319325" cy="811923"/>
          </a:xfrm>
          <a:prstGeom prst="rect">
            <a:avLst/>
          </a:prstGeom>
          <a:solidFill>
            <a:schemeClr val="tx1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100" b="1" dirty="0" smtClean="0"/>
              <a:t>서버</a:t>
            </a:r>
            <a:endParaRPr lang="en-US" altLang="ko-KR" sz="1100" b="1" dirty="0" smtClean="0"/>
          </a:p>
        </p:txBody>
      </p:sp>
      <p:sp>
        <p:nvSpPr>
          <p:cNvPr id="43" name="직사각형 42"/>
          <p:cNvSpPr/>
          <p:nvPr/>
        </p:nvSpPr>
        <p:spPr>
          <a:xfrm>
            <a:off x="6731564" y="1455114"/>
            <a:ext cx="319325" cy="811923"/>
          </a:xfrm>
          <a:prstGeom prst="rect">
            <a:avLst/>
          </a:prstGeom>
          <a:solidFill>
            <a:schemeClr val="tx1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100" b="1" dirty="0" smtClean="0"/>
              <a:t>서버</a:t>
            </a:r>
            <a:endParaRPr lang="en-US" altLang="ko-KR" sz="1100" b="1" dirty="0" smtClean="0"/>
          </a:p>
        </p:txBody>
      </p:sp>
      <p:sp>
        <p:nvSpPr>
          <p:cNvPr id="44" name="직사각형 43"/>
          <p:cNvSpPr/>
          <p:nvPr/>
        </p:nvSpPr>
        <p:spPr>
          <a:xfrm>
            <a:off x="7142409" y="1455114"/>
            <a:ext cx="319325" cy="811923"/>
          </a:xfrm>
          <a:prstGeom prst="rect">
            <a:avLst/>
          </a:prstGeom>
          <a:solidFill>
            <a:schemeClr val="tx1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100" b="1" dirty="0" smtClean="0"/>
              <a:t>서버</a:t>
            </a:r>
            <a:endParaRPr lang="en-US" altLang="ko-KR" sz="1100" b="1" dirty="0" smtClean="0"/>
          </a:p>
        </p:txBody>
      </p:sp>
      <p:sp>
        <p:nvSpPr>
          <p:cNvPr id="45" name="TextBox 44"/>
          <p:cNvSpPr txBox="1"/>
          <p:nvPr/>
        </p:nvSpPr>
        <p:spPr>
          <a:xfrm>
            <a:off x="5130273" y="2793669"/>
            <a:ext cx="1614414" cy="3231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500" smtClean="0"/>
              <a:t>스토리지 </a:t>
            </a:r>
            <a:r>
              <a:rPr lang="ko-KR" altLang="en-US" sz="1500" dirty="0" err="1" smtClean="0"/>
              <a:t>서버군</a:t>
            </a:r>
            <a:endParaRPr lang="ko-KR" altLang="en-US" sz="1500" dirty="0"/>
          </a:p>
        </p:txBody>
      </p:sp>
      <p:sp>
        <p:nvSpPr>
          <p:cNvPr id="47" name="모서리가 둥근 직사각형 46"/>
          <p:cNvSpPr/>
          <p:nvPr/>
        </p:nvSpPr>
        <p:spPr>
          <a:xfrm>
            <a:off x="5257241" y="3116834"/>
            <a:ext cx="994703" cy="1026279"/>
          </a:xfrm>
          <a:prstGeom prst="roundRect">
            <a:avLst>
              <a:gd name="adj" fmla="val 4038"/>
            </a:avLst>
          </a:prstGeom>
          <a:noFill/>
          <a:ln w="952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8" name="직사각형 47"/>
          <p:cNvSpPr/>
          <p:nvPr/>
        </p:nvSpPr>
        <p:spPr>
          <a:xfrm>
            <a:off x="5420054" y="3245727"/>
            <a:ext cx="319325" cy="811923"/>
          </a:xfrm>
          <a:prstGeom prst="rect">
            <a:avLst/>
          </a:prstGeom>
          <a:solidFill>
            <a:schemeClr val="tx1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100" b="1" dirty="0" smtClean="0"/>
              <a:t>서버</a:t>
            </a:r>
            <a:endParaRPr lang="en-US" altLang="ko-KR" sz="1100" b="1" dirty="0" smtClean="0"/>
          </a:p>
        </p:txBody>
      </p:sp>
      <p:sp>
        <p:nvSpPr>
          <p:cNvPr id="49" name="직사각형 48"/>
          <p:cNvSpPr/>
          <p:nvPr/>
        </p:nvSpPr>
        <p:spPr>
          <a:xfrm>
            <a:off x="5818644" y="3245727"/>
            <a:ext cx="319325" cy="811923"/>
          </a:xfrm>
          <a:prstGeom prst="rect">
            <a:avLst/>
          </a:prstGeom>
          <a:solidFill>
            <a:schemeClr val="tx1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100" b="1" dirty="0" smtClean="0"/>
              <a:t>서버</a:t>
            </a:r>
            <a:endParaRPr lang="en-US" altLang="ko-KR" sz="1100" b="1" dirty="0" smtClean="0"/>
          </a:p>
        </p:txBody>
      </p:sp>
      <p:cxnSp>
        <p:nvCxnSpPr>
          <p:cNvPr id="17" name="직선 화살표 연결선 16"/>
          <p:cNvCxnSpPr/>
          <p:nvPr/>
        </p:nvCxnSpPr>
        <p:spPr>
          <a:xfrm flipH="1">
            <a:off x="3241972" y="1187512"/>
            <a:ext cx="1786570" cy="1079525"/>
          </a:xfrm>
          <a:prstGeom prst="straightConnector1">
            <a:avLst/>
          </a:prstGeom>
          <a:ln w="28575">
            <a:solidFill>
              <a:srgbClr val="00B0F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4" name="직선 화살표 연결선 53"/>
          <p:cNvCxnSpPr/>
          <p:nvPr/>
        </p:nvCxnSpPr>
        <p:spPr>
          <a:xfrm flipH="1">
            <a:off x="3081465" y="1261819"/>
            <a:ext cx="1998501" cy="1296162"/>
          </a:xfrm>
          <a:prstGeom prst="straightConnector1">
            <a:avLst/>
          </a:prstGeom>
          <a:ln w="28575">
            <a:solidFill>
              <a:srgbClr val="00B0F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5" name="직선 화살표 연결선 54"/>
          <p:cNvCxnSpPr>
            <a:stCxn id="45" idx="1"/>
          </p:cNvCxnSpPr>
          <p:nvPr/>
        </p:nvCxnSpPr>
        <p:spPr>
          <a:xfrm flipH="1">
            <a:off x="3321335" y="2955252"/>
            <a:ext cx="1808938" cy="30556"/>
          </a:xfrm>
          <a:prstGeom prst="straightConnector1">
            <a:avLst/>
          </a:prstGeom>
          <a:ln w="28575">
            <a:solidFill>
              <a:srgbClr val="00B0F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5" name="오른쪽 화살표 64"/>
          <p:cNvSpPr/>
          <p:nvPr/>
        </p:nvSpPr>
        <p:spPr>
          <a:xfrm>
            <a:off x="2502772" y="5395252"/>
            <a:ext cx="1220118" cy="661504"/>
          </a:xfrm>
          <a:prstGeom prst="rightArrow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500"/>
          </a:p>
        </p:txBody>
      </p:sp>
      <p:cxnSp>
        <p:nvCxnSpPr>
          <p:cNvPr id="66" name="직선 연결선 65"/>
          <p:cNvCxnSpPr/>
          <p:nvPr/>
        </p:nvCxnSpPr>
        <p:spPr>
          <a:xfrm>
            <a:off x="7937813" y="0"/>
            <a:ext cx="45964" cy="6858000"/>
          </a:xfrm>
          <a:prstGeom prst="line">
            <a:avLst/>
          </a:prstGeom>
          <a:ln w="1905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9" name="직사각형 68"/>
          <p:cNvSpPr/>
          <p:nvPr/>
        </p:nvSpPr>
        <p:spPr>
          <a:xfrm>
            <a:off x="8298341" y="199504"/>
            <a:ext cx="1172565" cy="36576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500" b="1" dirty="0" err="1" smtClean="0"/>
              <a:t>도커</a:t>
            </a:r>
            <a:endParaRPr lang="en-US" altLang="ko-KR" sz="1500" b="1" dirty="0" smtClean="0"/>
          </a:p>
        </p:txBody>
      </p:sp>
      <p:sp>
        <p:nvSpPr>
          <p:cNvPr id="75" name="TextBox 74"/>
          <p:cNvSpPr txBox="1"/>
          <p:nvPr/>
        </p:nvSpPr>
        <p:spPr>
          <a:xfrm>
            <a:off x="8354233" y="641036"/>
            <a:ext cx="3844467" cy="113877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500" dirty="0" smtClean="0"/>
              <a:t>1</a:t>
            </a:r>
            <a:r>
              <a:rPr lang="ko-KR" altLang="en-US" sz="1500" dirty="0" smtClean="0"/>
              <a:t>개의 </a:t>
            </a:r>
            <a:r>
              <a:rPr lang="ko-KR" altLang="en-US" sz="1500" dirty="0" err="1" smtClean="0"/>
              <a:t>클라우드로</a:t>
            </a:r>
            <a:r>
              <a:rPr lang="ko-KR" altLang="en-US" sz="1500" dirty="0" smtClean="0"/>
              <a:t> 합쳐서</a:t>
            </a:r>
            <a:endParaRPr lang="en-US" altLang="ko-KR" sz="1500" dirty="0" smtClean="0"/>
          </a:p>
          <a:p>
            <a:endParaRPr lang="en-US" altLang="ko-KR" sz="800" dirty="0"/>
          </a:p>
          <a:p>
            <a:r>
              <a:rPr lang="en-US" altLang="ko-KR" sz="1500" dirty="0" smtClean="0"/>
              <a:t>3,000</a:t>
            </a:r>
            <a:r>
              <a:rPr lang="ko-KR" altLang="en-US" sz="1500" dirty="0" smtClean="0"/>
              <a:t>대의 컨테이너로 분할</a:t>
            </a:r>
            <a:endParaRPr lang="en-US" altLang="ko-KR" sz="1500" dirty="0" smtClean="0"/>
          </a:p>
          <a:p>
            <a:endParaRPr lang="en-US" altLang="ko-KR" sz="1500" dirty="0"/>
          </a:p>
          <a:p>
            <a:r>
              <a:rPr lang="ko-KR" altLang="en-US" sz="1500" dirty="0" smtClean="0"/>
              <a:t>       각 컨테이너는</a:t>
            </a:r>
            <a:r>
              <a:rPr lang="en-US" altLang="ko-KR" sz="1500" dirty="0" smtClean="0"/>
              <a:t> [CPU, </a:t>
            </a:r>
            <a:r>
              <a:rPr lang="ko-KR" altLang="en-US" sz="1500" dirty="0" smtClean="0"/>
              <a:t>램</a:t>
            </a:r>
            <a:r>
              <a:rPr lang="en-US" altLang="ko-KR" sz="1500" dirty="0" smtClean="0"/>
              <a:t>, </a:t>
            </a:r>
            <a:r>
              <a:rPr lang="ko-KR" altLang="en-US" sz="1500" dirty="0" smtClean="0"/>
              <a:t>디스크</a:t>
            </a:r>
            <a:r>
              <a:rPr lang="en-US" altLang="ko-KR" sz="1500" dirty="0" smtClean="0"/>
              <a:t>]</a:t>
            </a:r>
            <a:r>
              <a:rPr lang="ko-KR" altLang="en-US" sz="1500" dirty="0" smtClean="0"/>
              <a:t> 보유</a:t>
            </a:r>
            <a:endParaRPr lang="ko-KR" altLang="en-US" sz="1500" dirty="0"/>
          </a:p>
        </p:txBody>
      </p:sp>
      <p:sp>
        <p:nvSpPr>
          <p:cNvPr id="77" name="오른쪽 화살표 76"/>
          <p:cNvSpPr/>
          <p:nvPr/>
        </p:nvSpPr>
        <p:spPr>
          <a:xfrm>
            <a:off x="8572435" y="1533993"/>
            <a:ext cx="224442" cy="191193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500"/>
          </a:p>
        </p:txBody>
      </p:sp>
      <p:sp>
        <p:nvSpPr>
          <p:cNvPr id="81" name="TextBox 80"/>
          <p:cNvSpPr txBox="1"/>
          <p:nvPr/>
        </p:nvSpPr>
        <p:spPr>
          <a:xfrm>
            <a:off x="8299632" y="3288605"/>
            <a:ext cx="2141586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200" dirty="0" smtClean="0"/>
              <a:t>컨테이너들은 </a:t>
            </a:r>
            <a:r>
              <a:rPr lang="en-US" altLang="ko-KR" sz="1200" dirty="0" smtClean="0"/>
              <a:t>Host</a:t>
            </a:r>
            <a:r>
              <a:rPr lang="ko-KR" altLang="en-US" sz="1200" dirty="0" smtClean="0"/>
              <a:t> </a:t>
            </a:r>
            <a:r>
              <a:rPr lang="en-US" altLang="ko-KR" sz="1200" dirty="0" smtClean="0"/>
              <a:t>OS </a:t>
            </a:r>
            <a:r>
              <a:rPr lang="ko-KR" altLang="en-US" sz="1200" dirty="0" smtClean="0"/>
              <a:t>공유</a:t>
            </a:r>
            <a:endParaRPr lang="ko-KR" altLang="en-US" sz="1200" dirty="0"/>
          </a:p>
        </p:txBody>
      </p:sp>
      <p:sp>
        <p:nvSpPr>
          <p:cNvPr id="82" name="오른쪽 화살표 81"/>
          <p:cNvSpPr/>
          <p:nvPr/>
        </p:nvSpPr>
        <p:spPr>
          <a:xfrm rot="5400000">
            <a:off x="753591" y="3504805"/>
            <a:ext cx="2210103" cy="661504"/>
          </a:xfrm>
          <a:prstGeom prst="rightArrow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500"/>
          </a:p>
        </p:txBody>
      </p:sp>
      <p:pic>
        <p:nvPicPr>
          <p:cNvPr id="83" name="그림 82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739719" y="5216858"/>
            <a:ext cx="493653" cy="501366"/>
          </a:xfrm>
          <a:prstGeom prst="rect">
            <a:avLst/>
          </a:prstGeom>
        </p:spPr>
      </p:pic>
      <p:pic>
        <p:nvPicPr>
          <p:cNvPr id="84" name="그림 83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90771" y="5212663"/>
            <a:ext cx="493653" cy="501366"/>
          </a:xfrm>
          <a:prstGeom prst="rect">
            <a:avLst/>
          </a:prstGeom>
        </p:spPr>
      </p:pic>
      <p:pic>
        <p:nvPicPr>
          <p:cNvPr id="85" name="그림 84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58652" y="5212663"/>
            <a:ext cx="493653" cy="501366"/>
          </a:xfrm>
          <a:prstGeom prst="rect">
            <a:avLst/>
          </a:prstGeom>
        </p:spPr>
      </p:pic>
      <p:pic>
        <p:nvPicPr>
          <p:cNvPr id="86" name="그림 85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739719" y="5754999"/>
            <a:ext cx="493653" cy="501366"/>
          </a:xfrm>
          <a:prstGeom prst="rect">
            <a:avLst/>
          </a:prstGeom>
        </p:spPr>
      </p:pic>
      <p:pic>
        <p:nvPicPr>
          <p:cNvPr id="87" name="그림 86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90771" y="5750804"/>
            <a:ext cx="493653" cy="501366"/>
          </a:xfrm>
          <a:prstGeom prst="rect">
            <a:avLst/>
          </a:prstGeom>
        </p:spPr>
      </p:pic>
      <p:pic>
        <p:nvPicPr>
          <p:cNvPr id="88" name="그림 87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58652" y="5750804"/>
            <a:ext cx="493653" cy="501366"/>
          </a:xfrm>
          <a:prstGeom prst="rect">
            <a:avLst/>
          </a:prstGeom>
        </p:spPr>
      </p:pic>
      <p:sp>
        <p:nvSpPr>
          <p:cNvPr id="89" name="TextBox 88"/>
          <p:cNvSpPr txBox="1"/>
          <p:nvPr/>
        </p:nvSpPr>
        <p:spPr>
          <a:xfrm>
            <a:off x="3670065" y="6254737"/>
            <a:ext cx="3222488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200" b="1" dirty="0" smtClean="0"/>
              <a:t>직원 </a:t>
            </a:r>
            <a:r>
              <a:rPr lang="en-US" altLang="ko-KR" sz="1200" b="1" dirty="0" smtClean="0"/>
              <a:t>16,000</a:t>
            </a:r>
            <a:r>
              <a:rPr lang="ko-KR" altLang="en-US" sz="1200" b="1" dirty="0" smtClean="0"/>
              <a:t>명이 사용 </a:t>
            </a:r>
            <a:r>
              <a:rPr lang="en-US" altLang="ko-KR" sz="1200" dirty="0" smtClean="0"/>
              <a:t>(</a:t>
            </a:r>
            <a:r>
              <a:rPr lang="ko-KR" altLang="en-US" sz="1200" dirty="0" smtClean="0"/>
              <a:t>동시 접속 </a:t>
            </a:r>
            <a:r>
              <a:rPr lang="en-US" altLang="ko-KR" sz="1200" dirty="0" smtClean="0"/>
              <a:t>3,000</a:t>
            </a:r>
            <a:r>
              <a:rPr lang="ko-KR" altLang="en-US" sz="1200" dirty="0" smtClean="0"/>
              <a:t>명</a:t>
            </a:r>
            <a:r>
              <a:rPr lang="en-US" altLang="ko-KR" sz="1200" dirty="0" smtClean="0"/>
              <a:t>)</a:t>
            </a:r>
            <a:endParaRPr lang="ko-KR" altLang="en-US" sz="1200" dirty="0"/>
          </a:p>
        </p:txBody>
      </p:sp>
      <p:pic>
        <p:nvPicPr>
          <p:cNvPr id="4" name="그림 3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388795" y="3651688"/>
            <a:ext cx="3421882" cy="3107398"/>
          </a:xfrm>
          <a:prstGeom prst="rect">
            <a:avLst/>
          </a:prstGeom>
        </p:spPr>
      </p:pic>
      <p:pic>
        <p:nvPicPr>
          <p:cNvPr id="5" name="그림 4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047993" y="1779809"/>
            <a:ext cx="2628664" cy="105511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42123755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직사각형 41"/>
          <p:cNvSpPr/>
          <p:nvPr/>
        </p:nvSpPr>
        <p:spPr>
          <a:xfrm>
            <a:off x="274320" y="224444"/>
            <a:ext cx="2086496" cy="498763"/>
          </a:xfrm>
          <a:prstGeom prst="rect">
            <a:avLst/>
          </a:prstGeom>
          <a:solidFill>
            <a:srgbClr val="00B0F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2300" b="1" dirty="0" smtClean="0"/>
              <a:t>차이점</a:t>
            </a:r>
            <a:endParaRPr lang="en-US" altLang="ko-KR" sz="2300" b="1" dirty="0" smtClean="0"/>
          </a:p>
        </p:txBody>
      </p:sp>
      <p:pic>
        <p:nvPicPr>
          <p:cNvPr id="3" name="그림 2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12700" y="2267772"/>
            <a:ext cx="528092" cy="536343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752963" y="1075331"/>
            <a:ext cx="2913502" cy="67710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3800" b="1" dirty="0" smtClean="0"/>
              <a:t>VM </a:t>
            </a:r>
            <a:r>
              <a:rPr lang="ko-KR" altLang="en-US" sz="3800" b="1" dirty="0" smtClean="0"/>
              <a:t>방식</a:t>
            </a:r>
            <a:endParaRPr lang="en-US" altLang="ko-KR" sz="3800" b="1" dirty="0"/>
          </a:p>
        </p:txBody>
      </p:sp>
      <p:sp>
        <p:nvSpPr>
          <p:cNvPr id="5" name="TextBox 4"/>
          <p:cNvSpPr txBox="1"/>
          <p:nvPr/>
        </p:nvSpPr>
        <p:spPr>
          <a:xfrm>
            <a:off x="4645392" y="1075331"/>
            <a:ext cx="4541469" cy="67710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3800" b="1" dirty="0" err="1" smtClean="0"/>
              <a:t>클라우드</a:t>
            </a:r>
            <a:r>
              <a:rPr lang="ko-KR" altLang="en-US" sz="3800" b="1" dirty="0" smtClean="0"/>
              <a:t> </a:t>
            </a:r>
            <a:r>
              <a:rPr lang="ko-KR" altLang="en-US" sz="3800" b="1" dirty="0" err="1" smtClean="0"/>
              <a:t>네이티브</a:t>
            </a:r>
            <a:endParaRPr lang="en-US" altLang="ko-KR" sz="3800" b="1" dirty="0"/>
          </a:p>
        </p:txBody>
      </p:sp>
      <p:sp>
        <p:nvSpPr>
          <p:cNvPr id="6" name="TextBox 5"/>
          <p:cNvSpPr txBox="1"/>
          <p:nvPr/>
        </p:nvSpPr>
        <p:spPr>
          <a:xfrm>
            <a:off x="1874951" y="2830153"/>
            <a:ext cx="1131683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200" b="1" dirty="0" smtClean="0"/>
              <a:t>VM 1</a:t>
            </a:r>
            <a:r>
              <a:rPr lang="ko-KR" altLang="en-US" sz="1200" b="1" dirty="0" smtClean="0"/>
              <a:t>개 할당</a:t>
            </a:r>
            <a:endParaRPr lang="ko-KR" altLang="en-US" sz="1200" b="1" dirty="0"/>
          </a:p>
        </p:txBody>
      </p:sp>
      <p:sp>
        <p:nvSpPr>
          <p:cNvPr id="7" name="TextBox 6"/>
          <p:cNvSpPr txBox="1"/>
          <p:nvPr/>
        </p:nvSpPr>
        <p:spPr>
          <a:xfrm>
            <a:off x="2890257" y="2835598"/>
            <a:ext cx="1022748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000" dirty="0" smtClean="0"/>
              <a:t>CPU: 1</a:t>
            </a:r>
            <a:r>
              <a:rPr lang="ko-KR" altLang="en-US" sz="1000" dirty="0" smtClean="0"/>
              <a:t>코어</a:t>
            </a:r>
            <a:endParaRPr lang="en-US" altLang="ko-KR" sz="1000" dirty="0" smtClean="0"/>
          </a:p>
          <a:p>
            <a:endParaRPr lang="en-US" altLang="ko-KR" sz="300" dirty="0"/>
          </a:p>
          <a:p>
            <a:r>
              <a:rPr lang="ko-KR" altLang="en-US" sz="1000" dirty="0" smtClean="0"/>
              <a:t>램</a:t>
            </a:r>
            <a:r>
              <a:rPr lang="en-US" altLang="ko-KR" sz="1000" dirty="0" smtClean="0"/>
              <a:t>:</a:t>
            </a:r>
            <a:r>
              <a:rPr lang="ko-KR" altLang="en-US" sz="1000" dirty="0" smtClean="0"/>
              <a:t> </a:t>
            </a:r>
            <a:r>
              <a:rPr lang="en-US" altLang="ko-KR" sz="1000" dirty="0" smtClean="0"/>
              <a:t>4GB</a:t>
            </a:r>
          </a:p>
          <a:p>
            <a:endParaRPr lang="en-US" altLang="ko-KR" sz="300" dirty="0"/>
          </a:p>
          <a:p>
            <a:r>
              <a:rPr lang="ko-KR" altLang="en-US" sz="1000" dirty="0" smtClean="0"/>
              <a:t>디스크</a:t>
            </a:r>
            <a:r>
              <a:rPr lang="en-US" altLang="ko-KR" sz="1000" dirty="0" smtClean="0"/>
              <a:t>: 256GB</a:t>
            </a:r>
            <a:endParaRPr lang="ko-KR" altLang="en-US" sz="1000" dirty="0"/>
          </a:p>
        </p:txBody>
      </p:sp>
      <p:sp>
        <p:nvSpPr>
          <p:cNvPr id="8" name="TextBox 7"/>
          <p:cNvSpPr txBox="1"/>
          <p:nvPr/>
        </p:nvSpPr>
        <p:spPr>
          <a:xfrm>
            <a:off x="4469077" y="2830153"/>
            <a:ext cx="1635632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200" b="1" dirty="0" smtClean="0"/>
              <a:t>컨테이너</a:t>
            </a:r>
            <a:r>
              <a:rPr lang="en-US" altLang="ko-KR" sz="1200" b="1" dirty="0" smtClean="0"/>
              <a:t> 1</a:t>
            </a:r>
            <a:r>
              <a:rPr lang="ko-KR" altLang="en-US" sz="1200" b="1" dirty="0" smtClean="0"/>
              <a:t>개 할당</a:t>
            </a:r>
            <a:endParaRPr lang="ko-KR" altLang="en-US" sz="1200" b="1" dirty="0"/>
          </a:p>
        </p:txBody>
      </p:sp>
      <p:sp>
        <p:nvSpPr>
          <p:cNvPr id="9" name="TextBox 8"/>
          <p:cNvSpPr txBox="1"/>
          <p:nvPr/>
        </p:nvSpPr>
        <p:spPr>
          <a:xfrm>
            <a:off x="5866707" y="2806761"/>
            <a:ext cx="1022748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000" dirty="0" smtClean="0"/>
              <a:t>CPU: 1</a:t>
            </a:r>
            <a:r>
              <a:rPr lang="ko-KR" altLang="en-US" sz="1000" dirty="0" smtClean="0"/>
              <a:t>코어</a:t>
            </a:r>
            <a:endParaRPr lang="en-US" altLang="ko-KR" sz="1000" dirty="0" smtClean="0"/>
          </a:p>
          <a:p>
            <a:endParaRPr lang="en-US" altLang="ko-KR" sz="300" dirty="0"/>
          </a:p>
          <a:p>
            <a:r>
              <a:rPr lang="ko-KR" altLang="en-US" sz="1000" dirty="0" smtClean="0"/>
              <a:t>램</a:t>
            </a:r>
            <a:r>
              <a:rPr lang="en-US" altLang="ko-KR" sz="1000" dirty="0" smtClean="0"/>
              <a:t>:</a:t>
            </a:r>
            <a:r>
              <a:rPr lang="ko-KR" altLang="en-US" sz="1000" dirty="0" smtClean="0"/>
              <a:t> </a:t>
            </a:r>
            <a:r>
              <a:rPr lang="en-US" altLang="ko-KR" sz="1000" dirty="0" smtClean="0"/>
              <a:t>4GB</a:t>
            </a:r>
          </a:p>
          <a:p>
            <a:endParaRPr lang="en-US" altLang="ko-KR" sz="300" dirty="0"/>
          </a:p>
          <a:p>
            <a:r>
              <a:rPr lang="ko-KR" altLang="en-US" sz="1000" dirty="0" smtClean="0"/>
              <a:t>디스크</a:t>
            </a:r>
            <a:r>
              <a:rPr lang="en-US" altLang="ko-KR" sz="1000" dirty="0" smtClean="0"/>
              <a:t>: 256GB</a:t>
            </a:r>
            <a:endParaRPr lang="ko-KR" altLang="en-US" sz="1000" dirty="0"/>
          </a:p>
        </p:txBody>
      </p:sp>
      <p:sp>
        <p:nvSpPr>
          <p:cNvPr id="12" name="직사각형 11"/>
          <p:cNvSpPr/>
          <p:nvPr/>
        </p:nvSpPr>
        <p:spPr>
          <a:xfrm>
            <a:off x="6977254" y="2864942"/>
            <a:ext cx="1108749" cy="358632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 w="952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500" smtClean="0">
                <a:solidFill>
                  <a:schemeClr val="tx1"/>
                </a:solidFill>
              </a:rPr>
              <a:t>컨테이너</a:t>
            </a:r>
            <a:endParaRPr lang="ko-KR" altLang="en-US" sz="1500">
              <a:solidFill>
                <a:schemeClr val="tx1"/>
              </a:solidFill>
            </a:endParaRPr>
          </a:p>
        </p:txBody>
      </p:sp>
      <p:sp>
        <p:nvSpPr>
          <p:cNvPr id="14" name="직사각형 13"/>
          <p:cNvSpPr/>
          <p:nvPr/>
        </p:nvSpPr>
        <p:spPr>
          <a:xfrm>
            <a:off x="44817" y="2816969"/>
            <a:ext cx="1712422" cy="620013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b="1" smtClean="0">
                <a:solidFill>
                  <a:schemeClr val="tx1"/>
                </a:solidFill>
              </a:rPr>
              <a:t>맨 처음</a:t>
            </a:r>
            <a:endParaRPr lang="en-US" altLang="ko-KR" b="1" dirty="0" smtClean="0">
              <a:solidFill>
                <a:schemeClr val="tx1"/>
              </a:solidFill>
            </a:endParaRPr>
          </a:p>
        </p:txBody>
      </p:sp>
      <p:sp>
        <p:nvSpPr>
          <p:cNvPr id="15" name="직사각형 14"/>
          <p:cNvSpPr/>
          <p:nvPr/>
        </p:nvSpPr>
        <p:spPr>
          <a:xfrm>
            <a:off x="44817" y="5416835"/>
            <a:ext cx="1712422" cy="620013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b="1" dirty="0" smtClean="0">
                <a:solidFill>
                  <a:schemeClr val="tx1"/>
                </a:solidFill>
              </a:rPr>
              <a:t>자원 더 필요</a:t>
            </a:r>
            <a:r>
              <a:rPr lang="en-US" altLang="ko-KR" b="1" dirty="0" smtClean="0">
                <a:solidFill>
                  <a:schemeClr val="tx1"/>
                </a:solidFill>
              </a:rPr>
              <a:t>?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156371" y="5542175"/>
            <a:ext cx="146777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b="1" smtClean="0"/>
              <a:t>이용 불가</a:t>
            </a:r>
            <a:endParaRPr lang="ko-KR" altLang="en-US" b="1" dirty="0"/>
          </a:p>
        </p:txBody>
      </p:sp>
      <p:sp>
        <p:nvSpPr>
          <p:cNvPr id="17" name="TextBox 16"/>
          <p:cNvSpPr txBox="1"/>
          <p:nvPr/>
        </p:nvSpPr>
        <p:spPr>
          <a:xfrm>
            <a:off x="4552999" y="5439342"/>
            <a:ext cx="1551710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200" b="1" dirty="0" smtClean="0"/>
              <a:t>컨테이너</a:t>
            </a:r>
            <a:r>
              <a:rPr lang="en-US" altLang="ko-KR" sz="1200" b="1" dirty="0" smtClean="0"/>
              <a:t> 1</a:t>
            </a:r>
            <a:r>
              <a:rPr lang="ko-KR" altLang="en-US" sz="1200" b="1" dirty="0" smtClean="0"/>
              <a:t>개 추가</a:t>
            </a:r>
            <a:endParaRPr lang="ko-KR" altLang="en-US" sz="1200" b="1" dirty="0"/>
          </a:p>
        </p:txBody>
      </p:sp>
      <p:sp>
        <p:nvSpPr>
          <p:cNvPr id="19" name="직사각형 18"/>
          <p:cNvSpPr/>
          <p:nvPr/>
        </p:nvSpPr>
        <p:spPr>
          <a:xfrm>
            <a:off x="7094966" y="5357709"/>
            <a:ext cx="1108749" cy="358632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 w="952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500" smtClean="0">
                <a:solidFill>
                  <a:schemeClr val="tx1"/>
                </a:solidFill>
              </a:rPr>
              <a:t>컨테이너</a:t>
            </a:r>
            <a:endParaRPr lang="ko-KR" altLang="en-US" sz="1500">
              <a:solidFill>
                <a:schemeClr val="tx1"/>
              </a:solidFill>
            </a:endParaRPr>
          </a:p>
        </p:txBody>
      </p:sp>
      <p:sp>
        <p:nvSpPr>
          <p:cNvPr id="21" name="직사각형 20"/>
          <p:cNvSpPr/>
          <p:nvPr/>
        </p:nvSpPr>
        <p:spPr>
          <a:xfrm>
            <a:off x="7094966" y="5750613"/>
            <a:ext cx="1108749" cy="358632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 w="952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500" smtClean="0">
                <a:solidFill>
                  <a:schemeClr val="tx1"/>
                </a:solidFill>
              </a:rPr>
              <a:t>컨테이너</a:t>
            </a:r>
            <a:endParaRPr lang="ko-KR" altLang="en-US" sz="1500">
              <a:solidFill>
                <a:schemeClr val="tx1"/>
              </a:solidFill>
            </a:endParaRPr>
          </a:p>
        </p:txBody>
      </p:sp>
      <p:cxnSp>
        <p:nvCxnSpPr>
          <p:cNvPr id="22" name="직선 연결선 21"/>
          <p:cNvCxnSpPr/>
          <p:nvPr/>
        </p:nvCxnSpPr>
        <p:spPr>
          <a:xfrm>
            <a:off x="4336869" y="0"/>
            <a:ext cx="33053" cy="6858000"/>
          </a:xfrm>
          <a:prstGeom prst="line">
            <a:avLst/>
          </a:prstGeom>
          <a:ln w="1905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27" name="그림 26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57415" y="5024112"/>
            <a:ext cx="493653" cy="501366"/>
          </a:xfrm>
          <a:prstGeom prst="rect">
            <a:avLst/>
          </a:prstGeom>
        </p:spPr>
      </p:pic>
      <p:sp>
        <p:nvSpPr>
          <p:cNvPr id="28" name="TextBox 27"/>
          <p:cNvSpPr txBox="1"/>
          <p:nvPr/>
        </p:nvSpPr>
        <p:spPr>
          <a:xfrm>
            <a:off x="8902468" y="5274795"/>
            <a:ext cx="2038378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200" dirty="0" smtClean="0"/>
              <a:t>CPU, </a:t>
            </a:r>
            <a:r>
              <a:rPr lang="ko-KR" altLang="en-US" sz="1200" dirty="0" smtClean="0"/>
              <a:t>램이 부족하면</a:t>
            </a:r>
            <a:r>
              <a:rPr lang="en-US" altLang="ko-KR" sz="1200" dirty="0" smtClean="0"/>
              <a:t>?</a:t>
            </a:r>
            <a:endParaRPr lang="ko-KR" altLang="en-US" sz="1200" dirty="0"/>
          </a:p>
        </p:txBody>
      </p:sp>
      <p:sp>
        <p:nvSpPr>
          <p:cNvPr id="29" name="TextBox 28"/>
          <p:cNvSpPr txBox="1"/>
          <p:nvPr/>
        </p:nvSpPr>
        <p:spPr>
          <a:xfrm>
            <a:off x="8568552" y="5627933"/>
            <a:ext cx="248550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dirty="0" smtClean="0"/>
              <a:t>컨테이너 자동 추가</a:t>
            </a:r>
            <a:endParaRPr lang="en-US" altLang="ko-KR" dirty="0"/>
          </a:p>
        </p:txBody>
      </p:sp>
      <p:sp>
        <p:nvSpPr>
          <p:cNvPr id="30" name="직사각형 29"/>
          <p:cNvSpPr/>
          <p:nvPr/>
        </p:nvSpPr>
        <p:spPr>
          <a:xfrm>
            <a:off x="8728735" y="6083120"/>
            <a:ext cx="671093" cy="36576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500" b="1" dirty="0" smtClean="0"/>
              <a:t>HPA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341349" y="6171881"/>
            <a:ext cx="2014625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200" dirty="0" smtClean="0"/>
              <a:t>Horizontal Pod Autoscaler</a:t>
            </a:r>
            <a:endParaRPr lang="ko-KR" altLang="en-US" sz="1200" dirty="0"/>
          </a:p>
        </p:txBody>
      </p:sp>
      <p:pic>
        <p:nvPicPr>
          <p:cNvPr id="32" name="그림 31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02151" y="2293810"/>
            <a:ext cx="528092" cy="536343"/>
          </a:xfrm>
          <a:prstGeom prst="rect">
            <a:avLst/>
          </a:prstGeom>
        </p:spPr>
      </p:pic>
      <p:sp>
        <p:nvSpPr>
          <p:cNvPr id="33" name="직사각형 32"/>
          <p:cNvSpPr/>
          <p:nvPr/>
        </p:nvSpPr>
        <p:spPr>
          <a:xfrm>
            <a:off x="1874951" y="3545673"/>
            <a:ext cx="1166063" cy="267012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200" b="1" smtClean="0"/>
              <a:t>하이퍼바이저</a:t>
            </a:r>
            <a:endParaRPr lang="en-US" altLang="ko-KR" sz="1200" b="1" dirty="0" smtClean="0"/>
          </a:p>
        </p:txBody>
      </p:sp>
      <p:pic>
        <p:nvPicPr>
          <p:cNvPr id="34" name="그림 33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71610" y="3401782"/>
            <a:ext cx="1476360" cy="59259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47501052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그림 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93429" y="4236108"/>
            <a:ext cx="4076006" cy="2458360"/>
          </a:xfrm>
          <a:prstGeom prst="rect">
            <a:avLst/>
          </a:prstGeom>
        </p:spPr>
      </p:pic>
      <p:sp>
        <p:nvSpPr>
          <p:cNvPr id="42" name="직사각형 41"/>
          <p:cNvSpPr/>
          <p:nvPr/>
        </p:nvSpPr>
        <p:spPr>
          <a:xfrm>
            <a:off x="274319" y="224444"/>
            <a:ext cx="3749041" cy="498763"/>
          </a:xfrm>
          <a:prstGeom prst="rect">
            <a:avLst/>
          </a:prstGeom>
          <a:solidFill>
            <a:srgbClr val="00B0F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2300" b="1" dirty="0" err="1" smtClean="0"/>
              <a:t>클라우드</a:t>
            </a:r>
            <a:r>
              <a:rPr lang="ko-KR" altLang="en-US" sz="2300" b="1" dirty="0" smtClean="0"/>
              <a:t> </a:t>
            </a:r>
            <a:r>
              <a:rPr lang="ko-KR" altLang="en-US" sz="2300" b="1" dirty="0" err="1" smtClean="0"/>
              <a:t>네이티브의</a:t>
            </a:r>
            <a:r>
              <a:rPr lang="ko-KR" altLang="en-US" sz="2300" b="1" dirty="0" smtClean="0"/>
              <a:t> 용도</a:t>
            </a:r>
            <a:endParaRPr lang="en-US" altLang="ko-KR" sz="2300" b="1" dirty="0" smtClean="0"/>
          </a:p>
        </p:txBody>
      </p:sp>
      <p:sp>
        <p:nvSpPr>
          <p:cNvPr id="3" name="직사각형 2"/>
          <p:cNvSpPr/>
          <p:nvPr/>
        </p:nvSpPr>
        <p:spPr>
          <a:xfrm>
            <a:off x="7460777" y="379845"/>
            <a:ext cx="1108749" cy="358632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 w="952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500" smtClean="0">
                <a:solidFill>
                  <a:schemeClr val="tx1"/>
                </a:solidFill>
              </a:rPr>
              <a:t>컨테이너</a:t>
            </a:r>
            <a:endParaRPr lang="ko-KR" altLang="en-US" sz="1500">
              <a:solidFill>
                <a:schemeClr val="tx1"/>
              </a:solidFill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8536081" y="400041"/>
            <a:ext cx="1265613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000" dirty="0" smtClean="0"/>
              <a:t>CPU: 0.1</a:t>
            </a:r>
            <a:r>
              <a:rPr lang="ko-KR" altLang="en-US" sz="1000" dirty="0" smtClean="0"/>
              <a:t>코어</a:t>
            </a:r>
            <a:endParaRPr lang="en-US" altLang="ko-KR" sz="1000" dirty="0" smtClean="0"/>
          </a:p>
          <a:p>
            <a:endParaRPr lang="en-US" altLang="ko-KR" sz="300" dirty="0"/>
          </a:p>
          <a:p>
            <a:r>
              <a:rPr lang="ko-KR" altLang="en-US" sz="1000" dirty="0" smtClean="0"/>
              <a:t>램</a:t>
            </a:r>
            <a:r>
              <a:rPr lang="en-US" altLang="ko-KR" sz="1000" dirty="0" smtClean="0"/>
              <a:t>:</a:t>
            </a:r>
            <a:r>
              <a:rPr lang="ko-KR" altLang="en-US" sz="1000" dirty="0" smtClean="0"/>
              <a:t> </a:t>
            </a:r>
            <a:r>
              <a:rPr lang="en-US" altLang="ko-KR" sz="1000" dirty="0" smtClean="0"/>
              <a:t>256 MB</a:t>
            </a:r>
          </a:p>
          <a:p>
            <a:endParaRPr lang="en-US" altLang="ko-KR" sz="300" dirty="0"/>
          </a:p>
          <a:p>
            <a:r>
              <a:rPr lang="ko-KR" altLang="en-US" sz="1000" dirty="0" smtClean="0"/>
              <a:t>디스크</a:t>
            </a:r>
            <a:r>
              <a:rPr lang="en-US" altLang="ko-KR" sz="1000" dirty="0" smtClean="0"/>
              <a:t>: 256 MB</a:t>
            </a:r>
            <a:endParaRPr lang="ko-KR" altLang="en-US" sz="1000" dirty="0"/>
          </a:p>
        </p:txBody>
      </p:sp>
      <p:sp>
        <p:nvSpPr>
          <p:cNvPr id="6" name="직사각형 5"/>
          <p:cNvSpPr/>
          <p:nvPr/>
        </p:nvSpPr>
        <p:spPr>
          <a:xfrm>
            <a:off x="502429" y="3139401"/>
            <a:ext cx="1909845" cy="507818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  <a:ln w="952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 smtClean="0">
                <a:solidFill>
                  <a:schemeClr val="tx1"/>
                </a:solidFill>
              </a:rPr>
              <a:t>징수통합시스템</a:t>
            </a:r>
            <a:endParaRPr lang="ko-KR" altLang="en-US" dirty="0">
              <a:solidFill>
                <a:schemeClr val="tx1"/>
              </a:solidFill>
            </a:endParaRPr>
          </a:p>
        </p:txBody>
      </p:sp>
      <p:sp>
        <p:nvSpPr>
          <p:cNvPr id="7" name="직사각형 6"/>
          <p:cNvSpPr/>
          <p:nvPr/>
        </p:nvSpPr>
        <p:spPr>
          <a:xfrm>
            <a:off x="7486704" y="1802671"/>
            <a:ext cx="1108749" cy="358632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 w="952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500" smtClean="0">
                <a:solidFill>
                  <a:schemeClr val="tx1"/>
                </a:solidFill>
              </a:rPr>
              <a:t>컨테이너</a:t>
            </a:r>
            <a:endParaRPr lang="ko-KR" altLang="en-US" sz="1500">
              <a:solidFill>
                <a:schemeClr val="tx1"/>
              </a:solidFill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8651568" y="1843487"/>
            <a:ext cx="1546168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200" dirty="0" smtClean="0"/>
              <a:t>인증 </a:t>
            </a:r>
            <a:r>
              <a:rPr lang="en-US" altLang="ko-KR" sz="1200" dirty="0" smtClean="0"/>
              <a:t>MSA 1</a:t>
            </a:r>
            <a:r>
              <a:rPr lang="ko-KR" altLang="en-US" sz="1200" dirty="0" smtClean="0"/>
              <a:t>개 수행</a:t>
            </a:r>
            <a:endParaRPr lang="ko-KR" altLang="en-US" sz="1200" dirty="0"/>
          </a:p>
        </p:txBody>
      </p:sp>
      <p:sp>
        <p:nvSpPr>
          <p:cNvPr id="9" name="직사각형 8"/>
          <p:cNvSpPr/>
          <p:nvPr/>
        </p:nvSpPr>
        <p:spPr>
          <a:xfrm>
            <a:off x="7486704" y="2235995"/>
            <a:ext cx="1108749" cy="358632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 w="952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500" smtClean="0">
                <a:solidFill>
                  <a:schemeClr val="tx1"/>
                </a:solidFill>
              </a:rPr>
              <a:t>컨테이너</a:t>
            </a:r>
            <a:endParaRPr lang="ko-KR" altLang="en-US" sz="1500">
              <a:solidFill>
                <a:schemeClr val="tx1"/>
              </a:solidFill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8651568" y="2276811"/>
            <a:ext cx="2434442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200" dirty="0" smtClean="0"/>
              <a:t>사용자</a:t>
            </a:r>
            <a:r>
              <a:rPr lang="en-US" altLang="ko-KR" sz="1200" dirty="0" smtClean="0"/>
              <a:t>DB</a:t>
            </a:r>
            <a:r>
              <a:rPr lang="ko-KR" altLang="en-US" sz="1200" dirty="0" smtClean="0"/>
              <a:t> 조회 </a:t>
            </a:r>
            <a:r>
              <a:rPr lang="en-US" altLang="ko-KR" sz="1200" dirty="0" smtClean="0"/>
              <a:t>MSA 1</a:t>
            </a:r>
            <a:r>
              <a:rPr lang="ko-KR" altLang="en-US" sz="1200" dirty="0" smtClean="0"/>
              <a:t>개 수행</a:t>
            </a:r>
            <a:endParaRPr lang="ko-KR" altLang="en-US" sz="1200" dirty="0"/>
          </a:p>
        </p:txBody>
      </p:sp>
      <p:sp>
        <p:nvSpPr>
          <p:cNvPr id="11" name="직사각형 10"/>
          <p:cNvSpPr/>
          <p:nvPr/>
        </p:nvSpPr>
        <p:spPr>
          <a:xfrm>
            <a:off x="7486704" y="2692717"/>
            <a:ext cx="1108749" cy="358632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 w="952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500" smtClean="0">
                <a:solidFill>
                  <a:schemeClr val="tx1"/>
                </a:solidFill>
              </a:rPr>
              <a:t>컨테이너</a:t>
            </a:r>
            <a:endParaRPr lang="ko-KR" altLang="en-US" sz="1500">
              <a:solidFill>
                <a:schemeClr val="tx1"/>
              </a:solidFill>
            </a:endParaRPr>
          </a:p>
        </p:txBody>
      </p:sp>
      <p:sp>
        <p:nvSpPr>
          <p:cNvPr id="12" name="TextBox 11"/>
          <p:cNvSpPr txBox="1"/>
          <p:nvPr/>
        </p:nvSpPr>
        <p:spPr>
          <a:xfrm>
            <a:off x="8651568" y="2733533"/>
            <a:ext cx="1650671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200" dirty="0" smtClean="0"/>
              <a:t>권한 </a:t>
            </a:r>
            <a:r>
              <a:rPr lang="en-US" altLang="ko-KR" sz="1200" dirty="0" smtClean="0"/>
              <a:t>MSA 1</a:t>
            </a:r>
            <a:r>
              <a:rPr lang="ko-KR" altLang="en-US" sz="1200" dirty="0" smtClean="0"/>
              <a:t>개 수행</a:t>
            </a:r>
            <a:endParaRPr lang="ko-KR" altLang="en-US" sz="1200" dirty="0"/>
          </a:p>
        </p:txBody>
      </p:sp>
      <p:sp>
        <p:nvSpPr>
          <p:cNvPr id="13" name="TextBox 12"/>
          <p:cNvSpPr txBox="1"/>
          <p:nvPr/>
        </p:nvSpPr>
        <p:spPr>
          <a:xfrm>
            <a:off x="274319" y="1019350"/>
            <a:ext cx="6762207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2800" b="1" u="sng" dirty="0" smtClean="0"/>
              <a:t>컨테이너</a:t>
            </a:r>
            <a:r>
              <a:rPr lang="ko-KR" altLang="en-US" sz="2100" dirty="0" smtClean="0"/>
              <a:t>를 사람이 아닌 </a:t>
            </a:r>
            <a:r>
              <a:rPr lang="ko-KR" altLang="en-US" sz="2800" b="1" u="sng" dirty="0" smtClean="0"/>
              <a:t>애플리케이션</a:t>
            </a:r>
            <a:r>
              <a:rPr lang="ko-KR" altLang="en-US" sz="2100" dirty="0" smtClean="0"/>
              <a:t>에 할당</a:t>
            </a:r>
            <a:endParaRPr lang="ko-KR" altLang="en-US" sz="2100" dirty="0"/>
          </a:p>
        </p:txBody>
      </p:sp>
      <p:sp>
        <p:nvSpPr>
          <p:cNvPr id="14" name="직사각형 13"/>
          <p:cNvSpPr/>
          <p:nvPr/>
        </p:nvSpPr>
        <p:spPr>
          <a:xfrm>
            <a:off x="517668" y="3714442"/>
            <a:ext cx="1909845" cy="507818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  <a:ln w="952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 smtClean="0">
                <a:solidFill>
                  <a:schemeClr val="tx1"/>
                </a:solidFill>
              </a:rPr>
              <a:t>통합급여시스템</a:t>
            </a:r>
            <a:endParaRPr lang="ko-KR" altLang="en-US" dirty="0">
              <a:solidFill>
                <a:schemeClr val="tx1"/>
              </a:solidFill>
            </a:endParaRPr>
          </a:p>
        </p:txBody>
      </p:sp>
      <p:sp>
        <p:nvSpPr>
          <p:cNvPr id="15" name="직사각형 14"/>
          <p:cNvSpPr/>
          <p:nvPr/>
        </p:nvSpPr>
        <p:spPr>
          <a:xfrm>
            <a:off x="517668" y="4311769"/>
            <a:ext cx="1909845" cy="507818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  <a:ln w="952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 smtClean="0">
                <a:solidFill>
                  <a:schemeClr val="tx1"/>
                </a:solidFill>
              </a:rPr>
              <a:t>장기요양시스템</a:t>
            </a:r>
            <a:endParaRPr lang="ko-KR" altLang="en-US" dirty="0">
              <a:solidFill>
                <a:schemeClr val="tx1"/>
              </a:solidFill>
            </a:endParaRPr>
          </a:p>
        </p:txBody>
      </p:sp>
      <p:sp>
        <p:nvSpPr>
          <p:cNvPr id="16" name="직사각형 15"/>
          <p:cNvSpPr/>
          <p:nvPr/>
        </p:nvSpPr>
        <p:spPr>
          <a:xfrm>
            <a:off x="517667" y="1972789"/>
            <a:ext cx="1909845" cy="507818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  <a:ln w="952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 smtClean="0">
                <a:solidFill>
                  <a:schemeClr val="tx1"/>
                </a:solidFill>
              </a:rPr>
              <a:t>통합로그인</a:t>
            </a:r>
            <a:endParaRPr lang="ko-KR" altLang="en-US" dirty="0">
              <a:solidFill>
                <a:schemeClr val="tx1"/>
              </a:solidFill>
            </a:endParaRPr>
          </a:p>
        </p:txBody>
      </p:sp>
      <p:sp>
        <p:nvSpPr>
          <p:cNvPr id="17" name="직사각형 16"/>
          <p:cNvSpPr/>
          <p:nvPr/>
        </p:nvSpPr>
        <p:spPr>
          <a:xfrm>
            <a:off x="517667" y="4909096"/>
            <a:ext cx="1909845" cy="507818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  <a:ln w="952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 err="1" smtClean="0">
                <a:solidFill>
                  <a:schemeClr val="tx1"/>
                </a:solidFill>
              </a:rPr>
              <a:t>포털시스템</a:t>
            </a:r>
            <a:endParaRPr lang="ko-KR" altLang="en-US" dirty="0">
              <a:solidFill>
                <a:schemeClr val="tx1"/>
              </a:solidFill>
            </a:endParaRPr>
          </a:p>
        </p:txBody>
      </p:sp>
      <p:sp>
        <p:nvSpPr>
          <p:cNvPr id="2" name="모서리가 둥근 사각형 설명선 1"/>
          <p:cNvSpPr/>
          <p:nvPr/>
        </p:nvSpPr>
        <p:spPr>
          <a:xfrm>
            <a:off x="4484914" y="1802671"/>
            <a:ext cx="2290553" cy="2020390"/>
          </a:xfrm>
          <a:prstGeom prst="wedgeRoundRectCallout">
            <a:avLst>
              <a:gd name="adj1" fmla="val -137603"/>
              <a:gd name="adj2" fmla="val -31223"/>
              <a:gd name="adj3" fmla="val 16667"/>
            </a:avLst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>
              <a:solidFill>
                <a:schemeClr val="tx1"/>
              </a:solidFill>
            </a:endParaRPr>
          </a:p>
        </p:txBody>
      </p:sp>
      <p:sp>
        <p:nvSpPr>
          <p:cNvPr id="18" name="TextBox 17"/>
          <p:cNvSpPr txBox="1"/>
          <p:nvPr/>
        </p:nvSpPr>
        <p:spPr>
          <a:xfrm>
            <a:off x="4658887" y="1946010"/>
            <a:ext cx="2116580" cy="169277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200" b="1" dirty="0" smtClean="0"/>
              <a:t>인증</a:t>
            </a:r>
            <a:r>
              <a:rPr lang="ko-KR" altLang="en-US" sz="1200" dirty="0" smtClean="0"/>
              <a:t> </a:t>
            </a:r>
            <a:r>
              <a:rPr lang="ko-KR" altLang="en-US" sz="1000" dirty="0" smtClean="0"/>
              <a:t>애플리케이션</a:t>
            </a:r>
            <a:endParaRPr lang="en-US" altLang="ko-KR" sz="1000" dirty="0" smtClean="0"/>
          </a:p>
          <a:p>
            <a:endParaRPr lang="en-US" altLang="ko-KR" sz="1200" dirty="0"/>
          </a:p>
          <a:p>
            <a:r>
              <a:rPr lang="ko-KR" altLang="en-US" sz="1200" b="1" dirty="0" smtClean="0"/>
              <a:t>사용자 </a:t>
            </a:r>
            <a:r>
              <a:rPr lang="en-US" altLang="ko-KR" sz="1200" b="1" dirty="0" smtClean="0"/>
              <a:t>DB </a:t>
            </a:r>
            <a:r>
              <a:rPr lang="ko-KR" altLang="en-US" sz="1200" b="1" dirty="0" smtClean="0"/>
              <a:t>조회 </a:t>
            </a:r>
            <a:r>
              <a:rPr lang="ko-KR" altLang="en-US" sz="1000" dirty="0" smtClean="0"/>
              <a:t>애플리케이션</a:t>
            </a:r>
            <a:endParaRPr lang="en-US" altLang="ko-KR" sz="1000" dirty="0" smtClean="0"/>
          </a:p>
          <a:p>
            <a:endParaRPr lang="en-US" altLang="ko-KR" sz="1200" dirty="0"/>
          </a:p>
          <a:p>
            <a:r>
              <a:rPr lang="ko-KR" altLang="en-US" sz="1200" b="1" dirty="0" err="1" smtClean="0"/>
              <a:t>권한부여</a:t>
            </a:r>
            <a:r>
              <a:rPr lang="ko-KR" altLang="en-US" sz="1200" dirty="0" smtClean="0"/>
              <a:t> </a:t>
            </a:r>
            <a:r>
              <a:rPr lang="ko-KR" altLang="en-US" sz="1000" dirty="0" smtClean="0"/>
              <a:t>애플리케이션</a:t>
            </a:r>
            <a:endParaRPr lang="en-US" altLang="ko-KR" sz="1000" dirty="0" smtClean="0"/>
          </a:p>
          <a:p>
            <a:endParaRPr lang="en-US" altLang="ko-KR" sz="1000" dirty="0"/>
          </a:p>
          <a:p>
            <a:r>
              <a:rPr lang="ko-KR" altLang="en-US" sz="1200" b="1" dirty="0" smtClean="0"/>
              <a:t>세션 관리 </a:t>
            </a:r>
            <a:r>
              <a:rPr lang="ko-KR" altLang="en-US" sz="1000" dirty="0" smtClean="0"/>
              <a:t>애플리케이션</a:t>
            </a:r>
            <a:endParaRPr lang="en-US" altLang="ko-KR" sz="1000" dirty="0"/>
          </a:p>
          <a:p>
            <a:endParaRPr lang="en-US" altLang="ko-KR" sz="1000" dirty="0"/>
          </a:p>
          <a:p>
            <a:r>
              <a:rPr lang="ko-KR" altLang="en-US" sz="1200" b="1" dirty="0" smtClean="0"/>
              <a:t>로그</a:t>
            </a:r>
            <a:r>
              <a:rPr lang="ko-KR" altLang="en-US" sz="1000" dirty="0" smtClean="0"/>
              <a:t> 애플리케이션</a:t>
            </a:r>
            <a:endParaRPr lang="en-US" altLang="ko-KR" sz="1000" dirty="0"/>
          </a:p>
        </p:txBody>
      </p:sp>
      <p:sp>
        <p:nvSpPr>
          <p:cNvPr id="19" name="직사각형 18"/>
          <p:cNvSpPr/>
          <p:nvPr/>
        </p:nvSpPr>
        <p:spPr>
          <a:xfrm>
            <a:off x="7486704" y="3182059"/>
            <a:ext cx="1108749" cy="358632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 w="952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500" smtClean="0">
                <a:solidFill>
                  <a:schemeClr val="tx1"/>
                </a:solidFill>
              </a:rPr>
              <a:t>컨테이너</a:t>
            </a:r>
            <a:endParaRPr lang="ko-KR" altLang="en-US" sz="1500">
              <a:solidFill>
                <a:schemeClr val="tx1"/>
              </a:solidFill>
            </a:endParaRPr>
          </a:p>
        </p:txBody>
      </p:sp>
      <p:sp>
        <p:nvSpPr>
          <p:cNvPr id="20" name="TextBox 19"/>
          <p:cNvSpPr txBox="1"/>
          <p:nvPr/>
        </p:nvSpPr>
        <p:spPr>
          <a:xfrm>
            <a:off x="8651568" y="3222875"/>
            <a:ext cx="2434442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200" dirty="0" smtClean="0"/>
              <a:t>세션 </a:t>
            </a:r>
            <a:r>
              <a:rPr lang="en-US" altLang="ko-KR" sz="1200" dirty="0" smtClean="0"/>
              <a:t>MSA 1</a:t>
            </a:r>
            <a:r>
              <a:rPr lang="ko-KR" altLang="en-US" sz="1200" dirty="0" smtClean="0"/>
              <a:t>개 수행</a:t>
            </a:r>
            <a:endParaRPr lang="ko-KR" altLang="en-US" sz="1200" dirty="0"/>
          </a:p>
        </p:txBody>
      </p:sp>
      <p:sp>
        <p:nvSpPr>
          <p:cNvPr id="21" name="직사각형 20"/>
          <p:cNvSpPr/>
          <p:nvPr/>
        </p:nvSpPr>
        <p:spPr>
          <a:xfrm>
            <a:off x="7486704" y="3638781"/>
            <a:ext cx="1108749" cy="358632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 w="952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500" smtClean="0">
                <a:solidFill>
                  <a:schemeClr val="tx1"/>
                </a:solidFill>
              </a:rPr>
              <a:t>컨테이너</a:t>
            </a:r>
            <a:endParaRPr lang="ko-KR" altLang="en-US" sz="1500">
              <a:solidFill>
                <a:schemeClr val="tx1"/>
              </a:solidFill>
            </a:endParaRPr>
          </a:p>
        </p:txBody>
      </p:sp>
      <p:sp>
        <p:nvSpPr>
          <p:cNvPr id="22" name="TextBox 21"/>
          <p:cNvSpPr txBox="1"/>
          <p:nvPr/>
        </p:nvSpPr>
        <p:spPr>
          <a:xfrm>
            <a:off x="8651568" y="3679597"/>
            <a:ext cx="1650671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200" dirty="0" smtClean="0"/>
              <a:t>로그 </a:t>
            </a:r>
            <a:r>
              <a:rPr lang="en-US" altLang="ko-KR" sz="1200" dirty="0" smtClean="0"/>
              <a:t>MSA 1</a:t>
            </a:r>
            <a:r>
              <a:rPr lang="ko-KR" altLang="en-US" sz="1200" dirty="0" smtClean="0"/>
              <a:t>개 수행</a:t>
            </a:r>
            <a:endParaRPr lang="ko-KR" altLang="en-US" sz="1200" dirty="0"/>
          </a:p>
        </p:txBody>
      </p:sp>
      <p:sp>
        <p:nvSpPr>
          <p:cNvPr id="23" name="TextBox 22"/>
          <p:cNvSpPr txBox="1"/>
          <p:nvPr/>
        </p:nvSpPr>
        <p:spPr>
          <a:xfrm>
            <a:off x="6856712" y="6040466"/>
            <a:ext cx="4940334" cy="7232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b="1" dirty="0" smtClean="0"/>
              <a:t>MSA : Micro Service Architecture</a:t>
            </a:r>
            <a:endParaRPr lang="en-US" altLang="ko-KR" dirty="0" smtClean="0"/>
          </a:p>
          <a:p>
            <a:endParaRPr lang="en-US" altLang="ko-KR" sz="500" dirty="0" smtClean="0"/>
          </a:p>
          <a:p>
            <a:r>
              <a:rPr lang="en-US" altLang="ko-KR" dirty="0" smtClean="0"/>
              <a:t>         1</a:t>
            </a:r>
            <a:r>
              <a:rPr lang="en-US" altLang="ko-KR" dirty="0"/>
              <a:t> </a:t>
            </a:r>
            <a:r>
              <a:rPr lang="ko-KR" altLang="en-US" dirty="0" smtClean="0"/>
              <a:t>프로그램을 작은 서비스들로 나눈 것</a:t>
            </a:r>
            <a:endParaRPr lang="en-US" altLang="ko-KR" dirty="0" smtClean="0"/>
          </a:p>
        </p:txBody>
      </p:sp>
      <p:sp>
        <p:nvSpPr>
          <p:cNvPr id="25" name="직사각형 24"/>
          <p:cNvSpPr/>
          <p:nvPr/>
        </p:nvSpPr>
        <p:spPr>
          <a:xfrm>
            <a:off x="508958" y="2555568"/>
            <a:ext cx="1909845" cy="507818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  <a:ln w="952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 smtClean="0">
                <a:solidFill>
                  <a:schemeClr val="tx1"/>
                </a:solidFill>
              </a:rPr>
              <a:t>자격부과시스템</a:t>
            </a:r>
            <a:endParaRPr lang="ko-KR" altLang="en-US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976331064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그림 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93429" y="4236108"/>
            <a:ext cx="4076006" cy="2458360"/>
          </a:xfrm>
          <a:prstGeom prst="rect">
            <a:avLst/>
          </a:prstGeom>
        </p:spPr>
      </p:pic>
      <p:sp>
        <p:nvSpPr>
          <p:cNvPr id="42" name="직사각형 41"/>
          <p:cNvSpPr/>
          <p:nvPr/>
        </p:nvSpPr>
        <p:spPr>
          <a:xfrm>
            <a:off x="274319" y="224444"/>
            <a:ext cx="3749041" cy="498763"/>
          </a:xfrm>
          <a:prstGeom prst="rect">
            <a:avLst/>
          </a:prstGeom>
          <a:solidFill>
            <a:srgbClr val="00B0F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2300" b="1" dirty="0" err="1" smtClean="0"/>
              <a:t>클라우드</a:t>
            </a:r>
            <a:r>
              <a:rPr lang="ko-KR" altLang="en-US" sz="2300" b="1" dirty="0" smtClean="0"/>
              <a:t> </a:t>
            </a:r>
            <a:r>
              <a:rPr lang="ko-KR" altLang="en-US" sz="2300" b="1" dirty="0" err="1" smtClean="0"/>
              <a:t>네이티브의</a:t>
            </a:r>
            <a:r>
              <a:rPr lang="ko-KR" altLang="en-US" sz="2300" b="1" dirty="0" smtClean="0"/>
              <a:t> 용도</a:t>
            </a:r>
            <a:endParaRPr lang="en-US" altLang="ko-KR" sz="2300" b="1" dirty="0" smtClean="0"/>
          </a:p>
        </p:txBody>
      </p:sp>
      <p:sp>
        <p:nvSpPr>
          <p:cNvPr id="3" name="직사각형 2"/>
          <p:cNvSpPr/>
          <p:nvPr/>
        </p:nvSpPr>
        <p:spPr>
          <a:xfrm>
            <a:off x="7460777" y="379845"/>
            <a:ext cx="1108749" cy="358632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 w="952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500" smtClean="0">
                <a:solidFill>
                  <a:schemeClr val="tx1"/>
                </a:solidFill>
              </a:rPr>
              <a:t>컨테이너</a:t>
            </a:r>
            <a:endParaRPr lang="ko-KR" altLang="en-US" sz="1500">
              <a:solidFill>
                <a:schemeClr val="tx1"/>
              </a:solidFill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8536081" y="400041"/>
            <a:ext cx="1265613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000" dirty="0" smtClean="0"/>
              <a:t>CPU: 0.1</a:t>
            </a:r>
            <a:r>
              <a:rPr lang="ko-KR" altLang="en-US" sz="1000" dirty="0" smtClean="0"/>
              <a:t>코어</a:t>
            </a:r>
            <a:endParaRPr lang="en-US" altLang="ko-KR" sz="1000" dirty="0" smtClean="0"/>
          </a:p>
          <a:p>
            <a:endParaRPr lang="en-US" altLang="ko-KR" sz="300" dirty="0"/>
          </a:p>
          <a:p>
            <a:r>
              <a:rPr lang="ko-KR" altLang="en-US" sz="1000" dirty="0" smtClean="0"/>
              <a:t>램</a:t>
            </a:r>
            <a:r>
              <a:rPr lang="en-US" altLang="ko-KR" sz="1000" dirty="0" smtClean="0"/>
              <a:t>:</a:t>
            </a:r>
            <a:r>
              <a:rPr lang="ko-KR" altLang="en-US" sz="1000" dirty="0" smtClean="0"/>
              <a:t> </a:t>
            </a:r>
            <a:r>
              <a:rPr lang="en-US" altLang="ko-KR" sz="1000" dirty="0" smtClean="0"/>
              <a:t>256 MB</a:t>
            </a:r>
          </a:p>
          <a:p>
            <a:endParaRPr lang="en-US" altLang="ko-KR" sz="300" dirty="0"/>
          </a:p>
          <a:p>
            <a:r>
              <a:rPr lang="ko-KR" altLang="en-US" sz="1000" dirty="0" smtClean="0"/>
              <a:t>디스크</a:t>
            </a:r>
            <a:r>
              <a:rPr lang="en-US" altLang="ko-KR" sz="1000" dirty="0" smtClean="0"/>
              <a:t>: 256 MB</a:t>
            </a:r>
            <a:endParaRPr lang="ko-KR" altLang="en-US" sz="1000" dirty="0"/>
          </a:p>
        </p:txBody>
      </p:sp>
      <p:sp>
        <p:nvSpPr>
          <p:cNvPr id="7" name="직사각형 6"/>
          <p:cNvSpPr/>
          <p:nvPr/>
        </p:nvSpPr>
        <p:spPr>
          <a:xfrm>
            <a:off x="7486704" y="1802671"/>
            <a:ext cx="1108749" cy="358632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 w="952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500" smtClean="0">
                <a:solidFill>
                  <a:schemeClr val="tx1"/>
                </a:solidFill>
              </a:rPr>
              <a:t>컨테이너</a:t>
            </a:r>
            <a:endParaRPr lang="ko-KR" altLang="en-US" sz="1500">
              <a:solidFill>
                <a:schemeClr val="tx1"/>
              </a:solidFill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8651568" y="1843487"/>
            <a:ext cx="2042558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200" dirty="0" err="1" smtClean="0"/>
              <a:t>자격조회</a:t>
            </a:r>
            <a:r>
              <a:rPr lang="ko-KR" altLang="en-US" sz="1200" dirty="0" smtClean="0"/>
              <a:t> </a:t>
            </a:r>
            <a:r>
              <a:rPr lang="en-US" altLang="ko-KR" sz="1200" b="1" dirty="0" smtClean="0"/>
              <a:t>MSA</a:t>
            </a:r>
            <a:r>
              <a:rPr lang="en-US" altLang="ko-KR" sz="1200" dirty="0" smtClean="0"/>
              <a:t> 1</a:t>
            </a:r>
            <a:r>
              <a:rPr lang="ko-KR" altLang="en-US" sz="1200" dirty="0" smtClean="0"/>
              <a:t>개 수행</a:t>
            </a:r>
            <a:endParaRPr lang="ko-KR" altLang="en-US" sz="1200" dirty="0"/>
          </a:p>
        </p:txBody>
      </p:sp>
      <p:sp>
        <p:nvSpPr>
          <p:cNvPr id="9" name="직사각형 8"/>
          <p:cNvSpPr/>
          <p:nvPr/>
        </p:nvSpPr>
        <p:spPr>
          <a:xfrm>
            <a:off x="7486704" y="2235995"/>
            <a:ext cx="1108749" cy="358632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 w="952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500" smtClean="0">
                <a:solidFill>
                  <a:schemeClr val="tx1"/>
                </a:solidFill>
              </a:rPr>
              <a:t>컨테이너</a:t>
            </a:r>
            <a:endParaRPr lang="ko-KR" altLang="en-US" sz="1500">
              <a:solidFill>
                <a:schemeClr val="tx1"/>
              </a:solidFill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8651568" y="2276811"/>
            <a:ext cx="2434442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200" dirty="0" err="1" smtClean="0"/>
              <a:t>자격변경</a:t>
            </a:r>
            <a:r>
              <a:rPr lang="ko-KR" altLang="en-US" sz="1200" dirty="0" smtClean="0"/>
              <a:t> </a:t>
            </a:r>
            <a:r>
              <a:rPr lang="en-US" altLang="ko-KR" sz="1200" b="1" dirty="0" smtClean="0"/>
              <a:t>MSA</a:t>
            </a:r>
            <a:r>
              <a:rPr lang="en-US" altLang="ko-KR" sz="1200" dirty="0" smtClean="0"/>
              <a:t> 1</a:t>
            </a:r>
            <a:r>
              <a:rPr lang="ko-KR" altLang="en-US" sz="1200" dirty="0" smtClean="0"/>
              <a:t>개 수행</a:t>
            </a:r>
            <a:endParaRPr lang="ko-KR" altLang="en-US" sz="1200" dirty="0"/>
          </a:p>
        </p:txBody>
      </p:sp>
      <p:sp>
        <p:nvSpPr>
          <p:cNvPr id="11" name="직사각형 10"/>
          <p:cNvSpPr/>
          <p:nvPr/>
        </p:nvSpPr>
        <p:spPr>
          <a:xfrm>
            <a:off x="7486704" y="2692717"/>
            <a:ext cx="1108749" cy="358632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 w="952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500" smtClean="0">
                <a:solidFill>
                  <a:schemeClr val="tx1"/>
                </a:solidFill>
              </a:rPr>
              <a:t>컨테이너</a:t>
            </a:r>
            <a:endParaRPr lang="ko-KR" altLang="en-US" sz="1500">
              <a:solidFill>
                <a:schemeClr val="tx1"/>
              </a:solidFill>
            </a:endParaRPr>
          </a:p>
        </p:txBody>
      </p:sp>
      <p:sp>
        <p:nvSpPr>
          <p:cNvPr id="12" name="TextBox 11"/>
          <p:cNvSpPr txBox="1"/>
          <p:nvPr/>
        </p:nvSpPr>
        <p:spPr>
          <a:xfrm>
            <a:off x="8651568" y="2733533"/>
            <a:ext cx="2686992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200" dirty="0" smtClean="0"/>
              <a:t>부과내역조회 </a:t>
            </a:r>
            <a:r>
              <a:rPr lang="en-US" altLang="ko-KR" sz="1200" b="1" dirty="0" smtClean="0"/>
              <a:t>MSA</a:t>
            </a:r>
            <a:r>
              <a:rPr lang="en-US" altLang="ko-KR" sz="1200" dirty="0" smtClean="0"/>
              <a:t> 1</a:t>
            </a:r>
            <a:r>
              <a:rPr lang="ko-KR" altLang="en-US" sz="1200" dirty="0" smtClean="0"/>
              <a:t>개 수행</a:t>
            </a:r>
            <a:endParaRPr lang="ko-KR" altLang="en-US" sz="1200" dirty="0"/>
          </a:p>
        </p:txBody>
      </p:sp>
      <p:sp>
        <p:nvSpPr>
          <p:cNvPr id="13" name="TextBox 12"/>
          <p:cNvSpPr txBox="1"/>
          <p:nvPr/>
        </p:nvSpPr>
        <p:spPr>
          <a:xfrm>
            <a:off x="274319" y="1019350"/>
            <a:ext cx="6762207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2800" b="1" u="sng" dirty="0" smtClean="0"/>
              <a:t>컨테이너</a:t>
            </a:r>
            <a:r>
              <a:rPr lang="ko-KR" altLang="en-US" sz="2100" dirty="0" smtClean="0"/>
              <a:t>를 사람이 아닌 </a:t>
            </a:r>
            <a:r>
              <a:rPr lang="ko-KR" altLang="en-US" sz="2800" b="1" u="sng" dirty="0" smtClean="0"/>
              <a:t>애플리케이션</a:t>
            </a:r>
            <a:r>
              <a:rPr lang="ko-KR" altLang="en-US" sz="2100" dirty="0" smtClean="0"/>
              <a:t>에 할당</a:t>
            </a:r>
            <a:endParaRPr lang="ko-KR" altLang="en-US" sz="2100" dirty="0"/>
          </a:p>
        </p:txBody>
      </p:sp>
      <p:sp>
        <p:nvSpPr>
          <p:cNvPr id="2" name="모서리가 둥근 사각형 설명선 1"/>
          <p:cNvSpPr/>
          <p:nvPr/>
        </p:nvSpPr>
        <p:spPr>
          <a:xfrm>
            <a:off x="4484914" y="1802671"/>
            <a:ext cx="2290553" cy="2020390"/>
          </a:xfrm>
          <a:prstGeom prst="wedgeRoundRectCallout">
            <a:avLst>
              <a:gd name="adj1" fmla="val -137603"/>
              <a:gd name="adj2" fmla="val 1967"/>
              <a:gd name="adj3" fmla="val 16667"/>
            </a:avLst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>
              <a:solidFill>
                <a:schemeClr val="tx1"/>
              </a:solidFill>
            </a:endParaRPr>
          </a:p>
        </p:txBody>
      </p:sp>
      <p:sp>
        <p:nvSpPr>
          <p:cNvPr id="18" name="TextBox 17"/>
          <p:cNvSpPr txBox="1"/>
          <p:nvPr/>
        </p:nvSpPr>
        <p:spPr>
          <a:xfrm>
            <a:off x="4658887" y="1946010"/>
            <a:ext cx="2116580" cy="169277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200" b="1" dirty="0" err="1" smtClean="0"/>
              <a:t>자격조회</a:t>
            </a:r>
            <a:r>
              <a:rPr lang="ko-KR" altLang="en-US" sz="1200" dirty="0" smtClean="0"/>
              <a:t> </a:t>
            </a:r>
            <a:r>
              <a:rPr lang="ko-KR" altLang="en-US" sz="1000" dirty="0" smtClean="0"/>
              <a:t>애플리케이션</a:t>
            </a:r>
            <a:endParaRPr lang="en-US" altLang="ko-KR" sz="1000" dirty="0" smtClean="0"/>
          </a:p>
          <a:p>
            <a:endParaRPr lang="en-US" altLang="ko-KR" sz="1200" dirty="0"/>
          </a:p>
          <a:p>
            <a:r>
              <a:rPr lang="ko-KR" altLang="en-US" sz="1200" b="1" dirty="0" err="1" smtClean="0"/>
              <a:t>자격변경</a:t>
            </a:r>
            <a:r>
              <a:rPr lang="ko-KR" altLang="en-US" sz="1200" b="1" dirty="0" smtClean="0"/>
              <a:t> </a:t>
            </a:r>
            <a:r>
              <a:rPr lang="ko-KR" altLang="en-US" sz="1000" dirty="0" smtClean="0"/>
              <a:t>애플리케이션</a:t>
            </a:r>
            <a:endParaRPr lang="en-US" altLang="ko-KR" sz="1000" dirty="0" smtClean="0"/>
          </a:p>
          <a:p>
            <a:endParaRPr lang="en-US" altLang="ko-KR" sz="1200" dirty="0"/>
          </a:p>
          <a:p>
            <a:r>
              <a:rPr lang="ko-KR" altLang="en-US" sz="1200" b="1" dirty="0" smtClean="0"/>
              <a:t>부과내역조회</a:t>
            </a:r>
            <a:r>
              <a:rPr lang="ko-KR" altLang="en-US" sz="1200" dirty="0" smtClean="0"/>
              <a:t> </a:t>
            </a:r>
            <a:r>
              <a:rPr lang="ko-KR" altLang="en-US" sz="1000" dirty="0" smtClean="0"/>
              <a:t>애플리케이션</a:t>
            </a:r>
            <a:endParaRPr lang="en-US" altLang="ko-KR" sz="1000" dirty="0" smtClean="0"/>
          </a:p>
          <a:p>
            <a:endParaRPr lang="en-US" altLang="ko-KR" sz="1000" dirty="0" smtClean="0"/>
          </a:p>
          <a:p>
            <a:r>
              <a:rPr lang="ko-KR" altLang="en-US" sz="1200" b="1" dirty="0" smtClean="0"/>
              <a:t>자격 관리 </a:t>
            </a:r>
            <a:r>
              <a:rPr lang="ko-KR" altLang="en-US" sz="1000" dirty="0" smtClean="0"/>
              <a:t>애플리케이션</a:t>
            </a:r>
            <a:endParaRPr lang="en-US" altLang="ko-KR" sz="1000" dirty="0"/>
          </a:p>
          <a:p>
            <a:endParaRPr lang="en-US" altLang="ko-KR" sz="1000" dirty="0"/>
          </a:p>
          <a:p>
            <a:r>
              <a:rPr lang="ko-KR" altLang="en-US" sz="1200" b="1" dirty="0" smtClean="0"/>
              <a:t>로그</a:t>
            </a:r>
            <a:r>
              <a:rPr lang="ko-KR" altLang="en-US" sz="1000" dirty="0" smtClean="0"/>
              <a:t> 애플리케이션</a:t>
            </a:r>
            <a:endParaRPr lang="en-US" altLang="ko-KR" sz="1000" dirty="0"/>
          </a:p>
        </p:txBody>
      </p:sp>
      <p:sp>
        <p:nvSpPr>
          <p:cNvPr id="19" name="직사각형 18"/>
          <p:cNvSpPr/>
          <p:nvPr/>
        </p:nvSpPr>
        <p:spPr>
          <a:xfrm>
            <a:off x="7486704" y="3182059"/>
            <a:ext cx="1108749" cy="358632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 w="952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500" smtClean="0">
                <a:solidFill>
                  <a:schemeClr val="tx1"/>
                </a:solidFill>
              </a:rPr>
              <a:t>컨테이너</a:t>
            </a:r>
            <a:endParaRPr lang="ko-KR" altLang="en-US" sz="1500">
              <a:solidFill>
                <a:schemeClr val="tx1"/>
              </a:solidFill>
            </a:endParaRPr>
          </a:p>
        </p:txBody>
      </p:sp>
      <p:sp>
        <p:nvSpPr>
          <p:cNvPr id="20" name="TextBox 19"/>
          <p:cNvSpPr txBox="1"/>
          <p:nvPr/>
        </p:nvSpPr>
        <p:spPr>
          <a:xfrm>
            <a:off x="8651568" y="3222875"/>
            <a:ext cx="2434442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200" dirty="0" smtClean="0"/>
              <a:t>자격관리 </a:t>
            </a:r>
            <a:r>
              <a:rPr lang="en-US" altLang="ko-KR" sz="1200" b="1" dirty="0" smtClean="0"/>
              <a:t>MSA</a:t>
            </a:r>
            <a:r>
              <a:rPr lang="en-US" altLang="ko-KR" sz="1200" dirty="0" smtClean="0"/>
              <a:t> 1</a:t>
            </a:r>
            <a:r>
              <a:rPr lang="ko-KR" altLang="en-US" sz="1200" dirty="0" smtClean="0"/>
              <a:t>개 수행</a:t>
            </a:r>
            <a:endParaRPr lang="ko-KR" altLang="en-US" sz="1200" dirty="0"/>
          </a:p>
        </p:txBody>
      </p:sp>
      <p:sp>
        <p:nvSpPr>
          <p:cNvPr id="21" name="직사각형 20"/>
          <p:cNvSpPr/>
          <p:nvPr/>
        </p:nvSpPr>
        <p:spPr>
          <a:xfrm>
            <a:off x="7486704" y="3638781"/>
            <a:ext cx="1108749" cy="358632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 w="952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500" smtClean="0">
                <a:solidFill>
                  <a:schemeClr val="tx1"/>
                </a:solidFill>
              </a:rPr>
              <a:t>컨테이너</a:t>
            </a:r>
            <a:endParaRPr lang="ko-KR" altLang="en-US" sz="1500">
              <a:solidFill>
                <a:schemeClr val="tx1"/>
              </a:solidFill>
            </a:endParaRPr>
          </a:p>
        </p:txBody>
      </p:sp>
      <p:sp>
        <p:nvSpPr>
          <p:cNvPr id="22" name="TextBox 21"/>
          <p:cNvSpPr txBox="1"/>
          <p:nvPr/>
        </p:nvSpPr>
        <p:spPr>
          <a:xfrm>
            <a:off x="8651568" y="3679597"/>
            <a:ext cx="1650671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200" dirty="0" smtClean="0"/>
              <a:t>로그 </a:t>
            </a:r>
            <a:r>
              <a:rPr lang="en-US" altLang="ko-KR" sz="1200" b="1" dirty="0" smtClean="0"/>
              <a:t>MSA</a:t>
            </a:r>
            <a:r>
              <a:rPr lang="en-US" altLang="ko-KR" sz="1200" dirty="0" smtClean="0"/>
              <a:t> 1</a:t>
            </a:r>
            <a:r>
              <a:rPr lang="ko-KR" altLang="en-US" sz="1200" dirty="0" smtClean="0"/>
              <a:t>개 수행</a:t>
            </a:r>
            <a:endParaRPr lang="ko-KR" altLang="en-US" sz="1200" dirty="0"/>
          </a:p>
        </p:txBody>
      </p:sp>
      <p:sp>
        <p:nvSpPr>
          <p:cNvPr id="23" name="TextBox 22"/>
          <p:cNvSpPr txBox="1"/>
          <p:nvPr/>
        </p:nvSpPr>
        <p:spPr>
          <a:xfrm>
            <a:off x="6856712" y="6040466"/>
            <a:ext cx="4940334" cy="7232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b="1" dirty="0" smtClean="0"/>
              <a:t>MSA : Micro Service Architecture</a:t>
            </a:r>
            <a:endParaRPr lang="en-US" altLang="ko-KR" dirty="0" smtClean="0"/>
          </a:p>
          <a:p>
            <a:endParaRPr lang="en-US" altLang="ko-KR" sz="500" dirty="0" smtClean="0"/>
          </a:p>
          <a:p>
            <a:r>
              <a:rPr lang="en-US" altLang="ko-KR" dirty="0" smtClean="0"/>
              <a:t>         1</a:t>
            </a:r>
            <a:r>
              <a:rPr lang="en-US" altLang="ko-KR" dirty="0"/>
              <a:t> </a:t>
            </a:r>
            <a:r>
              <a:rPr lang="ko-KR" altLang="en-US" dirty="0" smtClean="0"/>
              <a:t>프로그램을 작은 서비스들로 나눈 것</a:t>
            </a:r>
            <a:endParaRPr lang="en-US" altLang="ko-KR" dirty="0" smtClean="0"/>
          </a:p>
        </p:txBody>
      </p:sp>
      <p:sp>
        <p:nvSpPr>
          <p:cNvPr id="25" name="직사각형 24"/>
          <p:cNvSpPr/>
          <p:nvPr/>
        </p:nvSpPr>
        <p:spPr>
          <a:xfrm>
            <a:off x="502429" y="3139401"/>
            <a:ext cx="1909845" cy="507818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  <a:ln w="952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 smtClean="0">
                <a:solidFill>
                  <a:schemeClr val="tx1"/>
                </a:solidFill>
              </a:rPr>
              <a:t>징수통합시스템</a:t>
            </a:r>
            <a:endParaRPr lang="ko-KR" altLang="en-US" dirty="0">
              <a:solidFill>
                <a:schemeClr val="tx1"/>
              </a:solidFill>
            </a:endParaRPr>
          </a:p>
        </p:txBody>
      </p:sp>
      <p:sp>
        <p:nvSpPr>
          <p:cNvPr id="26" name="직사각형 25"/>
          <p:cNvSpPr/>
          <p:nvPr/>
        </p:nvSpPr>
        <p:spPr>
          <a:xfrm>
            <a:off x="517668" y="3714442"/>
            <a:ext cx="1909845" cy="507818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  <a:ln w="952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 smtClean="0">
                <a:solidFill>
                  <a:schemeClr val="tx1"/>
                </a:solidFill>
              </a:rPr>
              <a:t>통합급여시스템</a:t>
            </a:r>
            <a:endParaRPr lang="ko-KR" altLang="en-US" dirty="0">
              <a:solidFill>
                <a:schemeClr val="tx1"/>
              </a:solidFill>
            </a:endParaRPr>
          </a:p>
        </p:txBody>
      </p:sp>
      <p:sp>
        <p:nvSpPr>
          <p:cNvPr id="27" name="직사각형 26"/>
          <p:cNvSpPr/>
          <p:nvPr/>
        </p:nvSpPr>
        <p:spPr>
          <a:xfrm>
            <a:off x="517668" y="4311769"/>
            <a:ext cx="1909845" cy="507818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  <a:ln w="952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 smtClean="0">
                <a:solidFill>
                  <a:schemeClr val="tx1"/>
                </a:solidFill>
              </a:rPr>
              <a:t>장기요양시스템</a:t>
            </a:r>
            <a:endParaRPr lang="ko-KR" altLang="en-US" dirty="0">
              <a:solidFill>
                <a:schemeClr val="tx1"/>
              </a:solidFill>
            </a:endParaRPr>
          </a:p>
        </p:txBody>
      </p:sp>
      <p:sp>
        <p:nvSpPr>
          <p:cNvPr id="28" name="직사각형 27"/>
          <p:cNvSpPr/>
          <p:nvPr/>
        </p:nvSpPr>
        <p:spPr>
          <a:xfrm>
            <a:off x="517667" y="1972789"/>
            <a:ext cx="1909845" cy="507818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  <a:ln w="952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 smtClean="0">
                <a:solidFill>
                  <a:schemeClr val="tx1"/>
                </a:solidFill>
              </a:rPr>
              <a:t>통합로그인</a:t>
            </a:r>
            <a:endParaRPr lang="ko-KR" altLang="en-US" dirty="0">
              <a:solidFill>
                <a:schemeClr val="tx1"/>
              </a:solidFill>
            </a:endParaRPr>
          </a:p>
        </p:txBody>
      </p:sp>
      <p:sp>
        <p:nvSpPr>
          <p:cNvPr id="29" name="직사각형 28"/>
          <p:cNvSpPr/>
          <p:nvPr/>
        </p:nvSpPr>
        <p:spPr>
          <a:xfrm>
            <a:off x="517667" y="4909096"/>
            <a:ext cx="1909845" cy="507818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  <a:ln w="952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 err="1" smtClean="0">
                <a:solidFill>
                  <a:schemeClr val="tx1"/>
                </a:solidFill>
              </a:rPr>
              <a:t>포털시스템</a:t>
            </a:r>
            <a:endParaRPr lang="ko-KR" altLang="en-US" dirty="0">
              <a:solidFill>
                <a:schemeClr val="tx1"/>
              </a:solidFill>
            </a:endParaRPr>
          </a:p>
        </p:txBody>
      </p:sp>
      <p:sp>
        <p:nvSpPr>
          <p:cNvPr id="30" name="직사각형 29"/>
          <p:cNvSpPr/>
          <p:nvPr/>
        </p:nvSpPr>
        <p:spPr>
          <a:xfrm>
            <a:off x="508958" y="2555568"/>
            <a:ext cx="1909845" cy="507818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  <a:ln w="952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 smtClean="0">
                <a:solidFill>
                  <a:schemeClr val="tx1"/>
                </a:solidFill>
              </a:rPr>
              <a:t>자격부과시스템</a:t>
            </a:r>
            <a:endParaRPr lang="ko-KR" altLang="en-US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722292123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직사각형 41"/>
          <p:cNvSpPr/>
          <p:nvPr/>
        </p:nvSpPr>
        <p:spPr>
          <a:xfrm>
            <a:off x="274319" y="224444"/>
            <a:ext cx="3749041" cy="498763"/>
          </a:xfrm>
          <a:prstGeom prst="rect">
            <a:avLst/>
          </a:prstGeom>
          <a:solidFill>
            <a:srgbClr val="00B0F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2300" b="1" dirty="0" err="1" smtClean="0"/>
              <a:t>데브옵스</a:t>
            </a:r>
            <a:r>
              <a:rPr lang="en-US" altLang="ko-KR" sz="2300" b="1" dirty="0" smtClean="0"/>
              <a:t> (DevOps)</a:t>
            </a:r>
          </a:p>
        </p:txBody>
      </p:sp>
      <p:sp>
        <p:nvSpPr>
          <p:cNvPr id="3" name="직사각형 2"/>
          <p:cNvSpPr/>
          <p:nvPr/>
        </p:nvSpPr>
        <p:spPr>
          <a:xfrm>
            <a:off x="663539" y="3457127"/>
            <a:ext cx="1108749" cy="358632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 w="952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500" dirty="0" smtClean="0">
                <a:solidFill>
                  <a:schemeClr val="tx1"/>
                </a:solidFill>
              </a:rPr>
              <a:t>개발팀</a:t>
            </a:r>
            <a:endParaRPr lang="ko-KR" altLang="en-US" sz="1500" dirty="0">
              <a:solidFill>
                <a:schemeClr val="tx1"/>
              </a:solidFill>
            </a:endParaRPr>
          </a:p>
        </p:txBody>
      </p:sp>
      <p:sp>
        <p:nvSpPr>
          <p:cNvPr id="6" name="직사각형 5"/>
          <p:cNvSpPr/>
          <p:nvPr/>
        </p:nvSpPr>
        <p:spPr>
          <a:xfrm>
            <a:off x="511139" y="1111976"/>
            <a:ext cx="4278576" cy="423334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 w="952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 smtClean="0">
                <a:solidFill>
                  <a:schemeClr val="tx1"/>
                </a:solidFill>
              </a:rPr>
              <a:t>Development + Operation = DevOps</a:t>
            </a:r>
            <a:endParaRPr lang="ko-KR" altLang="en-US" dirty="0">
              <a:solidFill>
                <a:schemeClr val="tx1"/>
              </a:solidFill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1005443" y="1554747"/>
            <a:ext cx="68402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b="1" dirty="0" smtClean="0"/>
              <a:t>개발</a:t>
            </a:r>
            <a:endParaRPr lang="ko-KR" altLang="en-US" b="1" dirty="0"/>
          </a:p>
        </p:txBody>
      </p:sp>
      <p:sp>
        <p:nvSpPr>
          <p:cNvPr id="13" name="TextBox 12"/>
          <p:cNvSpPr txBox="1"/>
          <p:nvPr/>
        </p:nvSpPr>
        <p:spPr>
          <a:xfrm>
            <a:off x="2650427" y="1554747"/>
            <a:ext cx="68402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b="1" dirty="0" smtClean="0"/>
              <a:t>운영</a:t>
            </a:r>
            <a:endParaRPr lang="ko-KR" altLang="en-US" b="1" dirty="0"/>
          </a:p>
        </p:txBody>
      </p:sp>
      <p:sp>
        <p:nvSpPr>
          <p:cNvPr id="14" name="TextBox 13"/>
          <p:cNvSpPr txBox="1"/>
          <p:nvPr/>
        </p:nvSpPr>
        <p:spPr>
          <a:xfrm>
            <a:off x="3725306" y="1554747"/>
            <a:ext cx="114021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b="1" smtClean="0"/>
              <a:t>데브옵스</a:t>
            </a:r>
            <a:endParaRPr lang="ko-KR" altLang="en-US" b="1" dirty="0"/>
          </a:p>
        </p:txBody>
      </p:sp>
      <p:sp>
        <p:nvSpPr>
          <p:cNvPr id="15" name="TextBox 14"/>
          <p:cNvSpPr txBox="1"/>
          <p:nvPr/>
        </p:nvSpPr>
        <p:spPr>
          <a:xfrm>
            <a:off x="1772288" y="3497943"/>
            <a:ext cx="2172695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200" dirty="0" smtClean="0"/>
              <a:t>개발서버에서 프로그램 개발</a:t>
            </a:r>
            <a:endParaRPr lang="ko-KR" altLang="en-US" sz="1200" dirty="0"/>
          </a:p>
        </p:txBody>
      </p:sp>
      <p:sp>
        <p:nvSpPr>
          <p:cNvPr id="16" name="직사각형 15"/>
          <p:cNvSpPr/>
          <p:nvPr/>
        </p:nvSpPr>
        <p:spPr>
          <a:xfrm>
            <a:off x="663539" y="4071082"/>
            <a:ext cx="1108749" cy="358632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 w="952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500" dirty="0" err="1" smtClean="0">
                <a:solidFill>
                  <a:schemeClr val="tx1"/>
                </a:solidFill>
              </a:rPr>
              <a:t>운영팀</a:t>
            </a:r>
            <a:endParaRPr lang="ko-KR" altLang="en-US" sz="1500" dirty="0">
              <a:solidFill>
                <a:schemeClr val="tx1"/>
              </a:solidFill>
            </a:endParaRPr>
          </a:p>
        </p:txBody>
      </p:sp>
      <p:sp>
        <p:nvSpPr>
          <p:cNvPr id="17" name="TextBox 16"/>
          <p:cNvSpPr txBox="1"/>
          <p:nvPr/>
        </p:nvSpPr>
        <p:spPr>
          <a:xfrm>
            <a:off x="1772288" y="4111898"/>
            <a:ext cx="2172695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200" smtClean="0"/>
              <a:t>운영서버에서 프로그램 운영</a:t>
            </a:r>
            <a:endParaRPr lang="ko-KR" altLang="en-US" sz="1200" dirty="0"/>
          </a:p>
        </p:txBody>
      </p:sp>
      <p:sp>
        <p:nvSpPr>
          <p:cNvPr id="18" name="TextBox 17"/>
          <p:cNvSpPr txBox="1"/>
          <p:nvPr/>
        </p:nvSpPr>
        <p:spPr>
          <a:xfrm>
            <a:off x="1634684" y="2532206"/>
            <a:ext cx="1223951" cy="5693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3100" b="1" dirty="0" smtClean="0"/>
              <a:t>기존</a:t>
            </a:r>
            <a:endParaRPr lang="en-US" altLang="ko-KR" sz="3100" b="1" dirty="0"/>
          </a:p>
        </p:txBody>
      </p:sp>
      <p:sp>
        <p:nvSpPr>
          <p:cNvPr id="24" name="직사각형 23"/>
          <p:cNvSpPr/>
          <p:nvPr/>
        </p:nvSpPr>
        <p:spPr>
          <a:xfrm>
            <a:off x="5974080" y="3461476"/>
            <a:ext cx="1297693" cy="358632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 w="952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500" smtClean="0">
                <a:solidFill>
                  <a:schemeClr val="tx1"/>
                </a:solidFill>
              </a:rPr>
              <a:t>개발</a:t>
            </a:r>
            <a:r>
              <a:rPr lang="en-US" altLang="ko-KR" sz="1500" dirty="0" smtClean="0">
                <a:solidFill>
                  <a:schemeClr val="tx1"/>
                </a:solidFill>
              </a:rPr>
              <a:t>+</a:t>
            </a:r>
            <a:r>
              <a:rPr lang="ko-KR" altLang="en-US" sz="1500" dirty="0" err="1" smtClean="0">
                <a:solidFill>
                  <a:schemeClr val="tx1"/>
                </a:solidFill>
              </a:rPr>
              <a:t>운영팀</a:t>
            </a:r>
            <a:endParaRPr lang="ko-KR" altLang="en-US" sz="1500" dirty="0">
              <a:solidFill>
                <a:schemeClr val="tx1"/>
              </a:solidFill>
            </a:endParaRPr>
          </a:p>
        </p:txBody>
      </p:sp>
      <p:sp>
        <p:nvSpPr>
          <p:cNvPr id="25" name="TextBox 24"/>
          <p:cNvSpPr txBox="1"/>
          <p:nvPr/>
        </p:nvSpPr>
        <p:spPr>
          <a:xfrm>
            <a:off x="7271774" y="3502292"/>
            <a:ext cx="2107358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200" dirty="0" smtClean="0"/>
              <a:t>다같이 협업해서 개발</a:t>
            </a:r>
            <a:r>
              <a:rPr lang="en-US" altLang="ko-KR" sz="1200" dirty="0" smtClean="0"/>
              <a:t>, </a:t>
            </a:r>
            <a:r>
              <a:rPr lang="ko-KR" altLang="en-US" sz="1200" dirty="0" smtClean="0"/>
              <a:t>운영</a:t>
            </a:r>
            <a:endParaRPr lang="ko-KR" altLang="en-US" sz="1200" dirty="0"/>
          </a:p>
        </p:txBody>
      </p:sp>
      <p:sp>
        <p:nvSpPr>
          <p:cNvPr id="28" name="TextBox 27"/>
          <p:cNvSpPr txBox="1"/>
          <p:nvPr/>
        </p:nvSpPr>
        <p:spPr>
          <a:xfrm>
            <a:off x="7134169" y="2536555"/>
            <a:ext cx="1983705" cy="5693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3100" b="1" smtClean="0"/>
              <a:t>데브옵스</a:t>
            </a:r>
            <a:endParaRPr lang="en-US" altLang="ko-KR" sz="3100" b="1" dirty="0"/>
          </a:p>
        </p:txBody>
      </p:sp>
      <p:sp>
        <p:nvSpPr>
          <p:cNvPr id="29" name="TextBox 28"/>
          <p:cNvSpPr txBox="1"/>
          <p:nvPr/>
        </p:nvSpPr>
        <p:spPr>
          <a:xfrm>
            <a:off x="5651862" y="5649870"/>
            <a:ext cx="6252754" cy="5693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3100" b="1" dirty="0" err="1" smtClean="0"/>
              <a:t>건보</a:t>
            </a:r>
            <a:r>
              <a:rPr lang="ko-KR" altLang="en-US" sz="3100" b="1" dirty="0" smtClean="0"/>
              <a:t> 정보운영실은 이미 </a:t>
            </a:r>
            <a:r>
              <a:rPr lang="ko-KR" altLang="en-US" sz="3100" b="1" dirty="0" err="1" smtClean="0"/>
              <a:t>데브옵스</a:t>
            </a:r>
            <a:endParaRPr lang="en-US" altLang="ko-KR" sz="3100" b="1" dirty="0"/>
          </a:p>
        </p:txBody>
      </p:sp>
      <p:sp>
        <p:nvSpPr>
          <p:cNvPr id="30" name="TextBox 29"/>
          <p:cNvSpPr txBox="1"/>
          <p:nvPr/>
        </p:nvSpPr>
        <p:spPr>
          <a:xfrm>
            <a:off x="8560526" y="6219257"/>
            <a:ext cx="3344090" cy="44627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2300" dirty="0" smtClean="0"/>
              <a:t>(1</a:t>
            </a:r>
            <a:r>
              <a:rPr lang="ko-KR" altLang="en-US" sz="2300" dirty="0" smtClean="0"/>
              <a:t>명이 개발</a:t>
            </a:r>
            <a:r>
              <a:rPr lang="en-US" altLang="ko-KR" sz="2300" dirty="0" smtClean="0"/>
              <a:t>, </a:t>
            </a:r>
            <a:r>
              <a:rPr lang="ko-KR" altLang="en-US" sz="2300" dirty="0" smtClean="0"/>
              <a:t>운영 다 함</a:t>
            </a:r>
            <a:r>
              <a:rPr lang="en-US" altLang="ko-KR" sz="2300" dirty="0" smtClean="0"/>
              <a:t>)</a:t>
            </a:r>
            <a:endParaRPr lang="ko-KR" altLang="en-US" sz="2300" dirty="0"/>
          </a:p>
        </p:txBody>
      </p:sp>
      <p:cxnSp>
        <p:nvCxnSpPr>
          <p:cNvPr id="31" name="직선 연결선 30"/>
          <p:cNvCxnSpPr/>
          <p:nvPr/>
        </p:nvCxnSpPr>
        <p:spPr>
          <a:xfrm>
            <a:off x="4612078" y="2133600"/>
            <a:ext cx="50471" cy="4724400"/>
          </a:xfrm>
          <a:prstGeom prst="line">
            <a:avLst/>
          </a:prstGeom>
          <a:ln w="1905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777708538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직사각형 41"/>
          <p:cNvSpPr/>
          <p:nvPr/>
        </p:nvSpPr>
        <p:spPr>
          <a:xfrm>
            <a:off x="274319" y="224444"/>
            <a:ext cx="1986741" cy="498763"/>
          </a:xfrm>
          <a:prstGeom prst="rect">
            <a:avLst/>
          </a:prstGeom>
          <a:solidFill>
            <a:srgbClr val="00B0F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2300" b="1" dirty="0" smtClean="0"/>
              <a:t>CI / CD</a:t>
            </a:r>
          </a:p>
        </p:txBody>
      </p:sp>
      <p:sp>
        <p:nvSpPr>
          <p:cNvPr id="3" name="직사각형 2"/>
          <p:cNvSpPr/>
          <p:nvPr/>
        </p:nvSpPr>
        <p:spPr>
          <a:xfrm>
            <a:off x="837710" y="1441177"/>
            <a:ext cx="1108749" cy="358632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 w="952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500" dirty="0" smtClean="0">
                <a:solidFill>
                  <a:schemeClr val="tx1"/>
                </a:solidFill>
              </a:rPr>
              <a:t>개발 서버</a:t>
            </a:r>
            <a:endParaRPr lang="ko-KR" altLang="en-US" sz="1500" dirty="0">
              <a:solidFill>
                <a:schemeClr val="tx1"/>
              </a:solidFill>
            </a:endParaRPr>
          </a:p>
        </p:txBody>
      </p:sp>
      <p:sp>
        <p:nvSpPr>
          <p:cNvPr id="19" name="오른쪽 화살표 18"/>
          <p:cNvSpPr/>
          <p:nvPr/>
        </p:nvSpPr>
        <p:spPr>
          <a:xfrm>
            <a:off x="2036618" y="1524896"/>
            <a:ext cx="224442" cy="191193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500"/>
          </a:p>
        </p:txBody>
      </p:sp>
      <p:sp>
        <p:nvSpPr>
          <p:cNvPr id="20" name="직사각형 19"/>
          <p:cNvSpPr/>
          <p:nvPr/>
        </p:nvSpPr>
        <p:spPr>
          <a:xfrm>
            <a:off x="2418316" y="1441177"/>
            <a:ext cx="1108749" cy="358632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 w="952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500" dirty="0" smtClean="0">
                <a:solidFill>
                  <a:schemeClr val="tx1"/>
                </a:solidFill>
              </a:rPr>
              <a:t>형상</a:t>
            </a:r>
            <a:endParaRPr lang="ko-KR" altLang="en-US" sz="1500" dirty="0">
              <a:solidFill>
                <a:schemeClr val="tx1"/>
              </a:solidFill>
            </a:endParaRPr>
          </a:p>
        </p:txBody>
      </p:sp>
      <p:sp>
        <p:nvSpPr>
          <p:cNvPr id="21" name="오른쪽 화살표 20"/>
          <p:cNvSpPr/>
          <p:nvPr/>
        </p:nvSpPr>
        <p:spPr>
          <a:xfrm>
            <a:off x="3634641" y="1520538"/>
            <a:ext cx="224442" cy="191193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500"/>
          </a:p>
        </p:txBody>
      </p:sp>
      <p:sp>
        <p:nvSpPr>
          <p:cNvPr id="22" name="직사각형 21"/>
          <p:cNvSpPr/>
          <p:nvPr/>
        </p:nvSpPr>
        <p:spPr>
          <a:xfrm>
            <a:off x="8771230" y="1436818"/>
            <a:ext cx="1108749" cy="358632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 w="952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500" dirty="0" smtClean="0">
                <a:solidFill>
                  <a:schemeClr val="tx1"/>
                </a:solidFill>
              </a:rPr>
              <a:t>운영 서버</a:t>
            </a:r>
            <a:endParaRPr lang="ko-KR" altLang="en-US" sz="1500" dirty="0">
              <a:solidFill>
                <a:schemeClr val="tx1"/>
              </a:solidFill>
            </a:endParaRPr>
          </a:p>
        </p:txBody>
      </p:sp>
      <p:sp>
        <p:nvSpPr>
          <p:cNvPr id="23" name="TextBox 22"/>
          <p:cNvSpPr txBox="1"/>
          <p:nvPr/>
        </p:nvSpPr>
        <p:spPr>
          <a:xfrm>
            <a:off x="816032" y="1840625"/>
            <a:ext cx="1282920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200" smtClean="0"/>
              <a:t>프로그램 개발</a:t>
            </a:r>
            <a:endParaRPr lang="ko-KR" altLang="en-US" sz="1200" dirty="0"/>
          </a:p>
        </p:txBody>
      </p:sp>
      <p:sp>
        <p:nvSpPr>
          <p:cNvPr id="26" name="TextBox 25"/>
          <p:cNvSpPr txBox="1"/>
          <p:nvPr/>
        </p:nvSpPr>
        <p:spPr>
          <a:xfrm>
            <a:off x="9067325" y="1840624"/>
            <a:ext cx="616621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200" smtClean="0"/>
              <a:t>반영</a:t>
            </a:r>
            <a:endParaRPr lang="ko-KR" altLang="en-US" sz="1200" dirty="0"/>
          </a:p>
        </p:txBody>
      </p:sp>
      <p:sp>
        <p:nvSpPr>
          <p:cNvPr id="27" name="오른쪽 화살표 26"/>
          <p:cNvSpPr/>
          <p:nvPr/>
        </p:nvSpPr>
        <p:spPr>
          <a:xfrm>
            <a:off x="8373888" y="1516179"/>
            <a:ext cx="224442" cy="191193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500"/>
          </a:p>
        </p:txBody>
      </p:sp>
      <p:sp>
        <p:nvSpPr>
          <p:cNvPr id="31" name="직사각형 30"/>
          <p:cNvSpPr/>
          <p:nvPr/>
        </p:nvSpPr>
        <p:spPr>
          <a:xfrm>
            <a:off x="5544694" y="1432460"/>
            <a:ext cx="1108749" cy="358632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 w="952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500" dirty="0" smtClean="0">
                <a:solidFill>
                  <a:schemeClr val="tx1"/>
                </a:solidFill>
              </a:rPr>
              <a:t>테스트</a:t>
            </a:r>
            <a:endParaRPr lang="ko-KR" altLang="en-US" sz="1500" dirty="0">
              <a:solidFill>
                <a:schemeClr val="tx1"/>
              </a:solidFill>
            </a:endParaRPr>
          </a:p>
        </p:txBody>
      </p:sp>
      <p:sp>
        <p:nvSpPr>
          <p:cNvPr id="32" name="오른쪽 화살표 31"/>
          <p:cNvSpPr/>
          <p:nvPr/>
        </p:nvSpPr>
        <p:spPr>
          <a:xfrm>
            <a:off x="6769726" y="1503115"/>
            <a:ext cx="224442" cy="191193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500"/>
          </a:p>
        </p:txBody>
      </p:sp>
      <p:sp>
        <p:nvSpPr>
          <p:cNvPr id="33" name="직사각형 32"/>
          <p:cNvSpPr/>
          <p:nvPr/>
        </p:nvSpPr>
        <p:spPr>
          <a:xfrm>
            <a:off x="7125300" y="1432460"/>
            <a:ext cx="1108749" cy="358632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 w="952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500" dirty="0" smtClean="0">
                <a:solidFill>
                  <a:schemeClr val="tx1"/>
                </a:solidFill>
              </a:rPr>
              <a:t>분배</a:t>
            </a:r>
            <a:endParaRPr lang="ko-KR" altLang="en-US" sz="1500" dirty="0">
              <a:solidFill>
                <a:schemeClr val="tx1"/>
              </a:solidFill>
            </a:endParaRPr>
          </a:p>
        </p:txBody>
      </p:sp>
      <p:sp>
        <p:nvSpPr>
          <p:cNvPr id="34" name="TextBox 33"/>
          <p:cNvSpPr txBox="1"/>
          <p:nvPr/>
        </p:nvSpPr>
        <p:spPr>
          <a:xfrm>
            <a:off x="722508" y="779506"/>
            <a:ext cx="1223951" cy="5693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3100" b="1" dirty="0" smtClean="0"/>
              <a:t>기존</a:t>
            </a:r>
            <a:endParaRPr lang="en-US" altLang="ko-KR" sz="3100" b="1" dirty="0"/>
          </a:p>
        </p:txBody>
      </p:sp>
      <p:sp>
        <p:nvSpPr>
          <p:cNvPr id="47" name="TextBox 46"/>
          <p:cNvSpPr txBox="1"/>
          <p:nvPr/>
        </p:nvSpPr>
        <p:spPr>
          <a:xfrm>
            <a:off x="3747450" y="4121603"/>
            <a:ext cx="1695808" cy="5693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3100" b="1" dirty="0" smtClean="0"/>
              <a:t>CI / CD</a:t>
            </a:r>
            <a:endParaRPr lang="en-US" altLang="ko-KR" sz="3100" b="1" dirty="0"/>
          </a:p>
        </p:txBody>
      </p:sp>
      <p:sp>
        <p:nvSpPr>
          <p:cNvPr id="49" name="직사각형 48"/>
          <p:cNvSpPr/>
          <p:nvPr/>
        </p:nvSpPr>
        <p:spPr>
          <a:xfrm>
            <a:off x="3975366" y="1441176"/>
            <a:ext cx="1108749" cy="358632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 w="952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500" dirty="0" smtClean="0">
                <a:solidFill>
                  <a:schemeClr val="tx1"/>
                </a:solidFill>
              </a:rPr>
              <a:t>빌드</a:t>
            </a:r>
            <a:endParaRPr lang="ko-KR" altLang="en-US" sz="1500" dirty="0">
              <a:solidFill>
                <a:schemeClr val="tx1"/>
              </a:solidFill>
            </a:endParaRPr>
          </a:p>
        </p:txBody>
      </p:sp>
      <p:sp>
        <p:nvSpPr>
          <p:cNvPr id="50" name="오른쪽 화살표 49"/>
          <p:cNvSpPr/>
          <p:nvPr/>
        </p:nvSpPr>
        <p:spPr>
          <a:xfrm>
            <a:off x="5188923" y="1524896"/>
            <a:ext cx="224442" cy="191193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500"/>
          </a:p>
        </p:txBody>
      </p:sp>
      <p:sp>
        <p:nvSpPr>
          <p:cNvPr id="51" name="TextBox 50"/>
          <p:cNvSpPr txBox="1"/>
          <p:nvPr/>
        </p:nvSpPr>
        <p:spPr>
          <a:xfrm>
            <a:off x="2509852" y="1847397"/>
            <a:ext cx="921328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200" smtClean="0"/>
              <a:t>버전 관리</a:t>
            </a:r>
            <a:endParaRPr lang="ko-KR" altLang="en-US" sz="1200" dirty="0"/>
          </a:p>
        </p:txBody>
      </p:sp>
      <p:sp>
        <p:nvSpPr>
          <p:cNvPr id="52" name="직사각형 51"/>
          <p:cNvSpPr/>
          <p:nvPr/>
        </p:nvSpPr>
        <p:spPr>
          <a:xfrm>
            <a:off x="842061" y="4824467"/>
            <a:ext cx="1108749" cy="358632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 w="952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500" dirty="0" smtClean="0">
                <a:solidFill>
                  <a:schemeClr val="tx1"/>
                </a:solidFill>
              </a:rPr>
              <a:t>개발 서버</a:t>
            </a:r>
            <a:endParaRPr lang="ko-KR" altLang="en-US" sz="1500" dirty="0">
              <a:solidFill>
                <a:schemeClr val="tx1"/>
              </a:solidFill>
            </a:endParaRPr>
          </a:p>
        </p:txBody>
      </p:sp>
      <p:sp>
        <p:nvSpPr>
          <p:cNvPr id="53" name="오른쪽 화살표 52"/>
          <p:cNvSpPr/>
          <p:nvPr/>
        </p:nvSpPr>
        <p:spPr>
          <a:xfrm>
            <a:off x="2040969" y="4908186"/>
            <a:ext cx="224442" cy="191193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500"/>
          </a:p>
        </p:txBody>
      </p:sp>
      <p:sp>
        <p:nvSpPr>
          <p:cNvPr id="54" name="직사각형 53"/>
          <p:cNvSpPr/>
          <p:nvPr/>
        </p:nvSpPr>
        <p:spPr>
          <a:xfrm>
            <a:off x="2422667" y="4824467"/>
            <a:ext cx="1108749" cy="358632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 w="952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500" dirty="0" smtClean="0">
                <a:solidFill>
                  <a:schemeClr val="tx1"/>
                </a:solidFill>
              </a:rPr>
              <a:t>형상</a:t>
            </a:r>
            <a:endParaRPr lang="ko-KR" altLang="en-US" sz="1500" dirty="0">
              <a:solidFill>
                <a:schemeClr val="tx1"/>
              </a:solidFill>
            </a:endParaRPr>
          </a:p>
        </p:txBody>
      </p:sp>
      <p:sp>
        <p:nvSpPr>
          <p:cNvPr id="55" name="오른쪽 화살표 54"/>
          <p:cNvSpPr/>
          <p:nvPr/>
        </p:nvSpPr>
        <p:spPr>
          <a:xfrm>
            <a:off x="3638992" y="4903828"/>
            <a:ext cx="224442" cy="191193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500"/>
          </a:p>
        </p:txBody>
      </p:sp>
      <p:sp>
        <p:nvSpPr>
          <p:cNvPr id="56" name="직사각형 55"/>
          <p:cNvSpPr/>
          <p:nvPr/>
        </p:nvSpPr>
        <p:spPr>
          <a:xfrm>
            <a:off x="8775581" y="4820108"/>
            <a:ext cx="1108749" cy="358632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 w="952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500" dirty="0" smtClean="0">
                <a:solidFill>
                  <a:schemeClr val="tx1"/>
                </a:solidFill>
              </a:rPr>
              <a:t>운영 서버</a:t>
            </a:r>
            <a:endParaRPr lang="ko-KR" altLang="en-US" sz="1500" dirty="0">
              <a:solidFill>
                <a:schemeClr val="tx1"/>
              </a:solidFill>
            </a:endParaRPr>
          </a:p>
        </p:txBody>
      </p:sp>
      <p:sp>
        <p:nvSpPr>
          <p:cNvPr id="57" name="TextBox 56"/>
          <p:cNvSpPr txBox="1"/>
          <p:nvPr/>
        </p:nvSpPr>
        <p:spPr>
          <a:xfrm>
            <a:off x="820383" y="5223915"/>
            <a:ext cx="1282920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200" smtClean="0"/>
              <a:t>프로그램 개발</a:t>
            </a:r>
            <a:endParaRPr lang="ko-KR" altLang="en-US" sz="1200" dirty="0"/>
          </a:p>
        </p:txBody>
      </p:sp>
      <p:sp>
        <p:nvSpPr>
          <p:cNvPr id="58" name="TextBox 57"/>
          <p:cNvSpPr txBox="1"/>
          <p:nvPr/>
        </p:nvSpPr>
        <p:spPr>
          <a:xfrm>
            <a:off x="9071676" y="5223914"/>
            <a:ext cx="616621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200" smtClean="0"/>
              <a:t>반영</a:t>
            </a:r>
            <a:endParaRPr lang="ko-KR" altLang="en-US" sz="1200" dirty="0"/>
          </a:p>
        </p:txBody>
      </p:sp>
      <p:sp>
        <p:nvSpPr>
          <p:cNvPr id="59" name="오른쪽 화살표 58"/>
          <p:cNvSpPr/>
          <p:nvPr/>
        </p:nvSpPr>
        <p:spPr>
          <a:xfrm>
            <a:off x="8378239" y="4899469"/>
            <a:ext cx="224442" cy="191193"/>
          </a:xfrm>
          <a:prstGeom prst="rightArrow">
            <a:avLst/>
          </a:prstGeom>
          <a:solidFill>
            <a:srgbClr val="FF660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500" b="1">
              <a:solidFill>
                <a:schemeClr val="bg1"/>
              </a:solidFill>
            </a:endParaRPr>
          </a:p>
        </p:txBody>
      </p:sp>
      <p:sp>
        <p:nvSpPr>
          <p:cNvPr id="60" name="직사각형 59"/>
          <p:cNvSpPr/>
          <p:nvPr/>
        </p:nvSpPr>
        <p:spPr>
          <a:xfrm>
            <a:off x="5522918" y="4815750"/>
            <a:ext cx="1220681" cy="358632"/>
          </a:xfrm>
          <a:prstGeom prst="rect">
            <a:avLst/>
          </a:prstGeom>
          <a:solidFill>
            <a:srgbClr val="FF6600"/>
          </a:solidFill>
          <a:ln w="952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500" b="1" dirty="0" smtClean="0">
                <a:solidFill>
                  <a:schemeClr val="bg1"/>
                </a:solidFill>
              </a:rPr>
              <a:t>테스트</a:t>
            </a:r>
            <a:r>
              <a:rPr lang="ko-KR" altLang="en-US" sz="1200" b="1" dirty="0" smtClean="0">
                <a:solidFill>
                  <a:schemeClr val="bg1"/>
                </a:solidFill>
              </a:rPr>
              <a:t> </a:t>
            </a:r>
            <a:r>
              <a:rPr lang="en-US" altLang="ko-KR" sz="1200" b="1" dirty="0" smtClean="0">
                <a:solidFill>
                  <a:schemeClr val="bg1"/>
                </a:solidFill>
              </a:rPr>
              <a:t>(</a:t>
            </a:r>
            <a:r>
              <a:rPr lang="ko-KR" altLang="en-US" sz="1200" b="1" dirty="0" smtClean="0">
                <a:solidFill>
                  <a:schemeClr val="bg1"/>
                </a:solidFill>
              </a:rPr>
              <a:t>자동</a:t>
            </a:r>
            <a:r>
              <a:rPr lang="en-US" altLang="ko-KR" sz="1200" b="1" dirty="0" smtClean="0">
                <a:solidFill>
                  <a:schemeClr val="bg1"/>
                </a:solidFill>
              </a:rPr>
              <a:t>)</a:t>
            </a:r>
            <a:endParaRPr lang="ko-KR" altLang="en-US" sz="1200" b="1" dirty="0">
              <a:solidFill>
                <a:schemeClr val="bg1"/>
              </a:solidFill>
            </a:endParaRPr>
          </a:p>
        </p:txBody>
      </p:sp>
      <p:sp>
        <p:nvSpPr>
          <p:cNvPr id="61" name="오른쪽 화살표 60"/>
          <p:cNvSpPr/>
          <p:nvPr/>
        </p:nvSpPr>
        <p:spPr>
          <a:xfrm>
            <a:off x="6817622" y="4886405"/>
            <a:ext cx="224442" cy="191193"/>
          </a:xfrm>
          <a:prstGeom prst="rightArrow">
            <a:avLst/>
          </a:prstGeom>
          <a:solidFill>
            <a:srgbClr val="FF660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500" b="1">
              <a:solidFill>
                <a:schemeClr val="bg1"/>
              </a:solidFill>
            </a:endParaRPr>
          </a:p>
        </p:txBody>
      </p:sp>
      <p:sp>
        <p:nvSpPr>
          <p:cNvPr id="62" name="직사각형 61"/>
          <p:cNvSpPr/>
          <p:nvPr/>
        </p:nvSpPr>
        <p:spPr>
          <a:xfrm>
            <a:off x="7129651" y="4815750"/>
            <a:ext cx="1108749" cy="358632"/>
          </a:xfrm>
          <a:prstGeom prst="rect">
            <a:avLst/>
          </a:prstGeom>
          <a:solidFill>
            <a:srgbClr val="FF6600"/>
          </a:solidFill>
          <a:ln w="952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500" b="1" dirty="0" smtClean="0">
                <a:solidFill>
                  <a:schemeClr val="bg1"/>
                </a:solidFill>
              </a:rPr>
              <a:t>분배 </a:t>
            </a:r>
            <a:r>
              <a:rPr lang="en-US" altLang="ko-KR" sz="1500" b="1" dirty="0" smtClean="0">
                <a:solidFill>
                  <a:schemeClr val="bg1"/>
                </a:solidFill>
              </a:rPr>
              <a:t>(</a:t>
            </a:r>
            <a:r>
              <a:rPr lang="ko-KR" altLang="en-US" sz="1500" b="1" dirty="0" smtClean="0">
                <a:solidFill>
                  <a:schemeClr val="bg1"/>
                </a:solidFill>
              </a:rPr>
              <a:t>자동</a:t>
            </a:r>
            <a:r>
              <a:rPr lang="en-US" altLang="ko-KR" sz="1500" b="1" dirty="0" smtClean="0">
                <a:solidFill>
                  <a:schemeClr val="bg1"/>
                </a:solidFill>
              </a:rPr>
              <a:t>)</a:t>
            </a:r>
            <a:endParaRPr lang="ko-KR" altLang="en-US" sz="1500" b="1" dirty="0">
              <a:solidFill>
                <a:schemeClr val="bg1"/>
              </a:solidFill>
            </a:endParaRPr>
          </a:p>
        </p:txBody>
      </p:sp>
      <p:sp>
        <p:nvSpPr>
          <p:cNvPr id="63" name="직사각형 62"/>
          <p:cNvSpPr/>
          <p:nvPr/>
        </p:nvSpPr>
        <p:spPr>
          <a:xfrm>
            <a:off x="3979717" y="4824466"/>
            <a:ext cx="1108749" cy="358632"/>
          </a:xfrm>
          <a:prstGeom prst="rect">
            <a:avLst/>
          </a:prstGeom>
          <a:solidFill>
            <a:srgbClr val="FF6600"/>
          </a:solidFill>
          <a:ln w="952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500" b="1" dirty="0" smtClean="0">
                <a:solidFill>
                  <a:schemeClr val="bg1"/>
                </a:solidFill>
              </a:rPr>
              <a:t>빌드 </a:t>
            </a:r>
            <a:r>
              <a:rPr lang="en-US" altLang="ko-KR" sz="1500" b="1" dirty="0" smtClean="0">
                <a:solidFill>
                  <a:schemeClr val="bg1"/>
                </a:solidFill>
              </a:rPr>
              <a:t>(</a:t>
            </a:r>
            <a:r>
              <a:rPr lang="ko-KR" altLang="en-US" sz="1500" b="1" dirty="0" smtClean="0">
                <a:solidFill>
                  <a:schemeClr val="bg1"/>
                </a:solidFill>
              </a:rPr>
              <a:t>자동</a:t>
            </a:r>
            <a:r>
              <a:rPr lang="en-US" altLang="ko-KR" sz="1500" b="1" dirty="0" smtClean="0">
                <a:solidFill>
                  <a:schemeClr val="bg1"/>
                </a:solidFill>
              </a:rPr>
              <a:t>)</a:t>
            </a:r>
            <a:endParaRPr lang="ko-KR" altLang="en-US" sz="1500" b="1" dirty="0">
              <a:solidFill>
                <a:schemeClr val="bg1"/>
              </a:solidFill>
            </a:endParaRPr>
          </a:p>
        </p:txBody>
      </p:sp>
      <p:sp>
        <p:nvSpPr>
          <p:cNvPr id="64" name="오른쪽 화살표 63"/>
          <p:cNvSpPr/>
          <p:nvPr/>
        </p:nvSpPr>
        <p:spPr>
          <a:xfrm>
            <a:off x="5193274" y="4908186"/>
            <a:ext cx="224442" cy="191193"/>
          </a:xfrm>
          <a:prstGeom prst="rightArrow">
            <a:avLst/>
          </a:prstGeom>
          <a:solidFill>
            <a:srgbClr val="FF660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500" b="1">
              <a:solidFill>
                <a:schemeClr val="bg1"/>
              </a:solidFill>
            </a:endParaRPr>
          </a:p>
        </p:txBody>
      </p:sp>
      <p:sp>
        <p:nvSpPr>
          <p:cNvPr id="65" name="TextBox 64"/>
          <p:cNvSpPr txBox="1"/>
          <p:nvPr/>
        </p:nvSpPr>
        <p:spPr>
          <a:xfrm>
            <a:off x="2514203" y="5230687"/>
            <a:ext cx="921328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200" smtClean="0"/>
              <a:t>버전 관리</a:t>
            </a:r>
            <a:endParaRPr lang="ko-KR" altLang="en-US" sz="1200" dirty="0"/>
          </a:p>
        </p:txBody>
      </p:sp>
      <p:sp>
        <p:nvSpPr>
          <p:cNvPr id="66" name="TextBox 65"/>
          <p:cNvSpPr txBox="1"/>
          <p:nvPr/>
        </p:nvSpPr>
        <p:spPr>
          <a:xfrm>
            <a:off x="4355613" y="5230687"/>
            <a:ext cx="348253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200" b="1" dirty="0" smtClean="0"/>
              <a:t>CI</a:t>
            </a:r>
            <a:endParaRPr lang="ko-KR" altLang="en-US" sz="1200" b="1" dirty="0"/>
          </a:p>
        </p:txBody>
      </p:sp>
      <p:sp>
        <p:nvSpPr>
          <p:cNvPr id="67" name="TextBox 66"/>
          <p:cNvSpPr txBox="1"/>
          <p:nvPr/>
        </p:nvSpPr>
        <p:spPr>
          <a:xfrm>
            <a:off x="6045880" y="5230687"/>
            <a:ext cx="348253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200" b="1" dirty="0" smtClean="0"/>
              <a:t>CI</a:t>
            </a:r>
            <a:endParaRPr lang="ko-KR" altLang="en-US" sz="1200" b="1" dirty="0"/>
          </a:p>
        </p:txBody>
      </p:sp>
      <p:sp>
        <p:nvSpPr>
          <p:cNvPr id="68" name="TextBox 67"/>
          <p:cNvSpPr txBox="1"/>
          <p:nvPr/>
        </p:nvSpPr>
        <p:spPr>
          <a:xfrm>
            <a:off x="7489442" y="5223913"/>
            <a:ext cx="493409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200" b="1" dirty="0" smtClean="0"/>
              <a:t>CD</a:t>
            </a:r>
            <a:endParaRPr lang="ko-KR" altLang="en-US" sz="1200" b="1" dirty="0"/>
          </a:p>
        </p:txBody>
      </p:sp>
      <p:sp>
        <p:nvSpPr>
          <p:cNvPr id="69" name="직사각형 68"/>
          <p:cNvSpPr/>
          <p:nvPr/>
        </p:nvSpPr>
        <p:spPr>
          <a:xfrm>
            <a:off x="3917468" y="4676505"/>
            <a:ext cx="4782395" cy="824407"/>
          </a:xfrm>
          <a:prstGeom prst="rect">
            <a:avLst/>
          </a:prstGeom>
          <a:noFill/>
          <a:ln>
            <a:solidFill>
              <a:srgbClr val="FF33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70" name="TextBox 69"/>
          <p:cNvSpPr txBox="1"/>
          <p:nvPr/>
        </p:nvSpPr>
        <p:spPr>
          <a:xfrm>
            <a:off x="3917467" y="5641162"/>
            <a:ext cx="8143904" cy="103105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2700" b="1" dirty="0" smtClean="0"/>
              <a:t>CI : Continous Integration    </a:t>
            </a:r>
            <a:r>
              <a:rPr lang="en-US" altLang="ko-KR" sz="2700" dirty="0" smtClean="0"/>
              <a:t>(</a:t>
            </a:r>
            <a:r>
              <a:rPr lang="ko-KR" altLang="en-US" sz="2700" dirty="0" smtClean="0"/>
              <a:t>빌드</a:t>
            </a:r>
            <a:r>
              <a:rPr lang="en-US" altLang="ko-KR" sz="2700" dirty="0" smtClean="0"/>
              <a:t>, </a:t>
            </a:r>
            <a:r>
              <a:rPr lang="ko-KR" altLang="en-US" sz="2700" dirty="0" smtClean="0"/>
              <a:t>테스트 자동화</a:t>
            </a:r>
            <a:r>
              <a:rPr lang="en-US" altLang="ko-KR" sz="2700" dirty="0" smtClean="0"/>
              <a:t>)</a:t>
            </a:r>
          </a:p>
          <a:p>
            <a:endParaRPr lang="en-US" altLang="ko-KR" sz="700" dirty="0"/>
          </a:p>
          <a:p>
            <a:r>
              <a:rPr lang="en-US" altLang="ko-KR" sz="2700" b="1" dirty="0" smtClean="0"/>
              <a:t>CD: Continuous Deployment </a:t>
            </a:r>
            <a:r>
              <a:rPr lang="en-US" altLang="ko-KR" sz="2700" dirty="0" smtClean="0"/>
              <a:t>(</a:t>
            </a:r>
            <a:r>
              <a:rPr lang="ko-KR" altLang="en-US" sz="2700" dirty="0" smtClean="0"/>
              <a:t>분배 자동화</a:t>
            </a:r>
            <a:r>
              <a:rPr lang="en-US" altLang="ko-KR" sz="2700" dirty="0" smtClean="0"/>
              <a:t>)</a:t>
            </a:r>
            <a:endParaRPr lang="en-US" altLang="ko-KR" sz="2700" dirty="0"/>
          </a:p>
        </p:txBody>
      </p:sp>
      <p:sp>
        <p:nvSpPr>
          <p:cNvPr id="71" name="TextBox 70"/>
          <p:cNvSpPr txBox="1"/>
          <p:nvPr/>
        </p:nvSpPr>
        <p:spPr>
          <a:xfrm>
            <a:off x="1119441" y="2291541"/>
            <a:ext cx="450972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200" dirty="0" smtClean="0"/>
              <a:t>.pc</a:t>
            </a:r>
            <a:endParaRPr lang="ko-KR" altLang="en-US" sz="1200" dirty="0"/>
          </a:p>
        </p:txBody>
      </p:sp>
      <p:sp>
        <p:nvSpPr>
          <p:cNvPr id="72" name="TextBox 71"/>
          <p:cNvSpPr txBox="1"/>
          <p:nvPr/>
        </p:nvSpPr>
        <p:spPr>
          <a:xfrm>
            <a:off x="2751555" y="2290804"/>
            <a:ext cx="450972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200" dirty="0" smtClean="0"/>
              <a:t>.pc</a:t>
            </a:r>
            <a:endParaRPr lang="ko-KR" altLang="en-US" sz="1200" dirty="0"/>
          </a:p>
        </p:txBody>
      </p:sp>
      <p:sp>
        <p:nvSpPr>
          <p:cNvPr id="73" name="TextBox 72"/>
          <p:cNvSpPr txBox="1"/>
          <p:nvPr/>
        </p:nvSpPr>
        <p:spPr>
          <a:xfrm>
            <a:off x="5761360" y="2315313"/>
            <a:ext cx="1168483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200" smtClean="0"/>
              <a:t>실행</a:t>
            </a:r>
            <a:r>
              <a:rPr lang="en-US" altLang="ko-KR" sz="1200" dirty="0" smtClean="0"/>
              <a:t> </a:t>
            </a:r>
            <a:r>
              <a:rPr lang="ko-KR" altLang="en-US" sz="1200" dirty="0" smtClean="0"/>
              <a:t>바이너리</a:t>
            </a:r>
            <a:endParaRPr lang="ko-KR" altLang="en-US" sz="1200" dirty="0"/>
          </a:p>
        </p:txBody>
      </p:sp>
      <p:sp>
        <p:nvSpPr>
          <p:cNvPr id="74" name="TextBox 73"/>
          <p:cNvSpPr txBox="1"/>
          <p:nvPr/>
        </p:nvSpPr>
        <p:spPr>
          <a:xfrm>
            <a:off x="3881598" y="2315313"/>
            <a:ext cx="1689031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200" dirty="0" smtClean="0"/>
              <a:t>.c =&gt; </a:t>
            </a:r>
            <a:r>
              <a:rPr lang="ko-KR" altLang="en-US" sz="1200" dirty="0" smtClean="0"/>
              <a:t>실행 바이너리</a:t>
            </a:r>
            <a:endParaRPr lang="ko-KR" altLang="en-US" sz="1200" dirty="0"/>
          </a:p>
        </p:txBody>
      </p:sp>
      <p:sp>
        <p:nvSpPr>
          <p:cNvPr id="75" name="TextBox 74"/>
          <p:cNvSpPr txBox="1"/>
          <p:nvPr/>
        </p:nvSpPr>
        <p:spPr>
          <a:xfrm>
            <a:off x="7359134" y="2307197"/>
            <a:ext cx="1260570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200" smtClean="0"/>
              <a:t>실행 바이너리</a:t>
            </a:r>
            <a:endParaRPr lang="ko-KR" altLang="en-US" sz="1200" dirty="0"/>
          </a:p>
        </p:txBody>
      </p:sp>
      <p:sp>
        <p:nvSpPr>
          <p:cNvPr id="76" name="TextBox 75"/>
          <p:cNvSpPr txBox="1"/>
          <p:nvPr/>
        </p:nvSpPr>
        <p:spPr>
          <a:xfrm>
            <a:off x="1119441" y="2668655"/>
            <a:ext cx="639690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200" dirty="0" smtClean="0"/>
              <a:t>.java</a:t>
            </a:r>
            <a:endParaRPr lang="ko-KR" altLang="en-US" sz="1200" dirty="0"/>
          </a:p>
        </p:txBody>
      </p:sp>
      <p:sp>
        <p:nvSpPr>
          <p:cNvPr id="77" name="TextBox 76"/>
          <p:cNvSpPr txBox="1"/>
          <p:nvPr/>
        </p:nvSpPr>
        <p:spPr>
          <a:xfrm>
            <a:off x="2751554" y="2667918"/>
            <a:ext cx="539535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200" dirty="0" smtClean="0"/>
              <a:t>.java</a:t>
            </a:r>
            <a:endParaRPr lang="ko-KR" altLang="en-US" sz="1200" dirty="0"/>
          </a:p>
        </p:txBody>
      </p:sp>
      <p:sp>
        <p:nvSpPr>
          <p:cNvPr id="78" name="TextBox 77"/>
          <p:cNvSpPr txBox="1"/>
          <p:nvPr/>
        </p:nvSpPr>
        <p:spPr>
          <a:xfrm>
            <a:off x="5873582" y="2674851"/>
            <a:ext cx="450972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200" dirty="0" smtClean="0"/>
              <a:t>.jar</a:t>
            </a:r>
            <a:endParaRPr lang="ko-KR" altLang="en-US" sz="1200" dirty="0"/>
          </a:p>
        </p:txBody>
      </p:sp>
      <p:sp>
        <p:nvSpPr>
          <p:cNvPr id="79" name="TextBox 78"/>
          <p:cNvSpPr txBox="1"/>
          <p:nvPr/>
        </p:nvSpPr>
        <p:spPr>
          <a:xfrm>
            <a:off x="4356849" y="2667917"/>
            <a:ext cx="832073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200" dirty="0" smtClean="0"/>
              <a:t>.class</a:t>
            </a:r>
            <a:endParaRPr lang="ko-KR" altLang="en-US" sz="1200" dirty="0"/>
          </a:p>
        </p:txBody>
      </p:sp>
      <p:sp>
        <p:nvSpPr>
          <p:cNvPr id="80" name="TextBox 79"/>
          <p:cNvSpPr txBox="1"/>
          <p:nvPr/>
        </p:nvSpPr>
        <p:spPr>
          <a:xfrm>
            <a:off x="7510660" y="2667916"/>
            <a:ext cx="450972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200" dirty="0" smtClean="0"/>
              <a:t>.jar</a:t>
            </a:r>
            <a:endParaRPr lang="ko-KR" altLang="en-US" sz="1200" dirty="0"/>
          </a:p>
        </p:txBody>
      </p:sp>
      <p:sp>
        <p:nvSpPr>
          <p:cNvPr id="81" name="TextBox 80"/>
          <p:cNvSpPr txBox="1"/>
          <p:nvPr/>
        </p:nvSpPr>
        <p:spPr>
          <a:xfrm>
            <a:off x="8817822" y="2311552"/>
            <a:ext cx="1260570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200" smtClean="0"/>
              <a:t>실행 바이너리</a:t>
            </a:r>
            <a:endParaRPr lang="ko-KR" altLang="en-US" sz="1200" dirty="0"/>
          </a:p>
        </p:txBody>
      </p:sp>
      <p:sp>
        <p:nvSpPr>
          <p:cNvPr id="82" name="TextBox 81"/>
          <p:cNvSpPr txBox="1"/>
          <p:nvPr/>
        </p:nvSpPr>
        <p:spPr>
          <a:xfrm>
            <a:off x="8969348" y="2672271"/>
            <a:ext cx="450972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200" dirty="0" smtClean="0"/>
              <a:t>.jar</a:t>
            </a:r>
            <a:endParaRPr lang="ko-KR" altLang="en-US" sz="1200" dirty="0"/>
          </a:p>
        </p:txBody>
      </p:sp>
      <p:pic>
        <p:nvPicPr>
          <p:cNvPr id="2" name="그림 1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45601" y="3577314"/>
            <a:ext cx="501292" cy="443279"/>
          </a:xfrm>
          <a:prstGeom prst="rect">
            <a:avLst/>
          </a:prstGeom>
        </p:spPr>
      </p:pic>
      <p:sp>
        <p:nvSpPr>
          <p:cNvPr id="83" name="모서리가 둥근 사각형 설명선 82"/>
          <p:cNvSpPr/>
          <p:nvPr/>
        </p:nvSpPr>
        <p:spPr>
          <a:xfrm>
            <a:off x="5318131" y="3541860"/>
            <a:ext cx="1611712" cy="850576"/>
          </a:xfrm>
          <a:prstGeom prst="wedgeRoundRectCallout">
            <a:avLst>
              <a:gd name="adj1" fmla="val 14797"/>
              <a:gd name="adj2" fmla="val 97730"/>
              <a:gd name="adj3" fmla="val 16667"/>
            </a:avLst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>
              <a:solidFill>
                <a:schemeClr val="tx1"/>
              </a:solidFill>
            </a:endParaRPr>
          </a:p>
        </p:txBody>
      </p:sp>
      <p:sp>
        <p:nvSpPr>
          <p:cNvPr id="84" name="TextBox 83"/>
          <p:cNvSpPr txBox="1"/>
          <p:nvPr/>
        </p:nvSpPr>
        <p:spPr>
          <a:xfrm>
            <a:off x="5394758" y="3697428"/>
            <a:ext cx="1535085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200" b="1" dirty="0" err="1" smtClean="0"/>
              <a:t>도커</a:t>
            </a:r>
            <a:r>
              <a:rPr lang="ko-KR" altLang="en-US" sz="1200" b="1" dirty="0" smtClean="0"/>
              <a:t> 이미지</a:t>
            </a:r>
            <a:endParaRPr lang="en-US" altLang="ko-KR" sz="1200" b="1" dirty="0" smtClean="0"/>
          </a:p>
          <a:p>
            <a:endParaRPr lang="en-US" altLang="ko-KR" sz="1200" dirty="0"/>
          </a:p>
          <a:p>
            <a:r>
              <a:rPr lang="en-US" altLang="ko-KR" sz="1200" dirty="0" smtClean="0"/>
              <a:t>(</a:t>
            </a:r>
            <a:r>
              <a:rPr lang="ko-KR" altLang="en-US" sz="1200" dirty="0" smtClean="0"/>
              <a:t>실행 바이너리</a:t>
            </a:r>
            <a:r>
              <a:rPr lang="en-US" altLang="ko-KR" sz="1200" dirty="0" smtClean="0"/>
              <a:t>, jar)</a:t>
            </a:r>
            <a:endParaRPr lang="ko-KR" altLang="en-US" sz="1200" dirty="0"/>
          </a:p>
        </p:txBody>
      </p:sp>
      <p:pic>
        <p:nvPicPr>
          <p:cNvPr id="85" name="그림 84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95977" y="3577314"/>
            <a:ext cx="501292" cy="443279"/>
          </a:xfrm>
          <a:prstGeom prst="rect">
            <a:avLst/>
          </a:prstGeom>
        </p:spPr>
      </p:pic>
      <p:sp>
        <p:nvSpPr>
          <p:cNvPr id="86" name="모서리가 둥근 사각형 설명선 85"/>
          <p:cNvSpPr/>
          <p:nvPr/>
        </p:nvSpPr>
        <p:spPr>
          <a:xfrm>
            <a:off x="7068507" y="3541860"/>
            <a:ext cx="1611712" cy="850576"/>
          </a:xfrm>
          <a:prstGeom prst="wedgeRoundRectCallout">
            <a:avLst>
              <a:gd name="adj1" fmla="val 14797"/>
              <a:gd name="adj2" fmla="val 97730"/>
              <a:gd name="adj3" fmla="val 16667"/>
            </a:avLst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>
              <a:solidFill>
                <a:schemeClr val="tx1"/>
              </a:solidFill>
            </a:endParaRPr>
          </a:p>
        </p:txBody>
      </p:sp>
      <p:sp>
        <p:nvSpPr>
          <p:cNvPr id="87" name="TextBox 86"/>
          <p:cNvSpPr txBox="1"/>
          <p:nvPr/>
        </p:nvSpPr>
        <p:spPr>
          <a:xfrm>
            <a:off x="7145134" y="3697428"/>
            <a:ext cx="1535085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200" b="1" dirty="0" err="1" smtClean="0"/>
              <a:t>도커</a:t>
            </a:r>
            <a:r>
              <a:rPr lang="ko-KR" altLang="en-US" sz="1200" b="1" dirty="0" smtClean="0"/>
              <a:t> 이미지</a:t>
            </a:r>
            <a:endParaRPr lang="en-US" altLang="ko-KR" sz="1200" b="1" dirty="0" smtClean="0"/>
          </a:p>
          <a:p>
            <a:endParaRPr lang="en-US" altLang="ko-KR" sz="1200" dirty="0"/>
          </a:p>
          <a:p>
            <a:r>
              <a:rPr lang="en-US" altLang="ko-KR" sz="1200" dirty="0" smtClean="0"/>
              <a:t>(</a:t>
            </a:r>
            <a:r>
              <a:rPr lang="ko-KR" altLang="en-US" sz="1200" dirty="0" smtClean="0"/>
              <a:t>실행 바이너리</a:t>
            </a:r>
            <a:r>
              <a:rPr lang="en-US" altLang="ko-KR" sz="1200" dirty="0" smtClean="0"/>
              <a:t>, jar)</a:t>
            </a:r>
            <a:endParaRPr lang="ko-KR" altLang="en-US" sz="1200" dirty="0"/>
          </a:p>
        </p:txBody>
      </p:sp>
      <p:pic>
        <p:nvPicPr>
          <p:cNvPr id="88" name="그림 87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852219" y="3581945"/>
            <a:ext cx="501292" cy="443279"/>
          </a:xfrm>
          <a:prstGeom prst="rect">
            <a:avLst/>
          </a:prstGeom>
        </p:spPr>
      </p:pic>
      <p:sp>
        <p:nvSpPr>
          <p:cNvPr id="89" name="모서리가 둥근 사각형 설명선 88"/>
          <p:cNvSpPr/>
          <p:nvPr/>
        </p:nvSpPr>
        <p:spPr>
          <a:xfrm>
            <a:off x="8824749" y="3546491"/>
            <a:ext cx="1611712" cy="850576"/>
          </a:xfrm>
          <a:prstGeom prst="wedgeRoundRectCallout">
            <a:avLst>
              <a:gd name="adj1" fmla="val 748"/>
              <a:gd name="adj2" fmla="val 94659"/>
              <a:gd name="adj3" fmla="val 16667"/>
            </a:avLst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>
              <a:solidFill>
                <a:schemeClr val="tx1"/>
              </a:solidFill>
            </a:endParaRPr>
          </a:p>
        </p:txBody>
      </p:sp>
      <p:sp>
        <p:nvSpPr>
          <p:cNvPr id="90" name="TextBox 89"/>
          <p:cNvSpPr txBox="1"/>
          <p:nvPr/>
        </p:nvSpPr>
        <p:spPr>
          <a:xfrm>
            <a:off x="8901376" y="3702059"/>
            <a:ext cx="1535085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200" b="1" dirty="0" err="1" smtClean="0"/>
              <a:t>도커</a:t>
            </a:r>
            <a:r>
              <a:rPr lang="ko-KR" altLang="en-US" sz="1200" b="1" dirty="0" smtClean="0"/>
              <a:t> 이미지</a:t>
            </a:r>
            <a:endParaRPr lang="en-US" altLang="ko-KR" sz="1200" b="1" dirty="0" smtClean="0"/>
          </a:p>
          <a:p>
            <a:endParaRPr lang="en-US" altLang="ko-KR" sz="1200" dirty="0"/>
          </a:p>
          <a:p>
            <a:r>
              <a:rPr lang="en-US" altLang="ko-KR" sz="1200" dirty="0" smtClean="0"/>
              <a:t>(</a:t>
            </a:r>
            <a:r>
              <a:rPr lang="ko-KR" altLang="en-US" sz="1200" dirty="0" smtClean="0"/>
              <a:t>실행 바이너리</a:t>
            </a:r>
            <a:r>
              <a:rPr lang="en-US" altLang="ko-KR" sz="1200" dirty="0" smtClean="0"/>
              <a:t>, jar)</a:t>
            </a:r>
            <a:endParaRPr lang="ko-KR" altLang="en-US" sz="1200" dirty="0"/>
          </a:p>
        </p:txBody>
      </p:sp>
      <p:sp>
        <p:nvSpPr>
          <p:cNvPr id="92" name="직사각형 91"/>
          <p:cNvSpPr/>
          <p:nvPr/>
        </p:nvSpPr>
        <p:spPr>
          <a:xfrm>
            <a:off x="10706397" y="2490650"/>
            <a:ext cx="1354974" cy="691671"/>
          </a:xfrm>
          <a:prstGeom prst="rect">
            <a:avLst/>
          </a:prstGeom>
          <a:solidFill>
            <a:schemeClr val="accent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500" b="1" dirty="0" smtClean="0"/>
              <a:t>컨테이너에</a:t>
            </a:r>
            <a:endParaRPr lang="en-US" altLang="ko-KR" sz="1500" b="1" dirty="0"/>
          </a:p>
          <a:p>
            <a:pPr algn="ctr"/>
            <a:endParaRPr lang="en-US" altLang="ko-KR" sz="500" b="1" dirty="0"/>
          </a:p>
          <a:p>
            <a:pPr algn="ctr"/>
            <a:r>
              <a:rPr lang="ko-KR" altLang="en-US" sz="1500" b="1" dirty="0" smtClean="0"/>
              <a:t>할당 가능</a:t>
            </a:r>
            <a:endParaRPr lang="en-US" altLang="ko-KR" sz="1500" b="1" dirty="0" smtClean="0"/>
          </a:p>
        </p:txBody>
      </p:sp>
      <p:cxnSp>
        <p:nvCxnSpPr>
          <p:cNvPr id="93" name="직선 화살표 연결선 92"/>
          <p:cNvCxnSpPr>
            <a:endCxn id="92" idx="1"/>
          </p:cNvCxnSpPr>
          <p:nvPr/>
        </p:nvCxnSpPr>
        <p:spPr>
          <a:xfrm flipV="1">
            <a:off x="9553303" y="2836486"/>
            <a:ext cx="1153094" cy="860944"/>
          </a:xfrm>
          <a:prstGeom prst="straightConnector1">
            <a:avLst/>
          </a:prstGeom>
          <a:ln w="28575">
            <a:solidFill>
              <a:srgbClr val="00B0F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779415495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직사각형 41"/>
          <p:cNvSpPr/>
          <p:nvPr/>
        </p:nvSpPr>
        <p:spPr>
          <a:xfrm>
            <a:off x="274320" y="224444"/>
            <a:ext cx="2086496" cy="498763"/>
          </a:xfrm>
          <a:prstGeom prst="rect">
            <a:avLst/>
          </a:prstGeom>
          <a:solidFill>
            <a:srgbClr val="00B0F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2300" b="1" dirty="0" err="1" smtClean="0"/>
              <a:t>쿠버네티스</a:t>
            </a:r>
            <a:endParaRPr lang="en-US" altLang="ko-KR" sz="2300" b="1" dirty="0" smtClean="0"/>
          </a:p>
        </p:txBody>
      </p:sp>
      <p:sp>
        <p:nvSpPr>
          <p:cNvPr id="3" name="모서리가 둥근 직사각형 2"/>
          <p:cNvSpPr/>
          <p:nvPr/>
        </p:nvSpPr>
        <p:spPr>
          <a:xfrm>
            <a:off x="274320" y="1482971"/>
            <a:ext cx="2718262" cy="1026279"/>
          </a:xfrm>
          <a:prstGeom prst="roundRect">
            <a:avLst>
              <a:gd name="adj" fmla="val 4038"/>
            </a:avLst>
          </a:prstGeom>
          <a:noFill/>
          <a:ln w="952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" name="TextBox 3"/>
          <p:cNvSpPr txBox="1"/>
          <p:nvPr/>
        </p:nvSpPr>
        <p:spPr>
          <a:xfrm>
            <a:off x="274319" y="1153997"/>
            <a:ext cx="1504604" cy="3231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500" dirty="0" smtClean="0"/>
              <a:t>컴퓨팅 </a:t>
            </a:r>
            <a:r>
              <a:rPr lang="ko-KR" altLang="en-US" sz="1500" dirty="0" err="1" smtClean="0"/>
              <a:t>서버군</a:t>
            </a:r>
            <a:endParaRPr lang="ko-KR" altLang="en-US" sz="1500" dirty="0"/>
          </a:p>
        </p:txBody>
      </p:sp>
      <p:sp>
        <p:nvSpPr>
          <p:cNvPr id="5" name="직사각형 4"/>
          <p:cNvSpPr/>
          <p:nvPr/>
        </p:nvSpPr>
        <p:spPr>
          <a:xfrm>
            <a:off x="437133" y="1611864"/>
            <a:ext cx="319325" cy="811923"/>
          </a:xfrm>
          <a:prstGeom prst="rect">
            <a:avLst/>
          </a:prstGeom>
          <a:solidFill>
            <a:schemeClr val="tx1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100" b="1" dirty="0" smtClean="0"/>
              <a:t>서버</a:t>
            </a:r>
            <a:endParaRPr lang="en-US" altLang="ko-KR" sz="1100" b="1" dirty="0" smtClean="0"/>
          </a:p>
        </p:txBody>
      </p:sp>
      <p:sp>
        <p:nvSpPr>
          <p:cNvPr id="6" name="직사각형 5"/>
          <p:cNvSpPr/>
          <p:nvPr/>
        </p:nvSpPr>
        <p:spPr>
          <a:xfrm>
            <a:off x="835723" y="1611864"/>
            <a:ext cx="319325" cy="811923"/>
          </a:xfrm>
          <a:prstGeom prst="rect">
            <a:avLst/>
          </a:prstGeom>
          <a:solidFill>
            <a:schemeClr val="tx1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100" b="1" dirty="0" smtClean="0"/>
              <a:t>서버</a:t>
            </a:r>
            <a:endParaRPr lang="en-US" altLang="ko-KR" sz="1100" b="1" dirty="0" smtClean="0"/>
          </a:p>
        </p:txBody>
      </p:sp>
      <p:sp>
        <p:nvSpPr>
          <p:cNvPr id="7" name="직사각형 6"/>
          <p:cNvSpPr/>
          <p:nvPr/>
        </p:nvSpPr>
        <p:spPr>
          <a:xfrm>
            <a:off x="1234313" y="1611864"/>
            <a:ext cx="319325" cy="811923"/>
          </a:xfrm>
          <a:prstGeom prst="rect">
            <a:avLst/>
          </a:prstGeom>
          <a:solidFill>
            <a:schemeClr val="tx1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100" b="1" dirty="0" smtClean="0"/>
              <a:t>서버</a:t>
            </a:r>
            <a:endParaRPr lang="en-US" altLang="ko-KR" sz="1100" b="1" dirty="0" smtClean="0"/>
          </a:p>
        </p:txBody>
      </p:sp>
      <p:sp>
        <p:nvSpPr>
          <p:cNvPr id="8" name="직사각형 7"/>
          <p:cNvSpPr/>
          <p:nvPr/>
        </p:nvSpPr>
        <p:spPr>
          <a:xfrm>
            <a:off x="1661213" y="1611864"/>
            <a:ext cx="319325" cy="811923"/>
          </a:xfrm>
          <a:prstGeom prst="rect">
            <a:avLst/>
          </a:prstGeom>
          <a:solidFill>
            <a:schemeClr val="tx1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100" b="1" dirty="0" smtClean="0"/>
              <a:t>서버</a:t>
            </a:r>
            <a:endParaRPr lang="en-US" altLang="ko-KR" sz="1100" b="1" dirty="0" smtClean="0"/>
          </a:p>
        </p:txBody>
      </p:sp>
      <p:sp>
        <p:nvSpPr>
          <p:cNvPr id="9" name="직사각형 8"/>
          <p:cNvSpPr/>
          <p:nvPr/>
        </p:nvSpPr>
        <p:spPr>
          <a:xfrm>
            <a:off x="2059803" y="1611863"/>
            <a:ext cx="319325" cy="811923"/>
          </a:xfrm>
          <a:prstGeom prst="rect">
            <a:avLst/>
          </a:prstGeom>
          <a:solidFill>
            <a:schemeClr val="tx1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100" b="1" dirty="0" smtClean="0"/>
              <a:t>서버</a:t>
            </a:r>
            <a:endParaRPr lang="en-US" altLang="ko-KR" sz="1100" b="1" dirty="0" smtClean="0"/>
          </a:p>
        </p:txBody>
      </p:sp>
      <p:sp>
        <p:nvSpPr>
          <p:cNvPr id="10" name="직사각형 9"/>
          <p:cNvSpPr/>
          <p:nvPr/>
        </p:nvSpPr>
        <p:spPr>
          <a:xfrm>
            <a:off x="2470648" y="1611863"/>
            <a:ext cx="319325" cy="811923"/>
          </a:xfrm>
          <a:prstGeom prst="rect">
            <a:avLst/>
          </a:prstGeom>
          <a:solidFill>
            <a:schemeClr val="tx1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100" b="1" dirty="0" smtClean="0"/>
              <a:t>서버</a:t>
            </a:r>
            <a:endParaRPr lang="en-US" altLang="ko-KR" sz="1100" b="1" dirty="0" smtClean="0"/>
          </a:p>
        </p:txBody>
      </p:sp>
      <p:sp>
        <p:nvSpPr>
          <p:cNvPr id="11" name="TextBox 10"/>
          <p:cNvSpPr txBox="1"/>
          <p:nvPr/>
        </p:nvSpPr>
        <p:spPr>
          <a:xfrm>
            <a:off x="445389" y="2741246"/>
            <a:ext cx="1614414" cy="3231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500" smtClean="0"/>
              <a:t>스토리지 </a:t>
            </a:r>
            <a:r>
              <a:rPr lang="ko-KR" altLang="en-US" sz="1500" dirty="0" err="1" smtClean="0"/>
              <a:t>서버군</a:t>
            </a:r>
            <a:endParaRPr lang="ko-KR" altLang="en-US" sz="1500" dirty="0"/>
          </a:p>
        </p:txBody>
      </p:sp>
      <p:sp>
        <p:nvSpPr>
          <p:cNvPr id="12" name="모서리가 둥근 직사각형 11"/>
          <p:cNvSpPr/>
          <p:nvPr/>
        </p:nvSpPr>
        <p:spPr>
          <a:xfrm>
            <a:off x="572357" y="3064411"/>
            <a:ext cx="994703" cy="1026279"/>
          </a:xfrm>
          <a:prstGeom prst="roundRect">
            <a:avLst>
              <a:gd name="adj" fmla="val 4038"/>
            </a:avLst>
          </a:prstGeom>
          <a:noFill/>
          <a:ln w="952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3" name="직사각형 12"/>
          <p:cNvSpPr/>
          <p:nvPr/>
        </p:nvSpPr>
        <p:spPr>
          <a:xfrm>
            <a:off x="735170" y="3193304"/>
            <a:ext cx="319325" cy="811923"/>
          </a:xfrm>
          <a:prstGeom prst="rect">
            <a:avLst/>
          </a:prstGeom>
          <a:solidFill>
            <a:schemeClr val="tx1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100" b="1" dirty="0" smtClean="0"/>
              <a:t>서버</a:t>
            </a:r>
            <a:endParaRPr lang="en-US" altLang="ko-KR" sz="1100" b="1" dirty="0" smtClean="0"/>
          </a:p>
        </p:txBody>
      </p:sp>
      <p:sp>
        <p:nvSpPr>
          <p:cNvPr id="14" name="직사각형 13"/>
          <p:cNvSpPr/>
          <p:nvPr/>
        </p:nvSpPr>
        <p:spPr>
          <a:xfrm>
            <a:off x="1133760" y="3193304"/>
            <a:ext cx="319325" cy="811923"/>
          </a:xfrm>
          <a:prstGeom prst="rect">
            <a:avLst/>
          </a:prstGeom>
          <a:solidFill>
            <a:schemeClr val="tx1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100" b="1" dirty="0" smtClean="0"/>
              <a:t>서버</a:t>
            </a:r>
            <a:endParaRPr lang="en-US" altLang="ko-KR" sz="1100" b="1" dirty="0" smtClean="0"/>
          </a:p>
        </p:txBody>
      </p:sp>
      <p:pic>
        <p:nvPicPr>
          <p:cNvPr id="15" name="그림 14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16233" y="2054733"/>
            <a:ext cx="706522" cy="1034184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5248926" y="1777734"/>
            <a:ext cx="1942011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200" smtClean="0"/>
              <a:t>컨테이너</a:t>
            </a:r>
            <a:r>
              <a:rPr lang="en-US" altLang="ko-KR" sz="1200" dirty="0" smtClean="0"/>
              <a:t> 3,000</a:t>
            </a:r>
            <a:r>
              <a:rPr lang="ko-KR" altLang="en-US" sz="1200" dirty="0" smtClean="0"/>
              <a:t>개로 분해</a:t>
            </a:r>
            <a:endParaRPr lang="ko-KR" altLang="en-US" sz="1200" dirty="0"/>
          </a:p>
        </p:txBody>
      </p:sp>
      <p:sp>
        <p:nvSpPr>
          <p:cNvPr id="17" name="TextBox 16"/>
          <p:cNvSpPr txBox="1"/>
          <p:nvPr/>
        </p:nvSpPr>
        <p:spPr>
          <a:xfrm>
            <a:off x="5535226" y="3155670"/>
            <a:ext cx="1191414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200" b="1" smtClean="0"/>
              <a:t>컨테이너</a:t>
            </a:r>
            <a:r>
              <a:rPr lang="en-US" altLang="ko-KR" sz="1200" b="1" dirty="0" smtClean="0"/>
              <a:t> 1</a:t>
            </a:r>
            <a:r>
              <a:rPr lang="ko-KR" altLang="en-US" sz="1200" b="1" dirty="0" smtClean="0"/>
              <a:t>개</a:t>
            </a:r>
            <a:endParaRPr lang="ko-KR" altLang="en-US" sz="1200" b="1" dirty="0"/>
          </a:p>
        </p:txBody>
      </p:sp>
      <p:sp>
        <p:nvSpPr>
          <p:cNvPr id="18" name="TextBox 17"/>
          <p:cNvSpPr txBox="1"/>
          <p:nvPr/>
        </p:nvSpPr>
        <p:spPr>
          <a:xfrm>
            <a:off x="5840213" y="3399386"/>
            <a:ext cx="1165084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000" dirty="0" smtClean="0"/>
              <a:t>CPU: 0.1</a:t>
            </a:r>
            <a:r>
              <a:rPr lang="ko-KR" altLang="en-US" sz="1000" dirty="0" smtClean="0"/>
              <a:t>코어</a:t>
            </a:r>
            <a:endParaRPr lang="en-US" altLang="ko-KR" sz="1000" dirty="0" smtClean="0"/>
          </a:p>
          <a:p>
            <a:endParaRPr lang="en-US" altLang="ko-KR" sz="300" dirty="0"/>
          </a:p>
          <a:p>
            <a:r>
              <a:rPr lang="ko-KR" altLang="en-US" sz="1000" dirty="0" smtClean="0"/>
              <a:t>램</a:t>
            </a:r>
            <a:r>
              <a:rPr lang="en-US" altLang="ko-KR" sz="1000" dirty="0" smtClean="0"/>
              <a:t>:</a:t>
            </a:r>
            <a:r>
              <a:rPr lang="ko-KR" altLang="en-US" sz="1000" dirty="0" smtClean="0"/>
              <a:t> </a:t>
            </a:r>
            <a:r>
              <a:rPr lang="en-US" altLang="ko-KR" sz="1000" dirty="0" smtClean="0"/>
              <a:t>256 </a:t>
            </a:r>
            <a:r>
              <a:rPr lang="en-US" altLang="ko-KR" sz="1000" dirty="0"/>
              <a:t>M</a:t>
            </a:r>
            <a:r>
              <a:rPr lang="en-US" altLang="ko-KR" sz="1000" dirty="0" smtClean="0"/>
              <a:t>B</a:t>
            </a:r>
          </a:p>
          <a:p>
            <a:endParaRPr lang="en-US" altLang="ko-KR" sz="300" dirty="0"/>
          </a:p>
          <a:p>
            <a:r>
              <a:rPr lang="ko-KR" altLang="en-US" sz="1000" dirty="0" smtClean="0"/>
              <a:t>디스크</a:t>
            </a:r>
            <a:r>
              <a:rPr lang="en-US" altLang="ko-KR" sz="1000" dirty="0" smtClean="0"/>
              <a:t>: 256 MB</a:t>
            </a:r>
          </a:p>
        </p:txBody>
      </p:sp>
      <p:cxnSp>
        <p:nvCxnSpPr>
          <p:cNvPr id="19" name="직선 화살표 연결선 18"/>
          <p:cNvCxnSpPr/>
          <p:nvPr/>
        </p:nvCxnSpPr>
        <p:spPr>
          <a:xfrm>
            <a:off x="1580183" y="1375949"/>
            <a:ext cx="2419595" cy="1169401"/>
          </a:xfrm>
          <a:prstGeom prst="straightConnector1">
            <a:avLst/>
          </a:prstGeom>
          <a:ln w="28575">
            <a:solidFill>
              <a:srgbClr val="00B0F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" name="직선 화살표 연결선 21"/>
          <p:cNvCxnSpPr/>
          <p:nvPr/>
        </p:nvCxnSpPr>
        <p:spPr>
          <a:xfrm flipV="1">
            <a:off x="1944992" y="2616273"/>
            <a:ext cx="2054786" cy="286556"/>
          </a:xfrm>
          <a:prstGeom prst="straightConnector1">
            <a:avLst/>
          </a:prstGeom>
          <a:ln w="28575">
            <a:solidFill>
              <a:srgbClr val="00B0F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0" name="직사각형 29"/>
          <p:cNvSpPr/>
          <p:nvPr/>
        </p:nvSpPr>
        <p:spPr>
          <a:xfrm>
            <a:off x="4039136" y="2017824"/>
            <a:ext cx="883198" cy="1381562"/>
          </a:xfrm>
          <a:prstGeom prst="rect">
            <a:avLst/>
          </a:prstGeom>
          <a:solidFill>
            <a:schemeClr val="tx1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500" b="1" dirty="0" smtClean="0"/>
              <a:t>초대형</a:t>
            </a:r>
            <a:endParaRPr lang="en-US" altLang="ko-KR" sz="1500" b="1" dirty="0" smtClean="0"/>
          </a:p>
          <a:p>
            <a:pPr algn="ctr"/>
            <a:endParaRPr lang="en-US" altLang="ko-KR" sz="500" b="1" dirty="0"/>
          </a:p>
          <a:p>
            <a:pPr algn="ctr"/>
            <a:r>
              <a:rPr lang="ko-KR" altLang="en-US" sz="1500" b="1" dirty="0" smtClean="0"/>
              <a:t>서버</a:t>
            </a:r>
            <a:endParaRPr lang="en-US" altLang="ko-KR" sz="1500" b="1" dirty="0" smtClean="0"/>
          </a:p>
          <a:p>
            <a:pPr algn="ctr"/>
            <a:endParaRPr lang="en-US" altLang="ko-KR" sz="500" b="1" dirty="0"/>
          </a:p>
          <a:p>
            <a:pPr algn="ctr"/>
            <a:r>
              <a:rPr lang="en-US" altLang="ko-KR" sz="1500" b="1" dirty="0" smtClean="0"/>
              <a:t>(</a:t>
            </a:r>
            <a:r>
              <a:rPr lang="ko-KR" altLang="en-US" sz="1500" b="1" dirty="0" smtClean="0"/>
              <a:t>가상</a:t>
            </a:r>
            <a:r>
              <a:rPr lang="en-US" altLang="ko-KR" sz="1500" b="1" dirty="0" smtClean="0"/>
              <a:t>)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102267" y="1939317"/>
            <a:ext cx="784694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200" dirty="0" smtClean="0"/>
              <a:t>CPU, </a:t>
            </a:r>
            <a:r>
              <a:rPr lang="ko-KR" altLang="en-US" sz="1200" dirty="0" smtClean="0"/>
              <a:t>램</a:t>
            </a:r>
            <a:endParaRPr lang="ko-KR" altLang="en-US" sz="1200" dirty="0"/>
          </a:p>
        </p:txBody>
      </p:sp>
      <p:sp>
        <p:nvSpPr>
          <p:cNvPr id="34" name="TextBox 33"/>
          <p:cNvSpPr txBox="1"/>
          <p:nvPr/>
        </p:nvSpPr>
        <p:spPr>
          <a:xfrm>
            <a:off x="3148748" y="2811918"/>
            <a:ext cx="784694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200" dirty="0" smtClean="0"/>
              <a:t>디스크</a:t>
            </a:r>
            <a:endParaRPr lang="ko-KR" altLang="en-US" sz="1200" dirty="0"/>
          </a:p>
        </p:txBody>
      </p:sp>
      <p:cxnSp>
        <p:nvCxnSpPr>
          <p:cNvPr id="35" name="직선 화살표 연결선 34"/>
          <p:cNvCxnSpPr>
            <a:endCxn id="15" idx="1"/>
          </p:cNvCxnSpPr>
          <p:nvPr/>
        </p:nvCxnSpPr>
        <p:spPr>
          <a:xfrm>
            <a:off x="4922334" y="2571825"/>
            <a:ext cx="793899" cy="0"/>
          </a:xfrm>
          <a:prstGeom prst="straightConnector1">
            <a:avLst/>
          </a:prstGeom>
          <a:ln w="28575">
            <a:solidFill>
              <a:srgbClr val="00B0F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8" name="직선 화살표 연결선 37"/>
          <p:cNvCxnSpPr/>
          <p:nvPr/>
        </p:nvCxnSpPr>
        <p:spPr>
          <a:xfrm>
            <a:off x="6422755" y="2571825"/>
            <a:ext cx="793899" cy="0"/>
          </a:xfrm>
          <a:prstGeom prst="straightConnector1">
            <a:avLst/>
          </a:prstGeom>
          <a:ln w="28575">
            <a:solidFill>
              <a:srgbClr val="00B0F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9" name="TextBox 38"/>
          <p:cNvSpPr txBox="1"/>
          <p:nvPr/>
        </p:nvSpPr>
        <p:spPr>
          <a:xfrm>
            <a:off x="7246402" y="2435664"/>
            <a:ext cx="2350443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200" b="1" dirty="0" smtClean="0"/>
              <a:t>컨테이너</a:t>
            </a:r>
            <a:r>
              <a:rPr lang="en-US" altLang="ko-KR" sz="1200" b="1" dirty="0" smtClean="0"/>
              <a:t> 1</a:t>
            </a:r>
            <a:r>
              <a:rPr lang="ko-KR" altLang="en-US" sz="1200" b="1" dirty="0" smtClean="0"/>
              <a:t>개에 </a:t>
            </a:r>
            <a:r>
              <a:rPr lang="en-US" altLang="ko-KR" sz="1200" b="1" dirty="0" smtClean="0"/>
              <a:t>MSA 1</a:t>
            </a:r>
            <a:r>
              <a:rPr lang="ko-KR" altLang="en-US" sz="1200" b="1" dirty="0" smtClean="0"/>
              <a:t>개 할당</a:t>
            </a:r>
            <a:endParaRPr lang="ko-KR" altLang="en-US" sz="1200" b="1" dirty="0"/>
          </a:p>
        </p:txBody>
      </p:sp>
      <p:pic>
        <p:nvPicPr>
          <p:cNvPr id="40" name="그림 39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73578" y="2818894"/>
            <a:ext cx="1496090" cy="600514"/>
          </a:xfrm>
          <a:prstGeom prst="rect">
            <a:avLst/>
          </a:prstGeom>
        </p:spPr>
      </p:pic>
      <p:sp>
        <p:nvSpPr>
          <p:cNvPr id="41" name="TextBox 40"/>
          <p:cNvSpPr txBox="1"/>
          <p:nvPr/>
        </p:nvSpPr>
        <p:spPr>
          <a:xfrm>
            <a:off x="402090" y="5500643"/>
            <a:ext cx="1695808" cy="5693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3100" b="1" dirty="0" smtClean="0"/>
              <a:t>CI / CD</a:t>
            </a:r>
            <a:endParaRPr lang="en-US" altLang="ko-KR" sz="3100" b="1" dirty="0"/>
          </a:p>
        </p:txBody>
      </p:sp>
      <p:sp>
        <p:nvSpPr>
          <p:cNvPr id="43" name="직사각형 42"/>
          <p:cNvSpPr/>
          <p:nvPr/>
        </p:nvSpPr>
        <p:spPr>
          <a:xfrm>
            <a:off x="521642" y="6111883"/>
            <a:ext cx="1108749" cy="358632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 w="952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500" dirty="0" smtClean="0">
                <a:solidFill>
                  <a:schemeClr val="tx1"/>
                </a:solidFill>
              </a:rPr>
              <a:t>개발 서버</a:t>
            </a:r>
            <a:endParaRPr lang="ko-KR" altLang="en-US" sz="1500" dirty="0">
              <a:solidFill>
                <a:schemeClr val="tx1"/>
              </a:solidFill>
            </a:endParaRPr>
          </a:p>
        </p:txBody>
      </p:sp>
      <p:sp>
        <p:nvSpPr>
          <p:cNvPr id="44" name="오른쪽 화살표 43"/>
          <p:cNvSpPr/>
          <p:nvPr/>
        </p:nvSpPr>
        <p:spPr>
          <a:xfrm>
            <a:off x="1720550" y="6195602"/>
            <a:ext cx="224442" cy="191193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500"/>
          </a:p>
        </p:txBody>
      </p:sp>
      <p:sp>
        <p:nvSpPr>
          <p:cNvPr id="45" name="직사각형 44"/>
          <p:cNvSpPr/>
          <p:nvPr/>
        </p:nvSpPr>
        <p:spPr>
          <a:xfrm>
            <a:off x="2102248" y="6111883"/>
            <a:ext cx="1108749" cy="358632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 w="952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500" dirty="0" smtClean="0">
                <a:solidFill>
                  <a:schemeClr val="tx1"/>
                </a:solidFill>
              </a:rPr>
              <a:t>형상</a:t>
            </a:r>
            <a:endParaRPr lang="ko-KR" altLang="en-US" sz="1500" dirty="0">
              <a:solidFill>
                <a:schemeClr val="tx1"/>
              </a:solidFill>
            </a:endParaRPr>
          </a:p>
        </p:txBody>
      </p:sp>
      <p:sp>
        <p:nvSpPr>
          <p:cNvPr id="46" name="오른쪽 화살표 45"/>
          <p:cNvSpPr/>
          <p:nvPr/>
        </p:nvSpPr>
        <p:spPr>
          <a:xfrm>
            <a:off x="3318573" y="6191244"/>
            <a:ext cx="224442" cy="191193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500"/>
          </a:p>
        </p:txBody>
      </p:sp>
      <p:sp>
        <p:nvSpPr>
          <p:cNvPr id="47" name="직사각형 46"/>
          <p:cNvSpPr/>
          <p:nvPr/>
        </p:nvSpPr>
        <p:spPr>
          <a:xfrm>
            <a:off x="8455162" y="6107524"/>
            <a:ext cx="1108749" cy="358632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 w="952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500" dirty="0" smtClean="0">
                <a:solidFill>
                  <a:schemeClr val="tx1"/>
                </a:solidFill>
              </a:rPr>
              <a:t>운영 서버</a:t>
            </a:r>
            <a:endParaRPr lang="ko-KR" altLang="en-US" sz="1500" dirty="0">
              <a:solidFill>
                <a:schemeClr val="tx1"/>
              </a:solidFill>
            </a:endParaRPr>
          </a:p>
        </p:txBody>
      </p:sp>
      <p:sp>
        <p:nvSpPr>
          <p:cNvPr id="48" name="TextBox 47"/>
          <p:cNvSpPr txBox="1"/>
          <p:nvPr/>
        </p:nvSpPr>
        <p:spPr>
          <a:xfrm>
            <a:off x="499964" y="6511331"/>
            <a:ext cx="1282920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200" smtClean="0"/>
              <a:t>프로그램 개발</a:t>
            </a:r>
            <a:endParaRPr lang="ko-KR" altLang="en-US" sz="1200" dirty="0"/>
          </a:p>
        </p:txBody>
      </p:sp>
      <p:sp>
        <p:nvSpPr>
          <p:cNvPr id="49" name="TextBox 48"/>
          <p:cNvSpPr txBox="1"/>
          <p:nvPr/>
        </p:nvSpPr>
        <p:spPr>
          <a:xfrm>
            <a:off x="8751257" y="6511330"/>
            <a:ext cx="616621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200" smtClean="0"/>
              <a:t>반영</a:t>
            </a:r>
            <a:endParaRPr lang="ko-KR" altLang="en-US" sz="1200" dirty="0"/>
          </a:p>
        </p:txBody>
      </p:sp>
      <p:sp>
        <p:nvSpPr>
          <p:cNvPr id="50" name="오른쪽 화살표 49"/>
          <p:cNvSpPr/>
          <p:nvPr/>
        </p:nvSpPr>
        <p:spPr>
          <a:xfrm>
            <a:off x="8057820" y="6186885"/>
            <a:ext cx="224442" cy="191193"/>
          </a:xfrm>
          <a:prstGeom prst="rightArrow">
            <a:avLst/>
          </a:prstGeom>
          <a:solidFill>
            <a:srgbClr val="FF660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500" b="1">
              <a:solidFill>
                <a:schemeClr val="bg1"/>
              </a:solidFill>
            </a:endParaRPr>
          </a:p>
        </p:txBody>
      </p:sp>
      <p:sp>
        <p:nvSpPr>
          <p:cNvPr id="51" name="직사각형 50"/>
          <p:cNvSpPr/>
          <p:nvPr/>
        </p:nvSpPr>
        <p:spPr>
          <a:xfrm>
            <a:off x="5202499" y="6103166"/>
            <a:ext cx="1220681" cy="358632"/>
          </a:xfrm>
          <a:prstGeom prst="rect">
            <a:avLst/>
          </a:prstGeom>
          <a:solidFill>
            <a:srgbClr val="FF6600"/>
          </a:solidFill>
          <a:ln w="952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500" b="1" dirty="0" smtClean="0">
                <a:solidFill>
                  <a:schemeClr val="bg1"/>
                </a:solidFill>
              </a:rPr>
              <a:t>테스트</a:t>
            </a:r>
            <a:r>
              <a:rPr lang="ko-KR" altLang="en-US" sz="1200" b="1" dirty="0" smtClean="0">
                <a:solidFill>
                  <a:schemeClr val="bg1"/>
                </a:solidFill>
              </a:rPr>
              <a:t> </a:t>
            </a:r>
            <a:r>
              <a:rPr lang="en-US" altLang="ko-KR" sz="1200" b="1" dirty="0" smtClean="0">
                <a:solidFill>
                  <a:schemeClr val="bg1"/>
                </a:solidFill>
              </a:rPr>
              <a:t>(</a:t>
            </a:r>
            <a:r>
              <a:rPr lang="ko-KR" altLang="en-US" sz="1200" b="1" dirty="0" smtClean="0">
                <a:solidFill>
                  <a:schemeClr val="bg1"/>
                </a:solidFill>
              </a:rPr>
              <a:t>자동</a:t>
            </a:r>
            <a:r>
              <a:rPr lang="en-US" altLang="ko-KR" sz="1200" b="1" dirty="0" smtClean="0">
                <a:solidFill>
                  <a:schemeClr val="bg1"/>
                </a:solidFill>
              </a:rPr>
              <a:t>)</a:t>
            </a:r>
            <a:endParaRPr lang="ko-KR" altLang="en-US" sz="1200" b="1" dirty="0">
              <a:solidFill>
                <a:schemeClr val="bg1"/>
              </a:solidFill>
            </a:endParaRPr>
          </a:p>
        </p:txBody>
      </p:sp>
      <p:sp>
        <p:nvSpPr>
          <p:cNvPr id="52" name="오른쪽 화살표 51"/>
          <p:cNvSpPr/>
          <p:nvPr/>
        </p:nvSpPr>
        <p:spPr>
          <a:xfrm>
            <a:off x="6497203" y="6173821"/>
            <a:ext cx="224442" cy="191193"/>
          </a:xfrm>
          <a:prstGeom prst="rightArrow">
            <a:avLst/>
          </a:prstGeom>
          <a:solidFill>
            <a:srgbClr val="FF660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500" b="1">
              <a:solidFill>
                <a:schemeClr val="bg1"/>
              </a:solidFill>
            </a:endParaRPr>
          </a:p>
        </p:txBody>
      </p:sp>
      <p:sp>
        <p:nvSpPr>
          <p:cNvPr id="53" name="직사각형 52"/>
          <p:cNvSpPr/>
          <p:nvPr/>
        </p:nvSpPr>
        <p:spPr>
          <a:xfrm>
            <a:off x="6809232" y="6103166"/>
            <a:ext cx="1108749" cy="358632"/>
          </a:xfrm>
          <a:prstGeom prst="rect">
            <a:avLst/>
          </a:prstGeom>
          <a:solidFill>
            <a:srgbClr val="FF6600"/>
          </a:solidFill>
          <a:ln w="952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500" b="1" dirty="0" smtClean="0">
                <a:solidFill>
                  <a:schemeClr val="bg1"/>
                </a:solidFill>
              </a:rPr>
              <a:t>분배 </a:t>
            </a:r>
            <a:r>
              <a:rPr lang="en-US" altLang="ko-KR" sz="1500" b="1" dirty="0" smtClean="0">
                <a:solidFill>
                  <a:schemeClr val="bg1"/>
                </a:solidFill>
              </a:rPr>
              <a:t>(</a:t>
            </a:r>
            <a:r>
              <a:rPr lang="ko-KR" altLang="en-US" sz="1500" b="1" dirty="0" smtClean="0">
                <a:solidFill>
                  <a:schemeClr val="bg1"/>
                </a:solidFill>
              </a:rPr>
              <a:t>자동</a:t>
            </a:r>
            <a:r>
              <a:rPr lang="en-US" altLang="ko-KR" sz="1500" b="1" dirty="0" smtClean="0">
                <a:solidFill>
                  <a:schemeClr val="bg1"/>
                </a:solidFill>
              </a:rPr>
              <a:t>)</a:t>
            </a:r>
            <a:endParaRPr lang="ko-KR" altLang="en-US" sz="1500" b="1" dirty="0">
              <a:solidFill>
                <a:schemeClr val="bg1"/>
              </a:solidFill>
            </a:endParaRPr>
          </a:p>
        </p:txBody>
      </p:sp>
      <p:sp>
        <p:nvSpPr>
          <p:cNvPr id="54" name="직사각형 53"/>
          <p:cNvSpPr/>
          <p:nvPr/>
        </p:nvSpPr>
        <p:spPr>
          <a:xfrm>
            <a:off x="3659298" y="6111882"/>
            <a:ext cx="1108749" cy="358632"/>
          </a:xfrm>
          <a:prstGeom prst="rect">
            <a:avLst/>
          </a:prstGeom>
          <a:solidFill>
            <a:srgbClr val="FF6600"/>
          </a:solidFill>
          <a:ln w="952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500" b="1" dirty="0" smtClean="0">
                <a:solidFill>
                  <a:schemeClr val="bg1"/>
                </a:solidFill>
              </a:rPr>
              <a:t>빌드 </a:t>
            </a:r>
            <a:r>
              <a:rPr lang="en-US" altLang="ko-KR" sz="1500" b="1" dirty="0" smtClean="0">
                <a:solidFill>
                  <a:schemeClr val="bg1"/>
                </a:solidFill>
              </a:rPr>
              <a:t>(</a:t>
            </a:r>
            <a:r>
              <a:rPr lang="ko-KR" altLang="en-US" sz="1500" b="1" dirty="0" smtClean="0">
                <a:solidFill>
                  <a:schemeClr val="bg1"/>
                </a:solidFill>
              </a:rPr>
              <a:t>자동</a:t>
            </a:r>
            <a:r>
              <a:rPr lang="en-US" altLang="ko-KR" sz="1500" b="1" dirty="0" smtClean="0">
                <a:solidFill>
                  <a:schemeClr val="bg1"/>
                </a:solidFill>
              </a:rPr>
              <a:t>)</a:t>
            </a:r>
            <a:endParaRPr lang="ko-KR" altLang="en-US" sz="1500" b="1" dirty="0">
              <a:solidFill>
                <a:schemeClr val="bg1"/>
              </a:solidFill>
            </a:endParaRPr>
          </a:p>
        </p:txBody>
      </p:sp>
      <p:sp>
        <p:nvSpPr>
          <p:cNvPr id="55" name="오른쪽 화살표 54"/>
          <p:cNvSpPr/>
          <p:nvPr/>
        </p:nvSpPr>
        <p:spPr>
          <a:xfrm>
            <a:off x="4872855" y="6195602"/>
            <a:ext cx="224442" cy="191193"/>
          </a:xfrm>
          <a:prstGeom prst="rightArrow">
            <a:avLst/>
          </a:prstGeom>
          <a:solidFill>
            <a:srgbClr val="FF660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500" b="1">
              <a:solidFill>
                <a:schemeClr val="bg1"/>
              </a:solidFill>
            </a:endParaRPr>
          </a:p>
        </p:txBody>
      </p:sp>
      <p:sp>
        <p:nvSpPr>
          <p:cNvPr id="56" name="TextBox 55"/>
          <p:cNvSpPr txBox="1"/>
          <p:nvPr/>
        </p:nvSpPr>
        <p:spPr>
          <a:xfrm>
            <a:off x="2193784" y="6518103"/>
            <a:ext cx="921328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200" smtClean="0"/>
              <a:t>버전 관리</a:t>
            </a:r>
            <a:endParaRPr lang="ko-KR" altLang="en-US" sz="1200" dirty="0"/>
          </a:p>
        </p:txBody>
      </p:sp>
      <p:sp>
        <p:nvSpPr>
          <p:cNvPr id="57" name="TextBox 56"/>
          <p:cNvSpPr txBox="1"/>
          <p:nvPr/>
        </p:nvSpPr>
        <p:spPr>
          <a:xfrm>
            <a:off x="4035194" y="6518103"/>
            <a:ext cx="348253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200" b="1" dirty="0" smtClean="0"/>
              <a:t>CI</a:t>
            </a:r>
            <a:endParaRPr lang="ko-KR" altLang="en-US" sz="1200" b="1" dirty="0"/>
          </a:p>
        </p:txBody>
      </p:sp>
      <p:sp>
        <p:nvSpPr>
          <p:cNvPr id="58" name="TextBox 57"/>
          <p:cNvSpPr txBox="1"/>
          <p:nvPr/>
        </p:nvSpPr>
        <p:spPr>
          <a:xfrm>
            <a:off x="5725461" y="6518103"/>
            <a:ext cx="348253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200" b="1" dirty="0" smtClean="0"/>
              <a:t>CI</a:t>
            </a:r>
            <a:endParaRPr lang="ko-KR" altLang="en-US" sz="1200" b="1" dirty="0"/>
          </a:p>
        </p:txBody>
      </p:sp>
      <p:sp>
        <p:nvSpPr>
          <p:cNvPr id="59" name="TextBox 58"/>
          <p:cNvSpPr txBox="1"/>
          <p:nvPr/>
        </p:nvSpPr>
        <p:spPr>
          <a:xfrm>
            <a:off x="7169023" y="6511329"/>
            <a:ext cx="493409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200" b="1" dirty="0" smtClean="0"/>
              <a:t>CD</a:t>
            </a:r>
            <a:endParaRPr lang="ko-KR" altLang="en-US" sz="1200" b="1" dirty="0"/>
          </a:p>
        </p:txBody>
      </p:sp>
      <p:sp>
        <p:nvSpPr>
          <p:cNvPr id="60" name="직사각형 59"/>
          <p:cNvSpPr/>
          <p:nvPr/>
        </p:nvSpPr>
        <p:spPr>
          <a:xfrm>
            <a:off x="3597049" y="5963921"/>
            <a:ext cx="4782395" cy="824407"/>
          </a:xfrm>
          <a:prstGeom prst="rect">
            <a:avLst/>
          </a:prstGeom>
          <a:noFill/>
          <a:ln>
            <a:solidFill>
              <a:srgbClr val="FF33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pic>
        <p:nvPicPr>
          <p:cNvPr id="61" name="그림 60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025182" y="4864730"/>
            <a:ext cx="501292" cy="443279"/>
          </a:xfrm>
          <a:prstGeom prst="rect">
            <a:avLst/>
          </a:prstGeom>
        </p:spPr>
      </p:pic>
      <p:sp>
        <p:nvSpPr>
          <p:cNvPr id="62" name="모서리가 둥근 사각형 설명선 61"/>
          <p:cNvSpPr/>
          <p:nvPr/>
        </p:nvSpPr>
        <p:spPr>
          <a:xfrm>
            <a:off x="4997712" y="4829276"/>
            <a:ext cx="1611712" cy="850576"/>
          </a:xfrm>
          <a:prstGeom prst="wedgeRoundRectCallout">
            <a:avLst>
              <a:gd name="adj1" fmla="val 14797"/>
              <a:gd name="adj2" fmla="val 97730"/>
              <a:gd name="adj3" fmla="val 16667"/>
            </a:avLst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>
              <a:solidFill>
                <a:schemeClr val="tx1"/>
              </a:solidFill>
            </a:endParaRPr>
          </a:p>
        </p:txBody>
      </p:sp>
      <p:sp>
        <p:nvSpPr>
          <p:cNvPr id="63" name="TextBox 62"/>
          <p:cNvSpPr txBox="1"/>
          <p:nvPr/>
        </p:nvSpPr>
        <p:spPr>
          <a:xfrm>
            <a:off x="5074339" y="4984844"/>
            <a:ext cx="1535085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200" b="1" dirty="0" err="1" smtClean="0"/>
              <a:t>도커</a:t>
            </a:r>
            <a:r>
              <a:rPr lang="ko-KR" altLang="en-US" sz="1200" b="1" dirty="0" smtClean="0"/>
              <a:t> 이미지</a:t>
            </a:r>
            <a:endParaRPr lang="en-US" altLang="ko-KR" sz="1200" b="1" dirty="0" smtClean="0"/>
          </a:p>
          <a:p>
            <a:endParaRPr lang="en-US" altLang="ko-KR" sz="1200" dirty="0"/>
          </a:p>
          <a:p>
            <a:r>
              <a:rPr lang="en-US" altLang="ko-KR" sz="1200" dirty="0" smtClean="0"/>
              <a:t>(</a:t>
            </a:r>
            <a:r>
              <a:rPr lang="ko-KR" altLang="en-US" sz="1200" dirty="0" smtClean="0"/>
              <a:t>실행 바이너리</a:t>
            </a:r>
            <a:r>
              <a:rPr lang="en-US" altLang="ko-KR" sz="1200" dirty="0" smtClean="0"/>
              <a:t>, jar)</a:t>
            </a:r>
            <a:endParaRPr lang="ko-KR" altLang="en-US" sz="1200" dirty="0"/>
          </a:p>
        </p:txBody>
      </p:sp>
      <p:pic>
        <p:nvPicPr>
          <p:cNvPr id="64" name="그림 63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775558" y="4864730"/>
            <a:ext cx="501292" cy="443279"/>
          </a:xfrm>
          <a:prstGeom prst="rect">
            <a:avLst/>
          </a:prstGeom>
        </p:spPr>
      </p:pic>
      <p:sp>
        <p:nvSpPr>
          <p:cNvPr id="65" name="모서리가 둥근 사각형 설명선 64"/>
          <p:cNvSpPr/>
          <p:nvPr/>
        </p:nvSpPr>
        <p:spPr>
          <a:xfrm>
            <a:off x="6748088" y="4829276"/>
            <a:ext cx="1611712" cy="850576"/>
          </a:xfrm>
          <a:prstGeom prst="wedgeRoundRectCallout">
            <a:avLst>
              <a:gd name="adj1" fmla="val 14797"/>
              <a:gd name="adj2" fmla="val 97730"/>
              <a:gd name="adj3" fmla="val 16667"/>
            </a:avLst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>
              <a:solidFill>
                <a:schemeClr val="tx1"/>
              </a:solidFill>
            </a:endParaRPr>
          </a:p>
        </p:txBody>
      </p:sp>
      <p:sp>
        <p:nvSpPr>
          <p:cNvPr id="66" name="TextBox 65"/>
          <p:cNvSpPr txBox="1"/>
          <p:nvPr/>
        </p:nvSpPr>
        <p:spPr>
          <a:xfrm>
            <a:off x="6824715" y="4984844"/>
            <a:ext cx="1535085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200" b="1" dirty="0" err="1" smtClean="0"/>
              <a:t>도커</a:t>
            </a:r>
            <a:r>
              <a:rPr lang="ko-KR" altLang="en-US" sz="1200" b="1" dirty="0" smtClean="0"/>
              <a:t> 이미지</a:t>
            </a:r>
            <a:endParaRPr lang="en-US" altLang="ko-KR" sz="1200" b="1" dirty="0" smtClean="0"/>
          </a:p>
          <a:p>
            <a:endParaRPr lang="en-US" altLang="ko-KR" sz="1200" dirty="0"/>
          </a:p>
          <a:p>
            <a:r>
              <a:rPr lang="en-US" altLang="ko-KR" sz="1200" dirty="0" smtClean="0"/>
              <a:t>(</a:t>
            </a:r>
            <a:r>
              <a:rPr lang="ko-KR" altLang="en-US" sz="1200" dirty="0" smtClean="0"/>
              <a:t>실행 바이너리</a:t>
            </a:r>
            <a:r>
              <a:rPr lang="en-US" altLang="ko-KR" sz="1200" dirty="0" smtClean="0"/>
              <a:t>, jar)</a:t>
            </a:r>
            <a:endParaRPr lang="ko-KR" altLang="en-US" sz="1200" dirty="0"/>
          </a:p>
        </p:txBody>
      </p:sp>
      <p:pic>
        <p:nvPicPr>
          <p:cNvPr id="67" name="그림 66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540106" y="4864730"/>
            <a:ext cx="468518" cy="443279"/>
          </a:xfrm>
          <a:prstGeom prst="rect">
            <a:avLst/>
          </a:prstGeom>
        </p:spPr>
      </p:pic>
      <p:sp>
        <p:nvSpPr>
          <p:cNvPr id="68" name="모서리가 둥근 사각형 설명선 67"/>
          <p:cNvSpPr/>
          <p:nvPr/>
        </p:nvSpPr>
        <p:spPr>
          <a:xfrm>
            <a:off x="8504330" y="4833907"/>
            <a:ext cx="1611712" cy="850576"/>
          </a:xfrm>
          <a:prstGeom prst="wedgeRoundRectCallout">
            <a:avLst>
              <a:gd name="adj1" fmla="val 748"/>
              <a:gd name="adj2" fmla="val 94659"/>
              <a:gd name="adj3" fmla="val 16667"/>
            </a:avLst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>
              <a:solidFill>
                <a:schemeClr val="tx1"/>
              </a:solidFill>
            </a:endParaRPr>
          </a:p>
        </p:txBody>
      </p:sp>
      <p:sp>
        <p:nvSpPr>
          <p:cNvPr id="69" name="TextBox 68"/>
          <p:cNvSpPr txBox="1"/>
          <p:nvPr/>
        </p:nvSpPr>
        <p:spPr>
          <a:xfrm>
            <a:off x="8580957" y="4989475"/>
            <a:ext cx="1535085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200" b="1" dirty="0" err="1" smtClean="0"/>
              <a:t>도커</a:t>
            </a:r>
            <a:r>
              <a:rPr lang="ko-KR" altLang="en-US" sz="1200" b="1" dirty="0" smtClean="0"/>
              <a:t> 이미지</a:t>
            </a:r>
            <a:endParaRPr lang="en-US" altLang="ko-KR" sz="1200" b="1" dirty="0" smtClean="0"/>
          </a:p>
          <a:p>
            <a:endParaRPr lang="en-US" altLang="ko-KR" sz="1200" dirty="0"/>
          </a:p>
          <a:p>
            <a:r>
              <a:rPr lang="en-US" altLang="ko-KR" sz="1200" dirty="0" smtClean="0"/>
              <a:t>(</a:t>
            </a:r>
            <a:r>
              <a:rPr lang="ko-KR" altLang="en-US" sz="1200" dirty="0" smtClean="0"/>
              <a:t>실행 바이너리</a:t>
            </a:r>
            <a:r>
              <a:rPr lang="en-US" altLang="ko-KR" sz="1200" dirty="0" smtClean="0"/>
              <a:t>, jar)</a:t>
            </a:r>
            <a:endParaRPr lang="ko-KR" altLang="en-US" sz="1200" dirty="0"/>
          </a:p>
        </p:txBody>
      </p:sp>
      <p:cxnSp>
        <p:nvCxnSpPr>
          <p:cNvPr id="70" name="직선 연결선 69"/>
          <p:cNvCxnSpPr/>
          <p:nvPr/>
        </p:nvCxnSpPr>
        <p:spPr>
          <a:xfrm flipH="1">
            <a:off x="0" y="4319930"/>
            <a:ext cx="12192000" cy="38127"/>
          </a:xfrm>
          <a:prstGeom prst="line">
            <a:avLst/>
          </a:prstGeom>
          <a:ln w="1905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75" name="그림 74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631527" y="1785436"/>
            <a:ext cx="461379" cy="501366"/>
          </a:xfrm>
          <a:prstGeom prst="rect">
            <a:avLst/>
          </a:prstGeom>
        </p:spPr>
      </p:pic>
      <p:sp>
        <p:nvSpPr>
          <p:cNvPr id="76" name="TextBox 75"/>
          <p:cNvSpPr txBox="1"/>
          <p:nvPr/>
        </p:nvSpPr>
        <p:spPr>
          <a:xfrm>
            <a:off x="10514243" y="2286802"/>
            <a:ext cx="932083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200" b="1" smtClean="0"/>
              <a:t>지사직원</a:t>
            </a:r>
            <a:endParaRPr lang="ko-KR" altLang="en-US" sz="1200" b="1" dirty="0"/>
          </a:p>
        </p:txBody>
      </p:sp>
      <p:sp>
        <p:nvSpPr>
          <p:cNvPr id="77" name="TextBox 76"/>
          <p:cNvSpPr txBox="1"/>
          <p:nvPr/>
        </p:nvSpPr>
        <p:spPr>
          <a:xfrm>
            <a:off x="10514244" y="2574141"/>
            <a:ext cx="1438100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200" b="1" dirty="0" smtClean="0"/>
              <a:t>민원인 자격 조회</a:t>
            </a:r>
            <a:endParaRPr lang="ko-KR" altLang="en-US" sz="1200" b="1" dirty="0"/>
          </a:p>
        </p:txBody>
      </p:sp>
      <p:sp>
        <p:nvSpPr>
          <p:cNvPr id="78" name="TextBox 77"/>
          <p:cNvSpPr txBox="1"/>
          <p:nvPr/>
        </p:nvSpPr>
        <p:spPr>
          <a:xfrm>
            <a:off x="10539960" y="2839626"/>
            <a:ext cx="1591077" cy="80021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200" dirty="0" smtClean="0"/>
              <a:t>1MSA(</a:t>
            </a:r>
            <a:r>
              <a:rPr lang="ko-KR" altLang="en-US" sz="1200" dirty="0" smtClean="0"/>
              <a:t>자격</a:t>
            </a:r>
            <a:r>
              <a:rPr lang="en-US" altLang="ko-KR" sz="1200" dirty="0" smtClean="0"/>
              <a:t>)</a:t>
            </a:r>
            <a:r>
              <a:rPr lang="ko-KR" altLang="en-US" sz="1200" dirty="0" smtClean="0"/>
              <a:t>이</a:t>
            </a:r>
            <a:endParaRPr lang="en-US" altLang="ko-KR" sz="1200" dirty="0" smtClean="0"/>
          </a:p>
          <a:p>
            <a:endParaRPr lang="en-US" altLang="ko-KR" sz="500" dirty="0" smtClean="0"/>
          </a:p>
          <a:p>
            <a:r>
              <a:rPr lang="en-US" altLang="ko-KR" sz="1200" dirty="0" smtClean="0"/>
              <a:t>1</a:t>
            </a:r>
            <a:r>
              <a:rPr lang="ko-KR" altLang="en-US" sz="1200" dirty="0" smtClean="0"/>
              <a:t>컨테이너에 실려서</a:t>
            </a:r>
            <a:endParaRPr lang="en-US" altLang="ko-KR" sz="1200" dirty="0" smtClean="0"/>
          </a:p>
          <a:p>
            <a:endParaRPr lang="en-US" altLang="ko-KR" sz="500" dirty="0"/>
          </a:p>
          <a:p>
            <a:r>
              <a:rPr lang="ko-KR" altLang="en-US" sz="1200" dirty="0" smtClean="0"/>
              <a:t>화면에 출력</a:t>
            </a:r>
            <a:endParaRPr lang="ko-KR" altLang="en-US" sz="1200" dirty="0"/>
          </a:p>
        </p:txBody>
      </p:sp>
      <p:sp>
        <p:nvSpPr>
          <p:cNvPr id="79" name="TextBox 78"/>
          <p:cNvSpPr txBox="1"/>
          <p:nvPr/>
        </p:nvSpPr>
        <p:spPr>
          <a:xfrm>
            <a:off x="2508235" y="340385"/>
            <a:ext cx="310008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b="1" dirty="0" smtClean="0"/>
              <a:t>전체 지휘 </a:t>
            </a:r>
            <a:r>
              <a:rPr lang="en-US" altLang="ko-KR" b="1" dirty="0" smtClean="0"/>
              <a:t>(</a:t>
            </a:r>
            <a:r>
              <a:rPr lang="ko-KR" altLang="en-US" b="1" dirty="0" smtClean="0"/>
              <a:t>오케스트레이션</a:t>
            </a:r>
            <a:r>
              <a:rPr lang="en-US" altLang="ko-KR" b="1" dirty="0" smtClean="0"/>
              <a:t>)</a:t>
            </a:r>
            <a:endParaRPr lang="ko-KR" altLang="en-US" b="1" dirty="0"/>
          </a:p>
        </p:txBody>
      </p:sp>
      <p:cxnSp>
        <p:nvCxnSpPr>
          <p:cNvPr id="80" name="직선 화살표 연결선 79"/>
          <p:cNvCxnSpPr/>
          <p:nvPr/>
        </p:nvCxnSpPr>
        <p:spPr>
          <a:xfrm flipH="1" flipV="1">
            <a:off x="1832771" y="3027802"/>
            <a:ext cx="6968935" cy="2024209"/>
          </a:xfrm>
          <a:prstGeom prst="straightConnector1">
            <a:avLst/>
          </a:prstGeom>
          <a:ln w="28575">
            <a:solidFill>
              <a:srgbClr val="00B0F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85" name="그림 84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421623" y="43581"/>
            <a:ext cx="3685557" cy="72278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98784245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직사각형 41"/>
          <p:cNvSpPr/>
          <p:nvPr/>
        </p:nvSpPr>
        <p:spPr>
          <a:xfrm>
            <a:off x="274320" y="224444"/>
            <a:ext cx="3487784" cy="498763"/>
          </a:xfrm>
          <a:prstGeom prst="rect">
            <a:avLst/>
          </a:prstGeom>
          <a:solidFill>
            <a:srgbClr val="00B0F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2300" b="1" dirty="0" smtClean="0"/>
              <a:t>기존 </a:t>
            </a:r>
            <a:r>
              <a:rPr lang="ko-KR" altLang="en-US" sz="2300" b="1" dirty="0" err="1" smtClean="0"/>
              <a:t>클라우드와</a:t>
            </a:r>
            <a:r>
              <a:rPr lang="ko-KR" altLang="en-US" sz="2300" b="1" dirty="0" smtClean="0"/>
              <a:t> 차이점</a:t>
            </a:r>
            <a:endParaRPr lang="en-US" altLang="ko-KR" sz="2300" b="1" dirty="0" smtClean="0"/>
          </a:p>
        </p:txBody>
      </p:sp>
      <p:sp>
        <p:nvSpPr>
          <p:cNvPr id="4" name="TextBox 3"/>
          <p:cNvSpPr txBox="1"/>
          <p:nvPr/>
        </p:nvSpPr>
        <p:spPr>
          <a:xfrm>
            <a:off x="410178" y="1221588"/>
            <a:ext cx="4457913" cy="44627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2300" dirty="0" smtClean="0"/>
              <a:t>VM 3,000 </a:t>
            </a:r>
            <a:r>
              <a:rPr lang="ko-KR" altLang="en-US" sz="2300" dirty="0" smtClean="0"/>
              <a:t>개가 </a:t>
            </a:r>
            <a:r>
              <a:rPr lang="en-US" altLang="ko-KR" sz="2300" dirty="0" smtClean="0"/>
              <a:t>OS 3,000</a:t>
            </a:r>
            <a:r>
              <a:rPr lang="ko-KR" altLang="en-US" sz="2300" dirty="0" smtClean="0"/>
              <a:t>개</a:t>
            </a:r>
            <a:r>
              <a:rPr lang="en-US" altLang="ko-KR" sz="2300" dirty="0" smtClean="0"/>
              <a:t> </a:t>
            </a:r>
            <a:r>
              <a:rPr lang="ko-KR" altLang="en-US" sz="2300" dirty="0" smtClean="0"/>
              <a:t>실행</a:t>
            </a:r>
            <a:endParaRPr lang="ko-KR" altLang="en-US" sz="2300" dirty="0"/>
          </a:p>
        </p:txBody>
      </p:sp>
      <p:sp>
        <p:nvSpPr>
          <p:cNvPr id="10" name="TextBox 9"/>
          <p:cNvSpPr txBox="1"/>
          <p:nvPr/>
        </p:nvSpPr>
        <p:spPr>
          <a:xfrm>
            <a:off x="2101130" y="1725051"/>
            <a:ext cx="276696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dirty="0" smtClean="0"/>
              <a:t>(</a:t>
            </a:r>
            <a:r>
              <a:rPr lang="ko-KR" altLang="en-US" dirty="0" smtClean="0"/>
              <a:t>심각한 램</a:t>
            </a:r>
            <a:r>
              <a:rPr lang="en-US" altLang="ko-KR" dirty="0" smtClean="0"/>
              <a:t>, </a:t>
            </a:r>
            <a:r>
              <a:rPr lang="ko-KR" altLang="en-US" dirty="0" smtClean="0"/>
              <a:t>디스크 낭비</a:t>
            </a:r>
            <a:r>
              <a:rPr lang="en-US" altLang="ko-KR" dirty="0" smtClean="0"/>
              <a:t>)</a:t>
            </a:r>
            <a:endParaRPr lang="ko-KR" altLang="en-US" dirty="0"/>
          </a:p>
        </p:txBody>
      </p:sp>
      <p:sp>
        <p:nvSpPr>
          <p:cNvPr id="11" name="TextBox 10"/>
          <p:cNvSpPr txBox="1"/>
          <p:nvPr/>
        </p:nvSpPr>
        <p:spPr>
          <a:xfrm>
            <a:off x="5726761" y="1219988"/>
            <a:ext cx="5481170" cy="44627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2300" dirty="0" smtClean="0"/>
              <a:t>컨테이너</a:t>
            </a:r>
            <a:r>
              <a:rPr lang="en-US" altLang="ko-KR" sz="2300" dirty="0" smtClean="0"/>
              <a:t> 3,000 </a:t>
            </a:r>
            <a:r>
              <a:rPr lang="ko-KR" altLang="en-US" sz="2300" dirty="0" smtClean="0"/>
              <a:t>개가 </a:t>
            </a:r>
            <a:r>
              <a:rPr lang="en-US" altLang="ko-KR" sz="2300" dirty="0" smtClean="0"/>
              <a:t>OS </a:t>
            </a:r>
            <a:r>
              <a:rPr lang="ko-KR" altLang="en-US" sz="2300" dirty="0" err="1" smtClean="0"/>
              <a:t>미실행</a:t>
            </a:r>
            <a:endParaRPr lang="ko-KR" altLang="en-US" sz="2300" dirty="0"/>
          </a:p>
        </p:txBody>
      </p:sp>
      <p:sp>
        <p:nvSpPr>
          <p:cNvPr id="12" name="TextBox 11"/>
          <p:cNvSpPr txBox="1"/>
          <p:nvPr/>
        </p:nvSpPr>
        <p:spPr>
          <a:xfrm>
            <a:off x="7123612" y="1725051"/>
            <a:ext cx="296091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dirty="0" smtClean="0"/>
              <a:t>(</a:t>
            </a:r>
            <a:r>
              <a:rPr lang="ko-KR" altLang="en-US" dirty="0" smtClean="0"/>
              <a:t>램</a:t>
            </a:r>
            <a:r>
              <a:rPr lang="en-US" altLang="ko-KR" dirty="0" smtClean="0"/>
              <a:t>, </a:t>
            </a:r>
            <a:r>
              <a:rPr lang="ko-KR" altLang="en-US" dirty="0" smtClean="0"/>
              <a:t>디스크 낭비 없음</a:t>
            </a:r>
            <a:r>
              <a:rPr lang="en-US" altLang="ko-KR" dirty="0" smtClean="0"/>
              <a:t>)</a:t>
            </a:r>
            <a:endParaRPr lang="ko-KR" altLang="en-US" dirty="0"/>
          </a:p>
        </p:txBody>
      </p:sp>
      <p:sp>
        <p:nvSpPr>
          <p:cNvPr id="13" name="직사각형 12"/>
          <p:cNvSpPr/>
          <p:nvPr/>
        </p:nvSpPr>
        <p:spPr>
          <a:xfrm>
            <a:off x="772112" y="2649823"/>
            <a:ext cx="1712422" cy="620013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b="1" dirty="0" smtClean="0">
                <a:solidFill>
                  <a:schemeClr val="tx1"/>
                </a:solidFill>
              </a:rPr>
              <a:t>자원 더 필요</a:t>
            </a:r>
            <a:r>
              <a:rPr lang="en-US" altLang="ko-KR" b="1" dirty="0" smtClean="0">
                <a:solidFill>
                  <a:schemeClr val="tx1"/>
                </a:solidFill>
              </a:rPr>
              <a:t>?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537375" y="2710531"/>
            <a:ext cx="146777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b="1" smtClean="0"/>
              <a:t>이용 불가</a:t>
            </a:r>
            <a:endParaRPr lang="ko-KR" altLang="en-US" b="1" dirty="0"/>
          </a:p>
        </p:txBody>
      </p:sp>
      <p:sp>
        <p:nvSpPr>
          <p:cNvPr id="19" name="TextBox 18"/>
          <p:cNvSpPr txBox="1"/>
          <p:nvPr/>
        </p:nvSpPr>
        <p:spPr>
          <a:xfrm>
            <a:off x="7612537" y="2569564"/>
            <a:ext cx="1766594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200" dirty="0" smtClean="0"/>
              <a:t>CPU, </a:t>
            </a:r>
            <a:r>
              <a:rPr lang="ko-KR" altLang="en-US" sz="1200" dirty="0" smtClean="0"/>
              <a:t>램이 부족하면</a:t>
            </a:r>
            <a:r>
              <a:rPr lang="en-US" altLang="ko-KR" sz="1200" dirty="0" smtClean="0"/>
              <a:t>?</a:t>
            </a:r>
            <a:endParaRPr lang="ko-KR" altLang="en-US" sz="1200" dirty="0"/>
          </a:p>
        </p:txBody>
      </p:sp>
      <p:sp>
        <p:nvSpPr>
          <p:cNvPr id="20" name="TextBox 19"/>
          <p:cNvSpPr txBox="1"/>
          <p:nvPr/>
        </p:nvSpPr>
        <p:spPr>
          <a:xfrm>
            <a:off x="7612537" y="2853764"/>
            <a:ext cx="248550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dirty="0" smtClean="0"/>
              <a:t>컨테이너 자동 추가</a:t>
            </a:r>
            <a:endParaRPr lang="en-US" altLang="ko-KR" dirty="0"/>
          </a:p>
        </p:txBody>
      </p:sp>
      <p:sp>
        <p:nvSpPr>
          <p:cNvPr id="21" name="직사각형 20"/>
          <p:cNvSpPr/>
          <p:nvPr/>
        </p:nvSpPr>
        <p:spPr>
          <a:xfrm>
            <a:off x="7806289" y="3215838"/>
            <a:ext cx="671093" cy="36576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500" b="1" dirty="0" smtClean="0"/>
              <a:t>HPA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418903" y="3304599"/>
            <a:ext cx="2014625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200" dirty="0" smtClean="0"/>
              <a:t>Horizontal Pod Autoscaler</a:t>
            </a:r>
            <a:endParaRPr lang="ko-KR" altLang="en-US" sz="1200" dirty="0"/>
          </a:p>
        </p:txBody>
      </p:sp>
      <p:sp>
        <p:nvSpPr>
          <p:cNvPr id="23" name="직사각형 22"/>
          <p:cNvSpPr/>
          <p:nvPr/>
        </p:nvSpPr>
        <p:spPr>
          <a:xfrm>
            <a:off x="5823252" y="2684586"/>
            <a:ext cx="1712422" cy="620013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b="1" dirty="0" smtClean="0">
                <a:solidFill>
                  <a:schemeClr val="tx1"/>
                </a:solidFill>
              </a:rPr>
              <a:t>자원 더 필요</a:t>
            </a:r>
            <a:r>
              <a:rPr lang="en-US" altLang="ko-KR" b="1" dirty="0" smtClean="0">
                <a:solidFill>
                  <a:schemeClr val="tx1"/>
                </a:solidFill>
              </a:rPr>
              <a:t>?</a:t>
            </a:r>
          </a:p>
        </p:txBody>
      </p:sp>
      <p:sp>
        <p:nvSpPr>
          <p:cNvPr id="24" name="직사각형 23"/>
          <p:cNvSpPr/>
          <p:nvPr/>
        </p:nvSpPr>
        <p:spPr>
          <a:xfrm>
            <a:off x="786892" y="5575085"/>
            <a:ext cx="1712423" cy="489554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b="1" dirty="0" smtClean="0">
                <a:solidFill>
                  <a:schemeClr val="tx1"/>
                </a:solidFill>
              </a:rPr>
              <a:t>부팅 </a:t>
            </a:r>
            <a:r>
              <a:rPr lang="en-US" altLang="ko-KR" b="1" dirty="0" smtClean="0">
                <a:solidFill>
                  <a:schemeClr val="tx1"/>
                </a:solidFill>
              </a:rPr>
              <a:t>1</a:t>
            </a:r>
            <a:r>
              <a:rPr lang="ko-KR" altLang="en-US" b="1" dirty="0" smtClean="0">
                <a:solidFill>
                  <a:schemeClr val="tx1"/>
                </a:solidFill>
              </a:rPr>
              <a:t>분</a:t>
            </a:r>
            <a:endParaRPr lang="en-US" altLang="ko-KR" b="1" dirty="0" smtClean="0">
              <a:solidFill>
                <a:schemeClr val="tx1"/>
              </a:solidFill>
            </a:endParaRPr>
          </a:p>
        </p:txBody>
      </p:sp>
      <p:sp>
        <p:nvSpPr>
          <p:cNvPr id="25" name="직사각형 24"/>
          <p:cNvSpPr/>
          <p:nvPr/>
        </p:nvSpPr>
        <p:spPr>
          <a:xfrm>
            <a:off x="5823252" y="5575085"/>
            <a:ext cx="1712423" cy="489554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b="1" dirty="0" smtClean="0">
                <a:solidFill>
                  <a:schemeClr val="tx1"/>
                </a:solidFill>
              </a:rPr>
              <a:t>부팅 </a:t>
            </a:r>
            <a:r>
              <a:rPr lang="en-US" altLang="ko-KR" b="1" dirty="0" smtClean="0">
                <a:solidFill>
                  <a:schemeClr val="tx1"/>
                </a:solidFill>
              </a:rPr>
              <a:t>5</a:t>
            </a:r>
            <a:r>
              <a:rPr lang="ko-KR" altLang="en-US" b="1" dirty="0" smtClean="0">
                <a:solidFill>
                  <a:schemeClr val="tx1"/>
                </a:solidFill>
              </a:rPr>
              <a:t>초</a:t>
            </a:r>
            <a:endParaRPr lang="en-US" altLang="ko-KR" b="1" dirty="0" smtClean="0">
              <a:solidFill>
                <a:schemeClr val="tx1"/>
              </a:solidFill>
            </a:endParaRPr>
          </a:p>
        </p:txBody>
      </p:sp>
      <p:sp>
        <p:nvSpPr>
          <p:cNvPr id="26" name="TextBox 25"/>
          <p:cNvSpPr txBox="1"/>
          <p:nvPr/>
        </p:nvSpPr>
        <p:spPr>
          <a:xfrm>
            <a:off x="7535674" y="5685390"/>
            <a:ext cx="2014625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200" dirty="0" smtClean="0"/>
              <a:t>Host OS</a:t>
            </a:r>
            <a:r>
              <a:rPr lang="ko-KR" altLang="en-US" sz="1200" dirty="0" smtClean="0"/>
              <a:t>가 부팅된 상태</a:t>
            </a:r>
            <a:endParaRPr lang="ko-KR" altLang="en-US" sz="1200" dirty="0"/>
          </a:p>
        </p:txBody>
      </p:sp>
      <p:cxnSp>
        <p:nvCxnSpPr>
          <p:cNvPr id="27" name="직선 연결선 26"/>
          <p:cNvCxnSpPr/>
          <p:nvPr/>
        </p:nvCxnSpPr>
        <p:spPr>
          <a:xfrm>
            <a:off x="5251269" y="0"/>
            <a:ext cx="33053" cy="6858000"/>
          </a:xfrm>
          <a:prstGeom prst="line">
            <a:avLst/>
          </a:prstGeom>
          <a:ln w="1905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8" name="직사각형 27"/>
          <p:cNvSpPr/>
          <p:nvPr/>
        </p:nvSpPr>
        <p:spPr>
          <a:xfrm>
            <a:off x="772111" y="6175323"/>
            <a:ext cx="2319432" cy="489554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b="1" dirty="0" smtClean="0">
                <a:solidFill>
                  <a:schemeClr val="tx1"/>
                </a:solidFill>
              </a:rPr>
              <a:t>이미지 </a:t>
            </a:r>
            <a:r>
              <a:rPr lang="en-US" altLang="ko-KR" b="1" dirty="0" smtClean="0">
                <a:solidFill>
                  <a:schemeClr val="tx1"/>
                </a:solidFill>
              </a:rPr>
              <a:t>3,000</a:t>
            </a:r>
            <a:r>
              <a:rPr lang="ko-KR" altLang="en-US" b="1" dirty="0" smtClean="0">
                <a:solidFill>
                  <a:schemeClr val="tx1"/>
                </a:solidFill>
              </a:rPr>
              <a:t>개 설치</a:t>
            </a:r>
            <a:endParaRPr lang="en-US" altLang="ko-KR" b="1" dirty="0" smtClean="0">
              <a:solidFill>
                <a:schemeClr val="tx1"/>
              </a:solidFill>
            </a:endParaRPr>
          </a:p>
        </p:txBody>
      </p:sp>
      <p:sp>
        <p:nvSpPr>
          <p:cNvPr id="29" name="직사각형 28"/>
          <p:cNvSpPr/>
          <p:nvPr/>
        </p:nvSpPr>
        <p:spPr>
          <a:xfrm>
            <a:off x="5822403" y="6119899"/>
            <a:ext cx="2173004" cy="489554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b="1" dirty="0" smtClean="0">
                <a:solidFill>
                  <a:schemeClr val="tx1"/>
                </a:solidFill>
              </a:rPr>
              <a:t>이미지 </a:t>
            </a:r>
            <a:r>
              <a:rPr lang="en-US" altLang="ko-KR" b="1" dirty="0" smtClean="0">
                <a:solidFill>
                  <a:schemeClr val="tx1"/>
                </a:solidFill>
              </a:rPr>
              <a:t>1</a:t>
            </a:r>
            <a:r>
              <a:rPr lang="ko-KR" altLang="en-US" b="1" dirty="0" smtClean="0">
                <a:solidFill>
                  <a:schemeClr val="tx1"/>
                </a:solidFill>
              </a:rPr>
              <a:t>개 설치</a:t>
            </a:r>
            <a:endParaRPr lang="en-US" altLang="ko-KR" b="1" dirty="0" smtClean="0">
              <a:solidFill>
                <a:schemeClr val="tx1"/>
              </a:solidFill>
            </a:endParaRPr>
          </a:p>
        </p:txBody>
      </p:sp>
      <p:pic>
        <p:nvPicPr>
          <p:cNvPr id="2" name="그림 1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21569" y="3699654"/>
            <a:ext cx="2276475" cy="10763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60536508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직사각형 41"/>
          <p:cNvSpPr/>
          <p:nvPr/>
        </p:nvSpPr>
        <p:spPr>
          <a:xfrm>
            <a:off x="3030584" y="2255520"/>
            <a:ext cx="4667794" cy="1088571"/>
          </a:xfrm>
          <a:prstGeom prst="rect">
            <a:avLst/>
          </a:prstGeom>
          <a:solidFill>
            <a:srgbClr val="00B0F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3800" b="1" dirty="0" err="1" smtClean="0"/>
              <a:t>경영정보부</a:t>
            </a:r>
            <a:r>
              <a:rPr lang="ko-KR" altLang="en-US" sz="3800" b="1" dirty="0" smtClean="0"/>
              <a:t> 영향</a:t>
            </a:r>
            <a:endParaRPr lang="en-US" altLang="ko-KR" sz="3800" b="1" dirty="0" smtClean="0"/>
          </a:p>
        </p:txBody>
      </p:sp>
      <p:sp>
        <p:nvSpPr>
          <p:cNvPr id="3" name="TextBox 2"/>
          <p:cNvSpPr txBox="1"/>
          <p:nvPr/>
        </p:nvSpPr>
        <p:spPr>
          <a:xfrm>
            <a:off x="3510430" y="3929957"/>
            <a:ext cx="3613181" cy="44627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2300" dirty="0" smtClean="0"/>
              <a:t>분배</a:t>
            </a:r>
            <a:r>
              <a:rPr lang="en-US" altLang="ko-KR" sz="2300" dirty="0" smtClean="0"/>
              <a:t>: </a:t>
            </a:r>
            <a:r>
              <a:rPr lang="ko-KR" altLang="en-US" sz="2300" dirty="0" err="1" smtClean="0"/>
              <a:t>도커</a:t>
            </a:r>
            <a:r>
              <a:rPr lang="ko-KR" altLang="en-US" sz="2300" dirty="0" smtClean="0"/>
              <a:t> 이미지 단위</a:t>
            </a:r>
            <a:endParaRPr lang="ko-KR" altLang="en-US" sz="2300" dirty="0"/>
          </a:p>
        </p:txBody>
      </p:sp>
      <p:sp>
        <p:nvSpPr>
          <p:cNvPr id="4" name="TextBox 3"/>
          <p:cNvSpPr txBox="1"/>
          <p:nvPr/>
        </p:nvSpPr>
        <p:spPr>
          <a:xfrm>
            <a:off x="3510430" y="4526494"/>
            <a:ext cx="4719170" cy="44627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2300" dirty="0" smtClean="0"/>
              <a:t>메타</a:t>
            </a:r>
            <a:r>
              <a:rPr lang="en-US" altLang="ko-KR" sz="2300" dirty="0" smtClean="0"/>
              <a:t>: 1</a:t>
            </a:r>
            <a:r>
              <a:rPr lang="ko-KR" altLang="en-US" sz="2300" dirty="0" smtClean="0"/>
              <a:t>테이블을 </a:t>
            </a:r>
            <a:r>
              <a:rPr lang="en-US" altLang="ko-KR" sz="2300" dirty="0" smtClean="0"/>
              <a:t>1</a:t>
            </a:r>
            <a:r>
              <a:rPr lang="ko-KR" altLang="en-US" sz="2300" dirty="0" smtClean="0"/>
              <a:t>개 </a:t>
            </a:r>
            <a:r>
              <a:rPr lang="en-US" altLang="ko-KR" sz="2300" dirty="0" smtClean="0"/>
              <a:t>MSA</a:t>
            </a:r>
            <a:r>
              <a:rPr lang="ko-KR" altLang="en-US" sz="2300" dirty="0" smtClean="0"/>
              <a:t>에 배정</a:t>
            </a:r>
            <a:endParaRPr lang="ko-KR" altLang="en-US" sz="2300" dirty="0"/>
          </a:p>
        </p:txBody>
      </p:sp>
      <p:sp>
        <p:nvSpPr>
          <p:cNvPr id="5" name="TextBox 4"/>
          <p:cNvSpPr txBox="1"/>
          <p:nvPr/>
        </p:nvSpPr>
        <p:spPr>
          <a:xfrm>
            <a:off x="3510429" y="5123031"/>
            <a:ext cx="6190919" cy="44627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2300" dirty="0" smtClean="0"/>
              <a:t>연계</a:t>
            </a:r>
            <a:r>
              <a:rPr lang="en-US" altLang="ko-KR" sz="2300" dirty="0" smtClean="0"/>
              <a:t>: </a:t>
            </a:r>
            <a:r>
              <a:rPr lang="ko-KR" altLang="en-US" sz="2300" dirty="0" err="1" smtClean="0"/>
              <a:t>클라우드</a:t>
            </a:r>
            <a:r>
              <a:rPr lang="ko-KR" altLang="en-US" sz="2300" dirty="0" smtClean="0"/>
              <a:t> 사용 기관</a:t>
            </a:r>
            <a:r>
              <a:rPr lang="en-US" altLang="ko-KR" sz="2300" dirty="0" smtClean="0"/>
              <a:t>, </a:t>
            </a:r>
            <a:r>
              <a:rPr lang="ko-KR" altLang="en-US" sz="2300" dirty="0" smtClean="0"/>
              <a:t>미사용 기관 구분</a:t>
            </a:r>
            <a:endParaRPr lang="ko-KR" altLang="en-US" sz="2300" dirty="0"/>
          </a:p>
        </p:txBody>
      </p:sp>
    </p:spTree>
    <p:extLst>
      <p:ext uri="{BB962C8B-B14F-4D97-AF65-F5344CB8AC3E}">
        <p14:creationId xmlns:p14="http://schemas.microsoft.com/office/powerpoint/2010/main" val="4146800247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그림 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93429" y="4236108"/>
            <a:ext cx="4076006" cy="2458360"/>
          </a:xfrm>
          <a:prstGeom prst="rect">
            <a:avLst/>
          </a:prstGeom>
        </p:spPr>
      </p:pic>
      <p:sp>
        <p:nvSpPr>
          <p:cNvPr id="42" name="직사각형 41"/>
          <p:cNvSpPr/>
          <p:nvPr/>
        </p:nvSpPr>
        <p:spPr>
          <a:xfrm>
            <a:off x="274319" y="224444"/>
            <a:ext cx="3749041" cy="498763"/>
          </a:xfrm>
          <a:prstGeom prst="rect">
            <a:avLst/>
          </a:prstGeom>
          <a:solidFill>
            <a:srgbClr val="00B0F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2300" b="1" dirty="0" err="1" smtClean="0"/>
              <a:t>클라우드</a:t>
            </a:r>
            <a:r>
              <a:rPr lang="ko-KR" altLang="en-US" sz="2300" b="1" dirty="0" smtClean="0"/>
              <a:t> </a:t>
            </a:r>
            <a:r>
              <a:rPr lang="ko-KR" altLang="en-US" sz="2300" b="1" dirty="0" err="1" smtClean="0"/>
              <a:t>네이티브의</a:t>
            </a:r>
            <a:r>
              <a:rPr lang="ko-KR" altLang="en-US" sz="2300" b="1" dirty="0" smtClean="0"/>
              <a:t> 용도</a:t>
            </a:r>
            <a:endParaRPr lang="en-US" altLang="ko-KR" sz="2300" b="1" dirty="0" smtClean="0"/>
          </a:p>
        </p:txBody>
      </p:sp>
      <p:sp>
        <p:nvSpPr>
          <p:cNvPr id="3" name="직사각형 2"/>
          <p:cNvSpPr/>
          <p:nvPr/>
        </p:nvSpPr>
        <p:spPr>
          <a:xfrm>
            <a:off x="7460777" y="379845"/>
            <a:ext cx="1108749" cy="358632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 w="952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500" smtClean="0">
                <a:solidFill>
                  <a:schemeClr val="tx1"/>
                </a:solidFill>
              </a:rPr>
              <a:t>컨테이너</a:t>
            </a:r>
            <a:endParaRPr lang="ko-KR" altLang="en-US" sz="1500">
              <a:solidFill>
                <a:schemeClr val="tx1"/>
              </a:solidFill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8536081" y="400041"/>
            <a:ext cx="1265613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000" dirty="0" smtClean="0"/>
              <a:t>CPU: 0.1</a:t>
            </a:r>
            <a:r>
              <a:rPr lang="ko-KR" altLang="en-US" sz="1000" dirty="0" smtClean="0"/>
              <a:t>코어</a:t>
            </a:r>
            <a:endParaRPr lang="en-US" altLang="ko-KR" sz="1000" dirty="0" smtClean="0"/>
          </a:p>
          <a:p>
            <a:endParaRPr lang="en-US" altLang="ko-KR" sz="300" dirty="0"/>
          </a:p>
          <a:p>
            <a:r>
              <a:rPr lang="ko-KR" altLang="en-US" sz="1000" dirty="0" smtClean="0"/>
              <a:t>램</a:t>
            </a:r>
            <a:r>
              <a:rPr lang="en-US" altLang="ko-KR" sz="1000" dirty="0" smtClean="0"/>
              <a:t>:</a:t>
            </a:r>
            <a:r>
              <a:rPr lang="ko-KR" altLang="en-US" sz="1000" dirty="0" smtClean="0"/>
              <a:t> </a:t>
            </a:r>
            <a:r>
              <a:rPr lang="en-US" altLang="ko-KR" sz="1000" dirty="0" smtClean="0"/>
              <a:t>256 MB</a:t>
            </a:r>
          </a:p>
          <a:p>
            <a:endParaRPr lang="en-US" altLang="ko-KR" sz="300" dirty="0"/>
          </a:p>
          <a:p>
            <a:r>
              <a:rPr lang="ko-KR" altLang="en-US" sz="1000" dirty="0" smtClean="0"/>
              <a:t>디스크</a:t>
            </a:r>
            <a:r>
              <a:rPr lang="en-US" altLang="ko-KR" sz="1000" dirty="0" smtClean="0"/>
              <a:t>: 256 MB</a:t>
            </a:r>
            <a:endParaRPr lang="ko-KR" altLang="en-US" sz="1000" dirty="0"/>
          </a:p>
        </p:txBody>
      </p:sp>
      <p:sp>
        <p:nvSpPr>
          <p:cNvPr id="7" name="직사각형 6"/>
          <p:cNvSpPr/>
          <p:nvPr/>
        </p:nvSpPr>
        <p:spPr>
          <a:xfrm>
            <a:off x="7486704" y="1802671"/>
            <a:ext cx="1108749" cy="358632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 w="952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500" smtClean="0">
                <a:solidFill>
                  <a:schemeClr val="tx1"/>
                </a:solidFill>
              </a:rPr>
              <a:t>컨테이너</a:t>
            </a:r>
            <a:endParaRPr lang="ko-KR" altLang="en-US" sz="1500">
              <a:solidFill>
                <a:schemeClr val="tx1"/>
              </a:solidFill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8651568" y="1843487"/>
            <a:ext cx="2042558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200" dirty="0" err="1" smtClean="0"/>
              <a:t>자격조회</a:t>
            </a:r>
            <a:r>
              <a:rPr lang="ko-KR" altLang="en-US" sz="1200" dirty="0" smtClean="0"/>
              <a:t> </a:t>
            </a:r>
            <a:r>
              <a:rPr lang="en-US" altLang="ko-KR" sz="1200" b="1" dirty="0" smtClean="0"/>
              <a:t>MSA</a:t>
            </a:r>
            <a:r>
              <a:rPr lang="en-US" altLang="ko-KR" sz="1200" dirty="0" smtClean="0"/>
              <a:t> 1</a:t>
            </a:r>
            <a:r>
              <a:rPr lang="ko-KR" altLang="en-US" sz="1200" dirty="0" smtClean="0"/>
              <a:t>개 수행</a:t>
            </a:r>
            <a:endParaRPr lang="ko-KR" altLang="en-US" sz="1200" dirty="0"/>
          </a:p>
        </p:txBody>
      </p:sp>
      <p:sp>
        <p:nvSpPr>
          <p:cNvPr id="9" name="직사각형 8"/>
          <p:cNvSpPr/>
          <p:nvPr/>
        </p:nvSpPr>
        <p:spPr>
          <a:xfrm>
            <a:off x="7486704" y="2235995"/>
            <a:ext cx="1108749" cy="358632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 w="952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500" smtClean="0">
                <a:solidFill>
                  <a:schemeClr val="tx1"/>
                </a:solidFill>
              </a:rPr>
              <a:t>컨테이너</a:t>
            </a:r>
            <a:endParaRPr lang="ko-KR" altLang="en-US" sz="1500">
              <a:solidFill>
                <a:schemeClr val="tx1"/>
              </a:solidFill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8651568" y="2276811"/>
            <a:ext cx="2434442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200" dirty="0" err="1" smtClean="0"/>
              <a:t>자격변경</a:t>
            </a:r>
            <a:r>
              <a:rPr lang="ko-KR" altLang="en-US" sz="1200" dirty="0" smtClean="0"/>
              <a:t> </a:t>
            </a:r>
            <a:r>
              <a:rPr lang="en-US" altLang="ko-KR" sz="1200" b="1" dirty="0" smtClean="0"/>
              <a:t>MSA</a:t>
            </a:r>
            <a:r>
              <a:rPr lang="en-US" altLang="ko-KR" sz="1200" dirty="0" smtClean="0"/>
              <a:t> 1</a:t>
            </a:r>
            <a:r>
              <a:rPr lang="ko-KR" altLang="en-US" sz="1200" dirty="0" smtClean="0"/>
              <a:t>개 수행</a:t>
            </a:r>
            <a:endParaRPr lang="ko-KR" altLang="en-US" sz="1200" dirty="0"/>
          </a:p>
        </p:txBody>
      </p:sp>
      <p:sp>
        <p:nvSpPr>
          <p:cNvPr id="11" name="직사각형 10"/>
          <p:cNvSpPr/>
          <p:nvPr/>
        </p:nvSpPr>
        <p:spPr>
          <a:xfrm>
            <a:off x="7486704" y="2692717"/>
            <a:ext cx="1108749" cy="358632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 w="952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500" smtClean="0">
                <a:solidFill>
                  <a:schemeClr val="tx1"/>
                </a:solidFill>
              </a:rPr>
              <a:t>컨테이너</a:t>
            </a:r>
            <a:endParaRPr lang="ko-KR" altLang="en-US" sz="1500">
              <a:solidFill>
                <a:schemeClr val="tx1"/>
              </a:solidFill>
            </a:endParaRPr>
          </a:p>
        </p:txBody>
      </p:sp>
      <p:sp>
        <p:nvSpPr>
          <p:cNvPr id="12" name="TextBox 11"/>
          <p:cNvSpPr txBox="1"/>
          <p:nvPr/>
        </p:nvSpPr>
        <p:spPr>
          <a:xfrm>
            <a:off x="8651568" y="2733533"/>
            <a:ext cx="2686992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200" dirty="0" smtClean="0"/>
              <a:t>부과내역조회 </a:t>
            </a:r>
            <a:r>
              <a:rPr lang="en-US" altLang="ko-KR" sz="1200" b="1" dirty="0" smtClean="0"/>
              <a:t>MSA</a:t>
            </a:r>
            <a:r>
              <a:rPr lang="en-US" altLang="ko-KR" sz="1200" dirty="0" smtClean="0"/>
              <a:t> 1</a:t>
            </a:r>
            <a:r>
              <a:rPr lang="ko-KR" altLang="en-US" sz="1200" dirty="0" smtClean="0"/>
              <a:t>개 수행</a:t>
            </a:r>
            <a:endParaRPr lang="ko-KR" altLang="en-US" sz="1200" dirty="0"/>
          </a:p>
        </p:txBody>
      </p:sp>
      <p:sp>
        <p:nvSpPr>
          <p:cNvPr id="13" name="TextBox 12"/>
          <p:cNvSpPr txBox="1"/>
          <p:nvPr/>
        </p:nvSpPr>
        <p:spPr>
          <a:xfrm>
            <a:off x="274319" y="1019350"/>
            <a:ext cx="6762207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2800" b="1" u="sng" dirty="0" smtClean="0"/>
              <a:t>컨테이너</a:t>
            </a:r>
            <a:r>
              <a:rPr lang="ko-KR" altLang="en-US" sz="2100" dirty="0" smtClean="0"/>
              <a:t>를 사람이 아닌 </a:t>
            </a:r>
            <a:r>
              <a:rPr lang="ko-KR" altLang="en-US" sz="2800" b="1" u="sng" dirty="0" smtClean="0"/>
              <a:t>애플리케이션</a:t>
            </a:r>
            <a:r>
              <a:rPr lang="ko-KR" altLang="en-US" sz="2100" dirty="0" smtClean="0"/>
              <a:t>에 할당</a:t>
            </a:r>
            <a:endParaRPr lang="ko-KR" altLang="en-US" sz="2100" dirty="0"/>
          </a:p>
        </p:txBody>
      </p:sp>
      <p:sp>
        <p:nvSpPr>
          <p:cNvPr id="2" name="모서리가 둥근 사각형 설명선 1"/>
          <p:cNvSpPr/>
          <p:nvPr/>
        </p:nvSpPr>
        <p:spPr>
          <a:xfrm>
            <a:off x="4484914" y="1802671"/>
            <a:ext cx="2290553" cy="2020390"/>
          </a:xfrm>
          <a:prstGeom prst="wedgeRoundRectCallout">
            <a:avLst>
              <a:gd name="adj1" fmla="val -137603"/>
              <a:gd name="adj2" fmla="val 1967"/>
              <a:gd name="adj3" fmla="val 16667"/>
            </a:avLst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>
              <a:solidFill>
                <a:schemeClr val="tx1"/>
              </a:solidFill>
            </a:endParaRPr>
          </a:p>
        </p:txBody>
      </p:sp>
      <p:sp>
        <p:nvSpPr>
          <p:cNvPr id="18" name="TextBox 17"/>
          <p:cNvSpPr txBox="1"/>
          <p:nvPr/>
        </p:nvSpPr>
        <p:spPr>
          <a:xfrm>
            <a:off x="4658887" y="1946010"/>
            <a:ext cx="2116580" cy="169277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200" b="1" dirty="0" err="1" smtClean="0"/>
              <a:t>자격조회</a:t>
            </a:r>
            <a:r>
              <a:rPr lang="ko-KR" altLang="en-US" sz="1200" dirty="0" smtClean="0"/>
              <a:t> </a:t>
            </a:r>
            <a:r>
              <a:rPr lang="ko-KR" altLang="en-US" sz="1000" dirty="0" smtClean="0"/>
              <a:t>애플리케이션</a:t>
            </a:r>
            <a:endParaRPr lang="en-US" altLang="ko-KR" sz="1000" dirty="0" smtClean="0"/>
          </a:p>
          <a:p>
            <a:endParaRPr lang="en-US" altLang="ko-KR" sz="1200" dirty="0"/>
          </a:p>
          <a:p>
            <a:r>
              <a:rPr lang="ko-KR" altLang="en-US" sz="1200" b="1" dirty="0" err="1" smtClean="0"/>
              <a:t>자격변경</a:t>
            </a:r>
            <a:r>
              <a:rPr lang="ko-KR" altLang="en-US" sz="1200" b="1" dirty="0" smtClean="0"/>
              <a:t> </a:t>
            </a:r>
            <a:r>
              <a:rPr lang="ko-KR" altLang="en-US" sz="1000" dirty="0" smtClean="0"/>
              <a:t>애플리케이션</a:t>
            </a:r>
            <a:endParaRPr lang="en-US" altLang="ko-KR" sz="1000" dirty="0" smtClean="0"/>
          </a:p>
          <a:p>
            <a:endParaRPr lang="en-US" altLang="ko-KR" sz="1200" dirty="0"/>
          </a:p>
          <a:p>
            <a:r>
              <a:rPr lang="ko-KR" altLang="en-US" sz="1200" b="1" dirty="0" smtClean="0"/>
              <a:t>부과내역조회</a:t>
            </a:r>
            <a:r>
              <a:rPr lang="ko-KR" altLang="en-US" sz="1200" dirty="0" smtClean="0"/>
              <a:t> </a:t>
            </a:r>
            <a:r>
              <a:rPr lang="ko-KR" altLang="en-US" sz="1000" dirty="0" smtClean="0"/>
              <a:t>애플리케이션</a:t>
            </a:r>
            <a:endParaRPr lang="en-US" altLang="ko-KR" sz="1000" dirty="0" smtClean="0"/>
          </a:p>
          <a:p>
            <a:endParaRPr lang="en-US" altLang="ko-KR" sz="1000" dirty="0" smtClean="0"/>
          </a:p>
          <a:p>
            <a:r>
              <a:rPr lang="ko-KR" altLang="en-US" sz="1200" b="1" dirty="0" smtClean="0"/>
              <a:t>자격 관리 </a:t>
            </a:r>
            <a:r>
              <a:rPr lang="ko-KR" altLang="en-US" sz="1000" dirty="0" smtClean="0"/>
              <a:t>애플리케이션</a:t>
            </a:r>
            <a:endParaRPr lang="en-US" altLang="ko-KR" sz="1000" dirty="0"/>
          </a:p>
          <a:p>
            <a:endParaRPr lang="en-US" altLang="ko-KR" sz="1000" dirty="0"/>
          </a:p>
          <a:p>
            <a:r>
              <a:rPr lang="ko-KR" altLang="en-US" sz="1200" b="1" dirty="0" smtClean="0"/>
              <a:t>로그</a:t>
            </a:r>
            <a:r>
              <a:rPr lang="ko-KR" altLang="en-US" sz="1000" dirty="0" smtClean="0"/>
              <a:t> 애플리케이션</a:t>
            </a:r>
            <a:endParaRPr lang="en-US" altLang="ko-KR" sz="1000" dirty="0"/>
          </a:p>
        </p:txBody>
      </p:sp>
      <p:sp>
        <p:nvSpPr>
          <p:cNvPr id="19" name="직사각형 18"/>
          <p:cNvSpPr/>
          <p:nvPr/>
        </p:nvSpPr>
        <p:spPr>
          <a:xfrm>
            <a:off x="7486704" y="3182059"/>
            <a:ext cx="1108749" cy="358632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 w="952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500" smtClean="0">
                <a:solidFill>
                  <a:schemeClr val="tx1"/>
                </a:solidFill>
              </a:rPr>
              <a:t>컨테이너</a:t>
            </a:r>
            <a:endParaRPr lang="ko-KR" altLang="en-US" sz="1500">
              <a:solidFill>
                <a:schemeClr val="tx1"/>
              </a:solidFill>
            </a:endParaRPr>
          </a:p>
        </p:txBody>
      </p:sp>
      <p:sp>
        <p:nvSpPr>
          <p:cNvPr id="20" name="TextBox 19"/>
          <p:cNvSpPr txBox="1"/>
          <p:nvPr/>
        </p:nvSpPr>
        <p:spPr>
          <a:xfrm>
            <a:off x="8651568" y="3222875"/>
            <a:ext cx="2434442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200" dirty="0" smtClean="0"/>
              <a:t>자격관리 </a:t>
            </a:r>
            <a:r>
              <a:rPr lang="en-US" altLang="ko-KR" sz="1200" b="1" dirty="0" smtClean="0"/>
              <a:t>MSA</a:t>
            </a:r>
            <a:r>
              <a:rPr lang="en-US" altLang="ko-KR" sz="1200" dirty="0" smtClean="0"/>
              <a:t> 1</a:t>
            </a:r>
            <a:r>
              <a:rPr lang="ko-KR" altLang="en-US" sz="1200" dirty="0" smtClean="0"/>
              <a:t>개 수행</a:t>
            </a:r>
            <a:endParaRPr lang="ko-KR" altLang="en-US" sz="1200" dirty="0"/>
          </a:p>
        </p:txBody>
      </p:sp>
      <p:sp>
        <p:nvSpPr>
          <p:cNvPr id="21" name="직사각형 20"/>
          <p:cNvSpPr/>
          <p:nvPr/>
        </p:nvSpPr>
        <p:spPr>
          <a:xfrm>
            <a:off x="7486704" y="3638781"/>
            <a:ext cx="1108749" cy="358632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 w="952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500" smtClean="0">
                <a:solidFill>
                  <a:schemeClr val="tx1"/>
                </a:solidFill>
              </a:rPr>
              <a:t>컨테이너</a:t>
            </a:r>
            <a:endParaRPr lang="ko-KR" altLang="en-US" sz="1500">
              <a:solidFill>
                <a:schemeClr val="tx1"/>
              </a:solidFill>
            </a:endParaRPr>
          </a:p>
        </p:txBody>
      </p:sp>
      <p:sp>
        <p:nvSpPr>
          <p:cNvPr id="22" name="TextBox 21"/>
          <p:cNvSpPr txBox="1"/>
          <p:nvPr/>
        </p:nvSpPr>
        <p:spPr>
          <a:xfrm>
            <a:off x="8651568" y="3679597"/>
            <a:ext cx="1650671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200" dirty="0" smtClean="0"/>
              <a:t>로그 </a:t>
            </a:r>
            <a:r>
              <a:rPr lang="en-US" altLang="ko-KR" sz="1200" b="1" dirty="0" smtClean="0"/>
              <a:t>MSA</a:t>
            </a:r>
            <a:r>
              <a:rPr lang="en-US" altLang="ko-KR" sz="1200" dirty="0" smtClean="0"/>
              <a:t> 1</a:t>
            </a:r>
            <a:r>
              <a:rPr lang="ko-KR" altLang="en-US" sz="1200" dirty="0" smtClean="0"/>
              <a:t>개 수행</a:t>
            </a:r>
            <a:endParaRPr lang="ko-KR" altLang="en-US" sz="1200" dirty="0"/>
          </a:p>
        </p:txBody>
      </p:sp>
      <p:sp>
        <p:nvSpPr>
          <p:cNvPr id="23" name="TextBox 22"/>
          <p:cNvSpPr txBox="1"/>
          <p:nvPr/>
        </p:nvSpPr>
        <p:spPr>
          <a:xfrm>
            <a:off x="6856712" y="6040466"/>
            <a:ext cx="4940334" cy="7232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b="1" dirty="0" smtClean="0"/>
              <a:t>MSA : Micro Service Architecture</a:t>
            </a:r>
            <a:endParaRPr lang="en-US" altLang="ko-KR" dirty="0" smtClean="0"/>
          </a:p>
          <a:p>
            <a:endParaRPr lang="en-US" altLang="ko-KR" sz="500" dirty="0" smtClean="0"/>
          </a:p>
          <a:p>
            <a:r>
              <a:rPr lang="en-US" altLang="ko-KR" dirty="0" smtClean="0"/>
              <a:t>         1</a:t>
            </a:r>
            <a:r>
              <a:rPr lang="en-US" altLang="ko-KR" dirty="0"/>
              <a:t> </a:t>
            </a:r>
            <a:r>
              <a:rPr lang="ko-KR" altLang="en-US" dirty="0" smtClean="0"/>
              <a:t>프로그램을 작은 서비스들로 나눈 것</a:t>
            </a:r>
            <a:endParaRPr lang="en-US" altLang="ko-KR" dirty="0" smtClean="0"/>
          </a:p>
        </p:txBody>
      </p:sp>
      <p:sp>
        <p:nvSpPr>
          <p:cNvPr id="25" name="직사각형 24"/>
          <p:cNvSpPr/>
          <p:nvPr/>
        </p:nvSpPr>
        <p:spPr>
          <a:xfrm>
            <a:off x="502429" y="3139401"/>
            <a:ext cx="1909845" cy="507818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  <a:ln w="952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 smtClean="0">
                <a:solidFill>
                  <a:schemeClr val="tx1"/>
                </a:solidFill>
              </a:rPr>
              <a:t>징수통합시스템</a:t>
            </a:r>
            <a:endParaRPr lang="ko-KR" altLang="en-US" dirty="0">
              <a:solidFill>
                <a:schemeClr val="tx1"/>
              </a:solidFill>
            </a:endParaRPr>
          </a:p>
        </p:txBody>
      </p:sp>
      <p:sp>
        <p:nvSpPr>
          <p:cNvPr id="26" name="직사각형 25"/>
          <p:cNvSpPr/>
          <p:nvPr/>
        </p:nvSpPr>
        <p:spPr>
          <a:xfrm>
            <a:off x="517668" y="3714442"/>
            <a:ext cx="1909845" cy="507818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  <a:ln w="952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 smtClean="0">
                <a:solidFill>
                  <a:schemeClr val="tx1"/>
                </a:solidFill>
              </a:rPr>
              <a:t>통합급여시스템</a:t>
            </a:r>
            <a:endParaRPr lang="ko-KR" altLang="en-US" dirty="0">
              <a:solidFill>
                <a:schemeClr val="tx1"/>
              </a:solidFill>
            </a:endParaRPr>
          </a:p>
        </p:txBody>
      </p:sp>
      <p:sp>
        <p:nvSpPr>
          <p:cNvPr id="27" name="직사각형 26"/>
          <p:cNvSpPr/>
          <p:nvPr/>
        </p:nvSpPr>
        <p:spPr>
          <a:xfrm>
            <a:off x="517668" y="4311769"/>
            <a:ext cx="1909845" cy="507818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  <a:ln w="952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 smtClean="0">
                <a:solidFill>
                  <a:schemeClr val="tx1"/>
                </a:solidFill>
              </a:rPr>
              <a:t>장기요양시스템</a:t>
            </a:r>
            <a:endParaRPr lang="ko-KR" altLang="en-US" dirty="0">
              <a:solidFill>
                <a:schemeClr val="tx1"/>
              </a:solidFill>
            </a:endParaRPr>
          </a:p>
        </p:txBody>
      </p:sp>
      <p:sp>
        <p:nvSpPr>
          <p:cNvPr id="28" name="직사각형 27"/>
          <p:cNvSpPr/>
          <p:nvPr/>
        </p:nvSpPr>
        <p:spPr>
          <a:xfrm>
            <a:off x="517667" y="1972789"/>
            <a:ext cx="1909845" cy="507818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  <a:ln w="952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 smtClean="0">
                <a:solidFill>
                  <a:schemeClr val="tx1"/>
                </a:solidFill>
              </a:rPr>
              <a:t>통합로그인</a:t>
            </a:r>
            <a:endParaRPr lang="ko-KR" altLang="en-US" dirty="0">
              <a:solidFill>
                <a:schemeClr val="tx1"/>
              </a:solidFill>
            </a:endParaRPr>
          </a:p>
        </p:txBody>
      </p:sp>
      <p:sp>
        <p:nvSpPr>
          <p:cNvPr id="29" name="직사각형 28"/>
          <p:cNvSpPr/>
          <p:nvPr/>
        </p:nvSpPr>
        <p:spPr>
          <a:xfrm>
            <a:off x="517667" y="4909096"/>
            <a:ext cx="1909845" cy="507818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  <a:ln w="952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 err="1" smtClean="0">
                <a:solidFill>
                  <a:schemeClr val="tx1"/>
                </a:solidFill>
              </a:rPr>
              <a:t>포털시스템</a:t>
            </a:r>
            <a:endParaRPr lang="ko-KR" altLang="en-US" dirty="0">
              <a:solidFill>
                <a:schemeClr val="tx1"/>
              </a:solidFill>
            </a:endParaRPr>
          </a:p>
        </p:txBody>
      </p:sp>
      <p:sp>
        <p:nvSpPr>
          <p:cNvPr id="30" name="직사각형 29"/>
          <p:cNvSpPr/>
          <p:nvPr/>
        </p:nvSpPr>
        <p:spPr>
          <a:xfrm>
            <a:off x="508958" y="2555568"/>
            <a:ext cx="1909845" cy="507818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  <a:ln w="952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 smtClean="0">
                <a:solidFill>
                  <a:schemeClr val="tx1"/>
                </a:solidFill>
              </a:rPr>
              <a:t>자격부과시스템</a:t>
            </a:r>
            <a:endParaRPr lang="ko-KR" altLang="en-US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166435956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직사각형 41"/>
          <p:cNvSpPr/>
          <p:nvPr/>
        </p:nvSpPr>
        <p:spPr>
          <a:xfrm>
            <a:off x="274319" y="224444"/>
            <a:ext cx="3862251" cy="498763"/>
          </a:xfrm>
          <a:prstGeom prst="rect">
            <a:avLst/>
          </a:prstGeom>
          <a:solidFill>
            <a:srgbClr val="00B0F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2300" b="1" dirty="0" smtClean="0"/>
              <a:t>메타 </a:t>
            </a:r>
            <a:r>
              <a:rPr lang="en-US" altLang="ko-KR" sz="2300" b="1" dirty="0" smtClean="0"/>
              <a:t>(1</a:t>
            </a:r>
            <a:r>
              <a:rPr lang="ko-KR" altLang="en-US" sz="2300" b="1" dirty="0" smtClean="0"/>
              <a:t>테이블은 </a:t>
            </a:r>
            <a:r>
              <a:rPr lang="en-US" altLang="ko-KR" sz="2300" b="1" dirty="0" smtClean="0"/>
              <a:t>1MSA)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8958" y="1069519"/>
            <a:ext cx="4788839" cy="44627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2300" dirty="0" smtClean="0"/>
              <a:t>1</a:t>
            </a:r>
            <a:r>
              <a:rPr lang="ko-KR" altLang="en-US" sz="2300" dirty="0" smtClean="0"/>
              <a:t>테이블은 </a:t>
            </a:r>
            <a:r>
              <a:rPr lang="en-US" altLang="ko-KR" sz="2300" dirty="0" smtClean="0"/>
              <a:t>1</a:t>
            </a:r>
            <a:r>
              <a:rPr lang="ko-KR" altLang="en-US" sz="2300" dirty="0" smtClean="0"/>
              <a:t>개 </a:t>
            </a:r>
            <a:r>
              <a:rPr lang="en-US" altLang="ko-KR" sz="2300" dirty="0" smtClean="0"/>
              <a:t>MSA</a:t>
            </a:r>
            <a:r>
              <a:rPr lang="ko-KR" altLang="en-US" sz="2300" dirty="0" smtClean="0"/>
              <a:t>만 사용 가능</a:t>
            </a:r>
            <a:endParaRPr lang="ko-KR" altLang="en-US" sz="2300" dirty="0"/>
          </a:p>
        </p:txBody>
      </p:sp>
      <p:sp>
        <p:nvSpPr>
          <p:cNvPr id="4" name="모서리가 둥근 사각형 설명선 3"/>
          <p:cNvSpPr/>
          <p:nvPr/>
        </p:nvSpPr>
        <p:spPr>
          <a:xfrm>
            <a:off x="3048000" y="1802671"/>
            <a:ext cx="1820091" cy="2020390"/>
          </a:xfrm>
          <a:prstGeom prst="wedgeRoundRectCallout">
            <a:avLst>
              <a:gd name="adj1" fmla="val -80778"/>
              <a:gd name="adj2" fmla="val 4553"/>
              <a:gd name="adj3" fmla="val 16667"/>
            </a:avLst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>
              <a:solidFill>
                <a:schemeClr val="tx1"/>
              </a:solidFill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3248297" y="1963091"/>
            <a:ext cx="1480457" cy="169277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200" b="1" dirty="0" err="1" smtClean="0"/>
              <a:t>자격조회</a:t>
            </a:r>
            <a:r>
              <a:rPr lang="ko-KR" altLang="en-US" sz="1200" dirty="0" smtClean="0"/>
              <a:t> </a:t>
            </a:r>
            <a:r>
              <a:rPr lang="en-US" altLang="ko-KR" sz="1000" dirty="0" smtClean="0"/>
              <a:t>MSA</a:t>
            </a:r>
          </a:p>
          <a:p>
            <a:endParaRPr lang="en-US" altLang="ko-KR" sz="1200" dirty="0"/>
          </a:p>
          <a:p>
            <a:r>
              <a:rPr lang="ko-KR" altLang="en-US" sz="1200" b="1" dirty="0" err="1" smtClean="0"/>
              <a:t>자격변경</a:t>
            </a:r>
            <a:r>
              <a:rPr lang="ko-KR" altLang="en-US" sz="1200" b="1" dirty="0" smtClean="0"/>
              <a:t> </a:t>
            </a:r>
            <a:r>
              <a:rPr lang="en-US" altLang="ko-KR" sz="1000" dirty="0" smtClean="0"/>
              <a:t>MSA</a:t>
            </a:r>
          </a:p>
          <a:p>
            <a:endParaRPr lang="en-US" altLang="ko-KR" sz="1200" dirty="0"/>
          </a:p>
          <a:p>
            <a:r>
              <a:rPr lang="ko-KR" altLang="en-US" sz="1200" b="1" dirty="0" smtClean="0"/>
              <a:t>부과내역조회</a:t>
            </a:r>
            <a:r>
              <a:rPr lang="ko-KR" altLang="en-US" sz="1200" dirty="0" smtClean="0"/>
              <a:t> </a:t>
            </a:r>
            <a:r>
              <a:rPr lang="en-US" altLang="ko-KR" sz="1000" dirty="0" smtClean="0"/>
              <a:t>MSA</a:t>
            </a:r>
          </a:p>
          <a:p>
            <a:endParaRPr lang="en-US" altLang="ko-KR" sz="1000" dirty="0" smtClean="0"/>
          </a:p>
          <a:p>
            <a:r>
              <a:rPr lang="ko-KR" altLang="en-US" sz="1200" b="1" dirty="0" smtClean="0"/>
              <a:t>자격관리 </a:t>
            </a:r>
            <a:r>
              <a:rPr lang="en-US" altLang="ko-KR" sz="1000" dirty="0" smtClean="0"/>
              <a:t>MSA</a:t>
            </a:r>
            <a:endParaRPr lang="en-US" altLang="ko-KR" sz="1000" dirty="0"/>
          </a:p>
          <a:p>
            <a:endParaRPr lang="en-US" altLang="ko-KR" sz="1000" dirty="0"/>
          </a:p>
          <a:p>
            <a:r>
              <a:rPr lang="ko-KR" altLang="en-US" sz="1200" b="1" dirty="0" smtClean="0"/>
              <a:t>로그</a:t>
            </a:r>
            <a:r>
              <a:rPr lang="ko-KR" altLang="en-US" sz="1000" dirty="0" smtClean="0"/>
              <a:t> </a:t>
            </a:r>
            <a:r>
              <a:rPr lang="en-US" altLang="ko-KR" sz="1000" dirty="0" smtClean="0"/>
              <a:t>MSA</a:t>
            </a:r>
            <a:endParaRPr lang="en-US" altLang="ko-KR" sz="1000" dirty="0"/>
          </a:p>
        </p:txBody>
      </p:sp>
      <p:sp>
        <p:nvSpPr>
          <p:cNvPr id="11" name="직사각형 10"/>
          <p:cNvSpPr/>
          <p:nvPr/>
        </p:nvSpPr>
        <p:spPr>
          <a:xfrm>
            <a:off x="508958" y="2555568"/>
            <a:ext cx="1909845" cy="507818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  <a:ln w="952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 smtClean="0">
                <a:solidFill>
                  <a:schemeClr val="tx1"/>
                </a:solidFill>
              </a:rPr>
              <a:t>자격부과시스템</a:t>
            </a:r>
            <a:endParaRPr lang="ko-KR" altLang="en-US" dirty="0">
              <a:solidFill>
                <a:schemeClr val="tx1"/>
              </a:solidFill>
            </a:endParaRPr>
          </a:p>
        </p:txBody>
      </p:sp>
      <p:pic>
        <p:nvPicPr>
          <p:cNvPr id="2" name="그림 1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31200" y="1145260"/>
            <a:ext cx="3174964" cy="2820615"/>
          </a:xfrm>
          <a:prstGeom prst="rect">
            <a:avLst/>
          </a:prstGeom>
        </p:spPr>
      </p:pic>
      <p:sp>
        <p:nvSpPr>
          <p:cNvPr id="13" name="모서리가 둥근 사각형 설명선 12"/>
          <p:cNvSpPr/>
          <p:nvPr/>
        </p:nvSpPr>
        <p:spPr>
          <a:xfrm>
            <a:off x="9197751" y="2908661"/>
            <a:ext cx="2769328" cy="814251"/>
          </a:xfrm>
          <a:prstGeom prst="wedgeRoundRectCallout">
            <a:avLst>
              <a:gd name="adj1" fmla="val -80778"/>
              <a:gd name="adj2" fmla="val 4553"/>
              <a:gd name="adj3" fmla="val 16667"/>
            </a:avLst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>
              <a:solidFill>
                <a:schemeClr val="tx1"/>
              </a:solidFill>
            </a:endParaRPr>
          </a:p>
        </p:txBody>
      </p:sp>
      <p:sp>
        <p:nvSpPr>
          <p:cNvPr id="14" name="TextBox 13"/>
          <p:cNvSpPr txBox="1"/>
          <p:nvPr/>
        </p:nvSpPr>
        <p:spPr>
          <a:xfrm>
            <a:off x="9237691" y="2954148"/>
            <a:ext cx="2689448" cy="7232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b="1" dirty="0" smtClean="0"/>
              <a:t>이 테이블을 </a:t>
            </a:r>
            <a:r>
              <a:rPr lang="en-US" altLang="ko-KR" b="1" dirty="0" smtClean="0"/>
              <a:t>1</a:t>
            </a:r>
            <a:r>
              <a:rPr lang="ko-KR" altLang="en-US" b="1" dirty="0" smtClean="0"/>
              <a:t>개 </a:t>
            </a:r>
            <a:r>
              <a:rPr lang="en-US" altLang="ko-KR" b="1" dirty="0" smtClean="0"/>
              <a:t>MSA</a:t>
            </a:r>
            <a:r>
              <a:rPr lang="ko-KR" altLang="en-US" b="1" dirty="0" smtClean="0"/>
              <a:t>만 </a:t>
            </a:r>
            <a:r>
              <a:rPr lang="en-US" altLang="ko-KR" b="1" dirty="0" smtClean="0"/>
              <a:t/>
            </a:r>
            <a:br>
              <a:rPr lang="en-US" altLang="ko-KR" b="1" dirty="0" smtClean="0"/>
            </a:br>
            <a:endParaRPr lang="en-US" altLang="ko-KR" sz="500" b="1" dirty="0" smtClean="0"/>
          </a:p>
          <a:p>
            <a:r>
              <a:rPr lang="ko-KR" altLang="en-US" b="1" dirty="0" smtClean="0"/>
              <a:t>독점해서 쓰라고</a:t>
            </a:r>
            <a:r>
              <a:rPr lang="en-US" altLang="ko-KR" b="1" dirty="0" smtClean="0"/>
              <a:t>?</a:t>
            </a:r>
            <a:endParaRPr lang="en-US" altLang="ko-KR" dirty="0"/>
          </a:p>
        </p:txBody>
      </p:sp>
      <p:pic>
        <p:nvPicPr>
          <p:cNvPr id="12" name="그림 11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97751" y="4032071"/>
            <a:ext cx="2769328" cy="2769328"/>
          </a:xfrm>
          <a:prstGeom prst="rect">
            <a:avLst/>
          </a:prstGeom>
        </p:spPr>
      </p:pic>
      <p:pic>
        <p:nvPicPr>
          <p:cNvPr id="15" name="그림 14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266825" y="4032071"/>
            <a:ext cx="2756643" cy="2769328"/>
          </a:xfrm>
          <a:prstGeom prst="rect">
            <a:avLst/>
          </a:prstGeom>
        </p:spPr>
      </p:pic>
      <p:cxnSp>
        <p:nvCxnSpPr>
          <p:cNvPr id="17" name="직선 화살표 연결선 16"/>
          <p:cNvCxnSpPr/>
          <p:nvPr/>
        </p:nvCxnSpPr>
        <p:spPr>
          <a:xfrm flipV="1">
            <a:off x="7550331" y="792480"/>
            <a:ext cx="1647420" cy="1088572"/>
          </a:xfrm>
          <a:prstGeom prst="straightConnector1">
            <a:avLst/>
          </a:prstGeom>
          <a:ln w="28575">
            <a:solidFill>
              <a:schemeClr val="accent1">
                <a:lumMod val="60000"/>
                <a:lumOff val="40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" name="직사각형 21"/>
          <p:cNvSpPr/>
          <p:nvPr/>
        </p:nvSpPr>
        <p:spPr>
          <a:xfrm>
            <a:off x="8780315" y="323348"/>
            <a:ext cx="2523410" cy="429490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2100" b="1" dirty="0" smtClean="0"/>
              <a:t>1</a:t>
            </a:r>
            <a:r>
              <a:rPr lang="ko-KR" altLang="en-US" sz="2100" b="1" dirty="0" smtClean="0"/>
              <a:t>개 </a:t>
            </a:r>
            <a:r>
              <a:rPr lang="en-US" altLang="ko-KR" sz="2100" b="1" dirty="0" smtClean="0"/>
              <a:t>MSA</a:t>
            </a:r>
            <a:r>
              <a:rPr lang="ko-KR" altLang="en-US" sz="2100" b="1" dirty="0" smtClean="0"/>
              <a:t>의 쿼리</a:t>
            </a:r>
            <a:endParaRPr lang="en-US" altLang="ko-KR" sz="2100" b="1" dirty="0" smtClean="0"/>
          </a:p>
        </p:txBody>
      </p:sp>
    </p:spTree>
    <p:extLst>
      <p:ext uri="{BB962C8B-B14F-4D97-AF65-F5344CB8AC3E}">
        <p14:creationId xmlns:p14="http://schemas.microsoft.com/office/powerpoint/2010/main" val="2867550528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직사각형 41"/>
          <p:cNvSpPr/>
          <p:nvPr/>
        </p:nvSpPr>
        <p:spPr>
          <a:xfrm>
            <a:off x="274320" y="224444"/>
            <a:ext cx="2086496" cy="498763"/>
          </a:xfrm>
          <a:prstGeom prst="rect">
            <a:avLst/>
          </a:prstGeom>
          <a:solidFill>
            <a:srgbClr val="00B0F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2300" b="1" dirty="0" smtClean="0"/>
              <a:t>연계</a:t>
            </a:r>
            <a:endParaRPr lang="en-US" altLang="ko-KR" sz="2300" b="1" dirty="0" smtClean="0"/>
          </a:p>
        </p:txBody>
      </p:sp>
      <p:pic>
        <p:nvPicPr>
          <p:cNvPr id="2" name="그림 1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25995" y="224444"/>
            <a:ext cx="6638594" cy="5903923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274320" y="1500266"/>
            <a:ext cx="3174274" cy="44627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2300" dirty="0" err="1" smtClean="0"/>
              <a:t>클라우드</a:t>
            </a:r>
            <a:r>
              <a:rPr lang="ko-KR" altLang="en-US" sz="2300" dirty="0" smtClean="0"/>
              <a:t> 내에서 연계</a:t>
            </a:r>
            <a:endParaRPr lang="ko-KR" altLang="en-US" sz="2300" dirty="0"/>
          </a:p>
        </p:txBody>
      </p:sp>
      <p:sp>
        <p:nvSpPr>
          <p:cNvPr id="6" name="TextBox 5"/>
          <p:cNvSpPr txBox="1"/>
          <p:nvPr/>
        </p:nvSpPr>
        <p:spPr>
          <a:xfrm>
            <a:off x="2873829" y="4047850"/>
            <a:ext cx="2097535" cy="44627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2300" smtClean="0"/>
              <a:t>대구 </a:t>
            </a:r>
            <a:r>
              <a:rPr lang="ko-KR" altLang="en-US" sz="2300" dirty="0" err="1" smtClean="0"/>
              <a:t>클라우드</a:t>
            </a:r>
            <a:endParaRPr lang="ko-KR" altLang="en-US" sz="2300" dirty="0"/>
          </a:p>
        </p:txBody>
      </p:sp>
      <p:pic>
        <p:nvPicPr>
          <p:cNvPr id="7" name="Picture 2" descr="AWS 클라우드"/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884495" y="4542564"/>
            <a:ext cx="1408832" cy="117402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8" name="그림 7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884495" y="3355125"/>
            <a:ext cx="1572714" cy="54645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00347122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직사각형 41"/>
          <p:cNvSpPr/>
          <p:nvPr/>
        </p:nvSpPr>
        <p:spPr>
          <a:xfrm>
            <a:off x="274320" y="224444"/>
            <a:ext cx="2086496" cy="498763"/>
          </a:xfrm>
          <a:prstGeom prst="rect">
            <a:avLst/>
          </a:prstGeom>
          <a:solidFill>
            <a:srgbClr val="00B0F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2300" b="1" dirty="0" smtClean="0"/>
              <a:t>연계</a:t>
            </a:r>
            <a:endParaRPr lang="en-US" altLang="ko-KR" sz="2300" b="1" dirty="0" smtClean="0"/>
          </a:p>
        </p:txBody>
      </p:sp>
      <p:pic>
        <p:nvPicPr>
          <p:cNvPr id="3" name="그림 2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00650" y="335688"/>
            <a:ext cx="6991350" cy="6238875"/>
          </a:xfrm>
          <a:prstGeom prst="rect">
            <a:avLst/>
          </a:prstGeom>
        </p:spPr>
      </p:pic>
      <p:pic>
        <p:nvPicPr>
          <p:cNvPr id="4" name="그림 3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9331" y="2815193"/>
            <a:ext cx="1572714" cy="546451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0" y="3525336"/>
            <a:ext cx="2097535" cy="44627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2300" smtClean="0"/>
              <a:t>대구 </a:t>
            </a:r>
            <a:r>
              <a:rPr lang="ko-KR" altLang="en-US" sz="2300" dirty="0" err="1" smtClean="0"/>
              <a:t>클라우드</a:t>
            </a:r>
            <a:endParaRPr lang="ko-KR" altLang="en-US" sz="2300" dirty="0"/>
          </a:p>
        </p:txBody>
      </p:sp>
      <p:sp>
        <p:nvSpPr>
          <p:cNvPr id="7" name="TextBox 6"/>
          <p:cNvSpPr txBox="1"/>
          <p:nvPr/>
        </p:nvSpPr>
        <p:spPr>
          <a:xfrm>
            <a:off x="3207619" y="3525336"/>
            <a:ext cx="2097535" cy="44627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2300" dirty="0" smtClean="0"/>
              <a:t>세종 </a:t>
            </a:r>
            <a:r>
              <a:rPr lang="ko-KR" altLang="en-US" sz="2300" dirty="0" err="1" smtClean="0"/>
              <a:t>클라우드</a:t>
            </a:r>
            <a:endParaRPr lang="ko-KR" altLang="en-US" sz="2300" dirty="0"/>
          </a:p>
        </p:txBody>
      </p:sp>
      <p:pic>
        <p:nvPicPr>
          <p:cNvPr id="1026" name="Picture 2" descr="AWS 클라우드"/>
          <p:cNvPicPr>
            <a:picLocks noChangeAspect="1" noChangeArrowheads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666" y="4020050"/>
            <a:ext cx="1408832" cy="117402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5" name="그림 4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265989" y="4020050"/>
            <a:ext cx="1876291" cy="963261"/>
          </a:xfrm>
          <a:prstGeom prst="rect">
            <a:avLst/>
          </a:prstGeom>
        </p:spPr>
      </p:pic>
      <p:cxnSp>
        <p:nvCxnSpPr>
          <p:cNvPr id="11" name="직선 연결선 10"/>
          <p:cNvCxnSpPr/>
          <p:nvPr/>
        </p:nvCxnSpPr>
        <p:spPr>
          <a:xfrm flipV="1">
            <a:off x="1741714" y="2943497"/>
            <a:ext cx="3400566" cy="1"/>
          </a:xfrm>
          <a:prstGeom prst="line">
            <a:avLst/>
          </a:prstGeom>
          <a:ln w="19050">
            <a:solidFill>
              <a:schemeClr val="accent1">
                <a:lumMod val="60000"/>
                <a:lumOff val="4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2862755" y="2653610"/>
            <a:ext cx="806468" cy="3231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500" smtClean="0"/>
              <a:t>연계</a:t>
            </a:r>
            <a:endParaRPr lang="ko-KR" altLang="en-US" sz="1500" dirty="0"/>
          </a:p>
        </p:txBody>
      </p:sp>
    </p:spTree>
    <p:extLst>
      <p:ext uri="{BB962C8B-B14F-4D97-AF65-F5344CB8AC3E}">
        <p14:creationId xmlns:p14="http://schemas.microsoft.com/office/powerpoint/2010/main" val="1438211149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직사각형 41"/>
          <p:cNvSpPr/>
          <p:nvPr/>
        </p:nvSpPr>
        <p:spPr>
          <a:xfrm>
            <a:off x="274320" y="224444"/>
            <a:ext cx="2086496" cy="498763"/>
          </a:xfrm>
          <a:prstGeom prst="rect">
            <a:avLst/>
          </a:prstGeom>
          <a:solidFill>
            <a:srgbClr val="00B0F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2300" b="1" dirty="0" smtClean="0"/>
              <a:t>연계</a:t>
            </a:r>
            <a:endParaRPr lang="en-US" altLang="ko-KR" sz="2300" b="1" dirty="0" smtClean="0"/>
          </a:p>
        </p:txBody>
      </p:sp>
      <p:pic>
        <p:nvPicPr>
          <p:cNvPr id="4" name="그림 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9331" y="2815193"/>
            <a:ext cx="1572714" cy="546451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0" y="3525336"/>
            <a:ext cx="2097535" cy="44627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2300" smtClean="0"/>
              <a:t>대구 </a:t>
            </a:r>
            <a:r>
              <a:rPr lang="ko-KR" altLang="en-US" sz="2300" dirty="0" err="1" smtClean="0"/>
              <a:t>클라우드</a:t>
            </a:r>
            <a:endParaRPr lang="ko-KR" altLang="en-US" sz="2300" dirty="0"/>
          </a:p>
        </p:txBody>
      </p:sp>
      <p:pic>
        <p:nvPicPr>
          <p:cNvPr id="1026" name="Picture 2" descr="AWS 클라우드"/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666" y="4020050"/>
            <a:ext cx="1408832" cy="117402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cxnSp>
        <p:nvCxnSpPr>
          <p:cNvPr id="11" name="직선 연결선 10"/>
          <p:cNvCxnSpPr/>
          <p:nvPr/>
        </p:nvCxnSpPr>
        <p:spPr>
          <a:xfrm>
            <a:off x="1741714" y="2943499"/>
            <a:ext cx="4929052" cy="33276"/>
          </a:xfrm>
          <a:prstGeom prst="line">
            <a:avLst/>
          </a:prstGeom>
          <a:ln w="19050">
            <a:solidFill>
              <a:schemeClr val="accent1">
                <a:lumMod val="60000"/>
                <a:lumOff val="4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4212584" y="2653610"/>
            <a:ext cx="806468" cy="3231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500" smtClean="0"/>
              <a:t>연계</a:t>
            </a:r>
            <a:endParaRPr lang="ko-KR" altLang="en-US" sz="1500" dirty="0"/>
          </a:p>
        </p:txBody>
      </p:sp>
      <p:sp>
        <p:nvSpPr>
          <p:cNvPr id="12" name="직사각형 11"/>
          <p:cNvSpPr/>
          <p:nvPr/>
        </p:nvSpPr>
        <p:spPr>
          <a:xfrm>
            <a:off x="6670765" y="2727393"/>
            <a:ext cx="2934789" cy="498763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2100" b="1" err="1" smtClean="0"/>
              <a:t>클라우드</a:t>
            </a:r>
            <a:r>
              <a:rPr lang="ko-KR" altLang="en-US" sz="2100" b="1" dirty="0" smtClean="0"/>
              <a:t> </a:t>
            </a:r>
            <a:r>
              <a:rPr lang="ko-KR" altLang="en-US" sz="2100" b="1" dirty="0" err="1" smtClean="0"/>
              <a:t>미도입</a:t>
            </a:r>
            <a:r>
              <a:rPr lang="ko-KR" altLang="en-US" sz="2100" b="1" dirty="0" smtClean="0"/>
              <a:t> 기관</a:t>
            </a:r>
            <a:endParaRPr lang="en-US" altLang="ko-KR" sz="2100" b="1" dirty="0" smtClean="0"/>
          </a:p>
        </p:txBody>
      </p:sp>
    </p:spTree>
    <p:extLst>
      <p:ext uri="{BB962C8B-B14F-4D97-AF65-F5344CB8AC3E}">
        <p14:creationId xmlns:p14="http://schemas.microsoft.com/office/powerpoint/2010/main" val="1454215534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직사각형 41"/>
          <p:cNvSpPr/>
          <p:nvPr/>
        </p:nvSpPr>
        <p:spPr>
          <a:xfrm>
            <a:off x="274320" y="224444"/>
            <a:ext cx="2086496" cy="498763"/>
          </a:xfrm>
          <a:prstGeom prst="rect">
            <a:avLst/>
          </a:prstGeom>
          <a:solidFill>
            <a:srgbClr val="00B0F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2300" b="1" dirty="0" smtClean="0"/>
              <a:t>데이터 센터</a:t>
            </a:r>
            <a:endParaRPr lang="en-US" altLang="ko-KR" sz="2300" b="1" dirty="0" smtClean="0"/>
          </a:p>
        </p:txBody>
      </p:sp>
      <p:pic>
        <p:nvPicPr>
          <p:cNvPr id="2" name="그림 1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71213" y="0"/>
            <a:ext cx="7414055" cy="6858000"/>
          </a:xfrm>
          <a:prstGeom prst="rect">
            <a:avLst/>
          </a:prstGeom>
        </p:spPr>
      </p:pic>
      <p:pic>
        <p:nvPicPr>
          <p:cNvPr id="3" name="그림 2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-1" y="1886690"/>
            <a:ext cx="4771213" cy="297949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80935879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theme/theme1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1606</TotalTime>
  <Words>1113</Words>
  <Application>Microsoft Office PowerPoint</Application>
  <PresentationFormat>와이드스크린</PresentationFormat>
  <Paragraphs>477</Paragraphs>
  <Slides>22</Slides>
  <Notes>0</Notes>
  <HiddenSlides>0</HiddenSlides>
  <MMClips>0</MMClips>
  <ScaleCrop>false</ScaleCrop>
  <HeadingPairs>
    <vt:vector size="6" baseType="variant">
      <vt:variant>
        <vt:lpstr>사용한 글꼴</vt:lpstr>
      </vt:variant>
      <vt:variant>
        <vt:i4>2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22</vt:i4>
      </vt:variant>
    </vt:vector>
  </HeadingPairs>
  <TitlesOfParts>
    <vt:vector size="25" baseType="lpstr">
      <vt:lpstr>맑은 고딕</vt:lpstr>
      <vt:lpstr>Arial</vt:lpstr>
      <vt:lpstr>Office 테마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프레젠테이션</dc:title>
  <dc:creator>Administrator</dc:creator>
  <cp:lastModifiedBy>Administrator</cp:lastModifiedBy>
  <cp:revision>83</cp:revision>
  <dcterms:created xsi:type="dcterms:W3CDTF">2026-05-27T12:37:02Z</dcterms:created>
  <dcterms:modified xsi:type="dcterms:W3CDTF">2026-08-02T15:11:00Z</dcterms:modified>
</cp:coreProperties>
</file>