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8" r:id="rId6"/>
    <p:sldId id="272" r:id="rId7"/>
    <p:sldId id="273" r:id="rId8"/>
    <p:sldId id="279" r:id="rId9"/>
    <p:sldId id="274" r:id="rId10"/>
    <p:sldId id="280" r:id="rId11"/>
    <p:sldId id="281" r:id="rId12"/>
    <p:sldId id="275" r:id="rId13"/>
    <p:sldId id="282" r:id="rId14"/>
    <p:sldId id="276" r:id="rId15"/>
    <p:sldId id="284" r:id="rId16"/>
    <p:sldId id="285" r:id="rId17"/>
    <p:sldId id="289" r:id="rId18"/>
    <p:sldId id="286" r:id="rId19"/>
    <p:sldId id="287" r:id="rId20"/>
    <p:sldId id="288" r:id="rId21"/>
    <p:sldId id="290" r:id="rId22"/>
    <p:sldId id="27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5050"/>
    <a:srgbClr val="FF3300"/>
    <a:srgbClr val="FF0066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5238" autoAdjust="0"/>
  </p:normalViewPr>
  <p:slideViewPr>
    <p:cSldViewPr snapToGrid="0">
      <p:cViewPr varScale="1">
        <p:scale>
          <a:sx n="110" d="100"/>
          <a:sy n="110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D22-C8EB-4173-A227-EB4225261623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B0B60-0E14-4984-B448-AA36DEC673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542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D22-C8EB-4173-A227-EB4225261623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B0B60-0E14-4984-B448-AA36DEC673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20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D22-C8EB-4173-A227-EB4225261623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B0B60-0E14-4984-B448-AA36DEC673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74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D22-C8EB-4173-A227-EB4225261623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B0B60-0E14-4984-B448-AA36DEC673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610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D22-C8EB-4173-A227-EB4225261623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B0B60-0E14-4984-B448-AA36DEC673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69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D22-C8EB-4173-A227-EB4225261623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B0B60-0E14-4984-B448-AA36DEC673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18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D22-C8EB-4173-A227-EB4225261623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B0B60-0E14-4984-B448-AA36DEC673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961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D22-C8EB-4173-A227-EB4225261623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B0B60-0E14-4984-B448-AA36DEC673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55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D22-C8EB-4173-A227-EB4225261623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B0B60-0E14-4984-B448-AA36DEC673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40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D22-C8EB-4173-A227-EB4225261623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B0B60-0E14-4984-B448-AA36DEC673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21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BD22-C8EB-4173-A227-EB4225261623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B0B60-0E14-4984-B448-AA36DEC673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169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7BD22-C8EB-4173-A227-EB4225261623}" type="datetimeFigureOut">
              <a:rPr lang="ko-KR" altLang="en-US" smtClean="0"/>
              <a:t>2026-08-02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B0B60-0E14-4984-B448-AA36DEC673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30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923607" y="1840212"/>
            <a:ext cx="3782294" cy="7284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smtClean="0"/>
              <a:t>클라우드</a:t>
            </a:r>
            <a:r>
              <a:rPr lang="ko-KR" altLang="en-US" sz="2800" b="1" dirty="0" smtClean="0"/>
              <a:t> </a:t>
            </a:r>
            <a:r>
              <a:rPr lang="ko-KR" altLang="en-US" sz="2800" b="1" dirty="0" err="1" smtClean="0"/>
              <a:t>네이티브</a:t>
            </a:r>
            <a:endParaRPr lang="en-US" altLang="ko-KR" sz="2800" b="1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477" y="3401551"/>
            <a:ext cx="441960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9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20" y="224444"/>
            <a:ext cx="2086496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err="1" smtClean="0"/>
              <a:t>서버실</a:t>
            </a:r>
            <a:r>
              <a:rPr lang="ko-KR" altLang="en-US" sz="2300" b="1" dirty="0" smtClean="0"/>
              <a:t> 해체</a:t>
            </a:r>
            <a:endParaRPr lang="en-US" altLang="ko-KR" sz="2300" b="1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598517" y="2844737"/>
            <a:ext cx="1354974" cy="36951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 smtClean="0"/>
              <a:t>건보공단</a:t>
            </a:r>
            <a:endParaRPr lang="en-US" altLang="ko-KR" b="1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598517" y="3703715"/>
            <a:ext cx="1354974" cy="36951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/>
              <a:t>심평원</a:t>
            </a:r>
            <a:endParaRPr lang="en-US" altLang="ko-KR" b="1" dirty="0" smtClean="0"/>
          </a:p>
        </p:txBody>
      </p:sp>
      <p:sp>
        <p:nvSpPr>
          <p:cNvPr id="5" name="직사각형 4"/>
          <p:cNvSpPr/>
          <p:nvPr/>
        </p:nvSpPr>
        <p:spPr>
          <a:xfrm>
            <a:off x="598517" y="3271458"/>
            <a:ext cx="1354974" cy="36951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 smtClean="0"/>
              <a:t>연금공단</a:t>
            </a:r>
            <a:endParaRPr lang="en-US" altLang="ko-KR" b="1" dirty="0" smtClean="0"/>
          </a:p>
        </p:txBody>
      </p:sp>
      <p:sp>
        <p:nvSpPr>
          <p:cNvPr id="6" name="직사각형 5"/>
          <p:cNvSpPr/>
          <p:nvPr/>
        </p:nvSpPr>
        <p:spPr>
          <a:xfrm>
            <a:off x="598517" y="5659977"/>
            <a:ext cx="1354974" cy="36951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/>
              <a:t>농어촌공사</a:t>
            </a:r>
            <a:endParaRPr lang="en-US" altLang="ko-KR" b="1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598517" y="6103323"/>
            <a:ext cx="1354974" cy="36951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/>
              <a:t>철도공사</a:t>
            </a:r>
            <a:endParaRPr lang="en-US" altLang="ko-KR" b="1" dirty="0" smtClean="0"/>
          </a:p>
        </p:txBody>
      </p:sp>
      <p:sp>
        <p:nvSpPr>
          <p:cNvPr id="8" name="직사각형 7"/>
          <p:cNvSpPr/>
          <p:nvPr/>
        </p:nvSpPr>
        <p:spPr>
          <a:xfrm>
            <a:off x="1953492" y="2975956"/>
            <a:ext cx="706582" cy="2428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 smtClean="0"/>
              <a:t>서버실</a:t>
            </a:r>
            <a:endParaRPr lang="en-US" altLang="ko-KR" sz="1200" b="1" dirty="0" smtClean="0"/>
          </a:p>
        </p:txBody>
      </p:sp>
      <p:sp>
        <p:nvSpPr>
          <p:cNvPr id="9" name="직사각형 8"/>
          <p:cNvSpPr/>
          <p:nvPr/>
        </p:nvSpPr>
        <p:spPr>
          <a:xfrm>
            <a:off x="1953491" y="3398121"/>
            <a:ext cx="706582" cy="2428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 smtClean="0"/>
              <a:t>서버</a:t>
            </a:r>
            <a:r>
              <a:rPr lang="ko-KR" altLang="en-US" sz="1200" b="1" dirty="0" err="1" smtClean="0"/>
              <a:t>실</a:t>
            </a:r>
            <a:endParaRPr lang="en-US" altLang="ko-KR" sz="1200" b="1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1953491" y="3825031"/>
            <a:ext cx="706582" cy="2428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 smtClean="0"/>
              <a:t>서버</a:t>
            </a:r>
            <a:r>
              <a:rPr lang="ko-KR" altLang="en-US" sz="1200" b="1" dirty="0" err="1" smtClean="0"/>
              <a:t>실</a:t>
            </a:r>
            <a:endParaRPr lang="en-US" altLang="ko-KR" sz="1200" b="1" dirty="0" smtClean="0"/>
          </a:p>
        </p:txBody>
      </p:sp>
      <p:sp>
        <p:nvSpPr>
          <p:cNvPr id="11" name="직사각형 10"/>
          <p:cNvSpPr/>
          <p:nvPr/>
        </p:nvSpPr>
        <p:spPr>
          <a:xfrm>
            <a:off x="1953491" y="5786640"/>
            <a:ext cx="706582" cy="2428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 smtClean="0"/>
              <a:t>서버</a:t>
            </a:r>
            <a:r>
              <a:rPr lang="ko-KR" altLang="en-US" sz="1200" b="1" dirty="0" err="1" smtClean="0"/>
              <a:t>실</a:t>
            </a:r>
            <a:endParaRPr lang="en-US" altLang="ko-KR" sz="1200" b="1" dirty="0" smtClean="0"/>
          </a:p>
        </p:txBody>
      </p:sp>
      <p:sp>
        <p:nvSpPr>
          <p:cNvPr id="12" name="직사각형 11"/>
          <p:cNvSpPr/>
          <p:nvPr/>
        </p:nvSpPr>
        <p:spPr>
          <a:xfrm>
            <a:off x="1953491" y="6229986"/>
            <a:ext cx="706582" cy="2428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 smtClean="0"/>
              <a:t>서버</a:t>
            </a:r>
            <a:r>
              <a:rPr lang="ko-KR" altLang="en-US" sz="1200" b="1" dirty="0" err="1" smtClean="0"/>
              <a:t>실</a:t>
            </a:r>
            <a:endParaRPr lang="en-US" altLang="ko-KR" sz="1200" b="1" dirty="0" smtClean="0"/>
          </a:p>
        </p:txBody>
      </p:sp>
      <p:sp>
        <p:nvSpPr>
          <p:cNvPr id="13" name="직사각형 12"/>
          <p:cNvSpPr/>
          <p:nvPr/>
        </p:nvSpPr>
        <p:spPr>
          <a:xfrm>
            <a:off x="1179022" y="1986654"/>
            <a:ext cx="1127760" cy="3972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/>
              <a:t>현재</a:t>
            </a:r>
            <a:endParaRPr lang="en-US" altLang="ko-KR" b="1" dirty="0" smtClean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702" y="3270891"/>
            <a:ext cx="3707476" cy="2389085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6353684" y="2847510"/>
            <a:ext cx="1354974" cy="36951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 smtClean="0"/>
              <a:t>건보공단</a:t>
            </a:r>
            <a:endParaRPr lang="en-US" altLang="ko-KR" b="1" dirty="0" smtClean="0"/>
          </a:p>
        </p:txBody>
      </p:sp>
      <p:sp>
        <p:nvSpPr>
          <p:cNvPr id="21" name="직사각형 20"/>
          <p:cNvSpPr/>
          <p:nvPr/>
        </p:nvSpPr>
        <p:spPr>
          <a:xfrm>
            <a:off x="6353684" y="3706488"/>
            <a:ext cx="1354974" cy="36951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/>
              <a:t>심평원</a:t>
            </a:r>
            <a:endParaRPr lang="en-US" altLang="ko-KR" b="1" dirty="0" smtClean="0"/>
          </a:p>
        </p:txBody>
      </p:sp>
      <p:sp>
        <p:nvSpPr>
          <p:cNvPr id="22" name="직사각형 21"/>
          <p:cNvSpPr/>
          <p:nvPr/>
        </p:nvSpPr>
        <p:spPr>
          <a:xfrm>
            <a:off x="6353684" y="3274231"/>
            <a:ext cx="1354974" cy="36951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 smtClean="0"/>
              <a:t>연금공단</a:t>
            </a:r>
            <a:endParaRPr lang="en-US" altLang="ko-KR" b="1" dirty="0" smtClean="0"/>
          </a:p>
        </p:txBody>
      </p:sp>
      <p:sp>
        <p:nvSpPr>
          <p:cNvPr id="23" name="직사각형 22"/>
          <p:cNvSpPr/>
          <p:nvPr/>
        </p:nvSpPr>
        <p:spPr>
          <a:xfrm>
            <a:off x="6353684" y="5321928"/>
            <a:ext cx="1354974" cy="36951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/>
              <a:t>농어촌공사</a:t>
            </a:r>
            <a:endParaRPr lang="en-US" altLang="ko-KR" b="1" dirty="0" smtClean="0"/>
          </a:p>
        </p:txBody>
      </p:sp>
      <p:sp>
        <p:nvSpPr>
          <p:cNvPr id="24" name="직사각형 23"/>
          <p:cNvSpPr/>
          <p:nvPr/>
        </p:nvSpPr>
        <p:spPr>
          <a:xfrm>
            <a:off x="6353684" y="5765274"/>
            <a:ext cx="1354974" cy="36951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/>
              <a:t>철도공사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403" y="2415145"/>
            <a:ext cx="2293171" cy="1768780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8945766" y="1986654"/>
            <a:ext cx="1127760" cy="3972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/>
              <a:t>미래</a:t>
            </a:r>
            <a:endParaRPr lang="en-US" altLang="ko-KR" b="1" dirty="0" smtClean="0"/>
          </a:p>
        </p:txBody>
      </p:sp>
      <p:cxnSp>
        <p:nvCxnSpPr>
          <p:cNvPr id="27" name="직선 연결선 26"/>
          <p:cNvCxnSpPr/>
          <p:nvPr/>
        </p:nvCxnSpPr>
        <p:spPr>
          <a:xfrm>
            <a:off x="7708658" y="3049357"/>
            <a:ext cx="1237108" cy="897101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7708658" y="3464171"/>
            <a:ext cx="1141626" cy="703821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>
            <a:stCxn id="21" idx="3"/>
          </p:cNvCxnSpPr>
          <p:nvPr/>
        </p:nvCxnSpPr>
        <p:spPr>
          <a:xfrm>
            <a:off x="7708658" y="3891247"/>
            <a:ext cx="1019705" cy="498279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V="1">
            <a:off x="7708657" y="5100394"/>
            <a:ext cx="570814" cy="40629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V="1">
            <a:off x="7708656" y="5252794"/>
            <a:ext cx="723215" cy="697238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타원 39"/>
          <p:cNvSpPr/>
          <p:nvPr/>
        </p:nvSpPr>
        <p:spPr>
          <a:xfrm>
            <a:off x="1176249" y="4480062"/>
            <a:ext cx="99753" cy="1080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1170709" y="4740527"/>
            <a:ext cx="99753" cy="1080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1170704" y="4981593"/>
            <a:ext cx="99753" cy="1080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/>
          <p:cNvSpPr/>
          <p:nvPr/>
        </p:nvSpPr>
        <p:spPr>
          <a:xfrm>
            <a:off x="6948037" y="4424643"/>
            <a:ext cx="99753" cy="1080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/>
          <p:cNvSpPr/>
          <p:nvPr/>
        </p:nvSpPr>
        <p:spPr>
          <a:xfrm>
            <a:off x="6942497" y="4685108"/>
            <a:ext cx="99753" cy="1080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/>
          <p:cNvSpPr/>
          <p:nvPr/>
        </p:nvSpPr>
        <p:spPr>
          <a:xfrm>
            <a:off x="6942492" y="4926174"/>
            <a:ext cx="99753" cy="1080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/>
          <p:cNvCxnSpPr/>
          <p:nvPr/>
        </p:nvCxnSpPr>
        <p:spPr>
          <a:xfrm>
            <a:off x="5476277" y="0"/>
            <a:ext cx="35061" cy="685800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9527783" y="5562150"/>
            <a:ext cx="1287075" cy="2428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데이터센터</a:t>
            </a:r>
            <a:endParaRPr lang="en-US" altLang="ko-KR" sz="1200" b="1" dirty="0" smtClean="0"/>
          </a:p>
        </p:txBody>
      </p:sp>
    </p:spTree>
    <p:extLst>
      <p:ext uri="{BB962C8B-B14F-4D97-AF65-F5344CB8AC3E}">
        <p14:creationId xmlns:p14="http://schemas.microsoft.com/office/powerpoint/2010/main" val="358928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706590" y="631678"/>
            <a:ext cx="570797" cy="12680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smtClean="0"/>
              <a:t>기존</a:t>
            </a:r>
            <a:endParaRPr lang="en-US" altLang="ko-KR" sz="1500" b="1" dirty="0" smtClean="0"/>
          </a:p>
        </p:txBody>
      </p:sp>
      <p:sp>
        <p:nvSpPr>
          <p:cNvPr id="2" name="오른쪽 화살표 1"/>
          <p:cNvSpPr/>
          <p:nvPr/>
        </p:nvSpPr>
        <p:spPr>
          <a:xfrm>
            <a:off x="1345267" y="707137"/>
            <a:ext cx="224442" cy="19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5" name="직사각형 4"/>
          <p:cNvSpPr/>
          <p:nvPr/>
        </p:nvSpPr>
        <p:spPr>
          <a:xfrm>
            <a:off x="1615396" y="591025"/>
            <a:ext cx="1778912" cy="4105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err="1" smtClean="0"/>
              <a:t>클라우드</a:t>
            </a:r>
            <a:r>
              <a:rPr lang="en-US" altLang="ko-KR" sz="1500" b="1" dirty="0"/>
              <a:t> </a:t>
            </a:r>
            <a:r>
              <a:rPr lang="en-US" altLang="ko-KR" sz="1500" b="1" dirty="0" smtClean="0"/>
              <a:t>(VM)</a:t>
            </a:r>
            <a:endParaRPr lang="en-US" altLang="ko-KR" sz="1500" b="1" dirty="0" smtClean="0"/>
          </a:p>
        </p:txBody>
      </p:sp>
      <p:sp>
        <p:nvSpPr>
          <p:cNvPr id="6" name="오른쪽 화살표 5"/>
          <p:cNvSpPr/>
          <p:nvPr/>
        </p:nvSpPr>
        <p:spPr>
          <a:xfrm>
            <a:off x="1345267" y="1598842"/>
            <a:ext cx="224442" cy="19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7" name="직사각형 6"/>
          <p:cNvSpPr/>
          <p:nvPr/>
        </p:nvSpPr>
        <p:spPr>
          <a:xfrm>
            <a:off x="1615396" y="1485647"/>
            <a:ext cx="1778912" cy="4105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err="1" smtClean="0"/>
              <a:t>클라우드</a:t>
            </a:r>
            <a:r>
              <a:rPr lang="en-US" altLang="ko-KR" sz="1500" b="1" dirty="0"/>
              <a:t> </a:t>
            </a:r>
            <a:r>
              <a:rPr lang="ko-KR" altLang="en-US" sz="1500" b="1" dirty="0" err="1" smtClean="0"/>
              <a:t>네이티브</a:t>
            </a:r>
            <a:endParaRPr lang="en-US" altLang="ko-KR" sz="1500" b="1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934393"/>
            <a:ext cx="752835" cy="764598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1410388" y="2748568"/>
            <a:ext cx="487659" cy="9504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업무</a:t>
            </a:r>
            <a:endParaRPr lang="en-US" altLang="ko-KR" sz="1100" b="1" dirty="0" smtClean="0"/>
          </a:p>
          <a:p>
            <a:pPr algn="ctr"/>
            <a:r>
              <a:rPr lang="en-US" altLang="ko-KR" sz="1100" b="1" dirty="0" smtClean="0"/>
              <a:t>PC</a:t>
            </a:r>
            <a:endParaRPr lang="en-US" altLang="ko-KR" sz="1100" b="1" dirty="0" smtClean="0"/>
          </a:p>
        </p:txBody>
      </p:sp>
      <p:sp>
        <p:nvSpPr>
          <p:cNvPr id="12" name="직사각형 11"/>
          <p:cNvSpPr/>
          <p:nvPr/>
        </p:nvSpPr>
        <p:spPr>
          <a:xfrm>
            <a:off x="1978430" y="3158836"/>
            <a:ext cx="307571" cy="54015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00" b="1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3331930" y="641150"/>
            <a:ext cx="20449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/>
              <a:t>(</a:t>
            </a:r>
            <a:r>
              <a:rPr lang="ko-KR" altLang="en-US" sz="1500" dirty="0" err="1" smtClean="0"/>
              <a:t>외부망</a:t>
            </a:r>
            <a:r>
              <a:rPr lang="ko-KR" altLang="en-US" sz="1500" dirty="0" smtClean="0"/>
              <a:t> </a:t>
            </a:r>
            <a:r>
              <a:rPr lang="en-US" altLang="ko-KR" sz="1500" dirty="0" smtClean="0"/>
              <a:t>PC 16,000</a:t>
            </a:r>
            <a:r>
              <a:rPr lang="ko-KR" altLang="en-US" sz="1500" dirty="0" smtClean="0"/>
              <a:t>대</a:t>
            </a:r>
            <a:r>
              <a:rPr lang="en-US" altLang="ko-KR" sz="1500" dirty="0" smtClean="0"/>
              <a:t>)</a:t>
            </a:r>
            <a:endParaRPr lang="ko-KR" altLang="en-US" sz="1500" dirty="0"/>
          </a:p>
        </p:txBody>
      </p:sp>
      <p:sp>
        <p:nvSpPr>
          <p:cNvPr id="14" name="TextBox 13"/>
          <p:cNvSpPr txBox="1"/>
          <p:nvPr/>
        </p:nvSpPr>
        <p:spPr>
          <a:xfrm>
            <a:off x="3331930" y="1530873"/>
            <a:ext cx="20449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/>
              <a:t>(</a:t>
            </a:r>
            <a:r>
              <a:rPr lang="ko-KR" altLang="en-US" sz="1500" dirty="0" err="1" smtClean="0"/>
              <a:t>전산동</a:t>
            </a:r>
            <a:r>
              <a:rPr lang="ko-KR" altLang="en-US" sz="1500" dirty="0" smtClean="0"/>
              <a:t> 서버 전체</a:t>
            </a:r>
            <a:r>
              <a:rPr lang="en-US" altLang="ko-KR" sz="1500" dirty="0" smtClean="0"/>
              <a:t>)</a:t>
            </a:r>
            <a:endParaRPr lang="ko-KR" altLang="en-US" sz="1500" dirty="0"/>
          </a:p>
        </p:txBody>
      </p:sp>
      <p:sp>
        <p:nvSpPr>
          <p:cNvPr id="15" name="TextBox 14"/>
          <p:cNvSpPr txBox="1"/>
          <p:nvPr/>
        </p:nvSpPr>
        <p:spPr>
          <a:xfrm>
            <a:off x="1904263" y="2943392"/>
            <a:ext cx="638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/>
              <a:t>외부망</a:t>
            </a:r>
            <a:r>
              <a:rPr lang="en-US" altLang="ko-KR" sz="800" dirty="0" smtClean="0"/>
              <a:t>PC</a:t>
            </a:r>
            <a:endParaRPr lang="ko-KR" altLang="en-US" sz="8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3989949"/>
            <a:ext cx="752835" cy="764598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1410388" y="3804124"/>
            <a:ext cx="487659" cy="9504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업무</a:t>
            </a:r>
            <a:endParaRPr lang="en-US" altLang="ko-KR" sz="1100" b="1" dirty="0" smtClean="0"/>
          </a:p>
          <a:p>
            <a:pPr algn="ctr"/>
            <a:r>
              <a:rPr lang="en-US" altLang="ko-KR" sz="1100" b="1" dirty="0" smtClean="0"/>
              <a:t>PC</a:t>
            </a:r>
            <a:endParaRPr lang="en-US" altLang="ko-KR" sz="1100" b="1" dirty="0" smtClean="0"/>
          </a:p>
        </p:txBody>
      </p:sp>
      <p:sp>
        <p:nvSpPr>
          <p:cNvPr id="18" name="직사각형 17"/>
          <p:cNvSpPr/>
          <p:nvPr/>
        </p:nvSpPr>
        <p:spPr>
          <a:xfrm>
            <a:off x="1978430" y="4214392"/>
            <a:ext cx="307571" cy="54015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00" b="1" dirty="0" smtClean="0"/>
          </a:p>
        </p:txBody>
      </p:sp>
      <p:sp>
        <p:nvSpPr>
          <p:cNvPr id="19" name="TextBox 18"/>
          <p:cNvSpPr txBox="1"/>
          <p:nvPr/>
        </p:nvSpPr>
        <p:spPr>
          <a:xfrm>
            <a:off x="1904263" y="3998948"/>
            <a:ext cx="638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/>
              <a:t>외부망</a:t>
            </a:r>
            <a:r>
              <a:rPr lang="en-US" altLang="ko-KR" sz="800" dirty="0" smtClean="0"/>
              <a:t>PC</a:t>
            </a:r>
            <a:endParaRPr lang="ko-KR" altLang="en-US" sz="800" dirty="0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5042562"/>
            <a:ext cx="752835" cy="764598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1410388" y="4856737"/>
            <a:ext cx="487659" cy="9504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업무</a:t>
            </a:r>
            <a:endParaRPr lang="en-US" altLang="ko-KR" sz="1100" b="1" dirty="0" smtClean="0"/>
          </a:p>
          <a:p>
            <a:pPr algn="ctr"/>
            <a:r>
              <a:rPr lang="en-US" altLang="ko-KR" sz="1100" b="1" dirty="0" smtClean="0"/>
              <a:t>PC</a:t>
            </a:r>
            <a:endParaRPr lang="en-US" altLang="ko-KR" sz="1100" b="1" dirty="0" smtClean="0"/>
          </a:p>
        </p:txBody>
      </p:sp>
      <p:sp>
        <p:nvSpPr>
          <p:cNvPr id="26" name="직사각형 25"/>
          <p:cNvSpPr/>
          <p:nvPr/>
        </p:nvSpPr>
        <p:spPr>
          <a:xfrm>
            <a:off x="1978430" y="5267005"/>
            <a:ext cx="307571" cy="54015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00" b="1" dirty="0" smtClean="0"/>
          </a:p>
        </p:txBody>
      </p:sp>
      <p:sp>
        <p:nvSpPr>
          <p:cNvPr id="27" name="TextBox 26"/>
          <p:cNvSpPr txBox="1"/>
          <p:nvPr/>
        </p:nvSpPr>
        <p:spPr>
          <a:xfrm>
            <a:off x="1904263" y="5051561"/>
            <a:ext cx="638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/>
              <a:t>외부망</a:t>
            </a:r>
            <a:r>
              <a:rPr lang="en-US" altLang="ko-KR" sz="800" dirty="0" smtClean="0"/>
              <a:t>PC</a:t>
            </a:r>
            <a:endParaRPr lang="ko-KR" altLang="en-US" sz="800" dirty="0"/>
          </a:p>
        </p:txBody>
      </p:sp>
      <p:sp>
        <p:nvSpPr>
          <p:cNvPr id="28" name="TextBox 27"/>
          <p:cNvSpPr txBox="1"/>
          <p:nvPr/>
        </p:nvSpPr>
        <p:spPr>
          <a:xfrm>
            <a:off x="706590" y="6095174"/>
            <a:ext cx="1687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직원 </a:t>
            </a:r>
            <a:r>
              <a:rPr lang="en-US" altLang="ko-KR" dirty="0" smtClean="0"/>
              <a:t>16,000</a:t>
            </a:r>
            <a:r>
              <a:rPr lang="ko-KR" altLang="en-US" dirty="0"/>
              <a:t>명</a:t>
            </a:r>
            <a:endParaRPr lang="ko-KR" altLang="en-US" dirty="0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300" y="2945479"/>
            <a:ext cx="752835" cy="764598"/>
          </a:xfrm>
          <a:prstGeom prst="rect">
            <a:avLst/>
          </a:prstGeom>
        </p:spPr>
      </p:pic>
      <p:sp>
        <p:nvSpPr>
          <p:cNvPr id="30" name="직사각형 29"/>
          <p:cNvSpPr/>
          <p:nvPr/>
        </p:nvSpPr>
        <p:spPr>
          <a:xfrm>
            <a:off x="7680940" y="2759654"/>
            <a:ext cx="487659" cy="9504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업무</a:t>
            </a:r>
            <a:endParaRPr lang="en-US" altLang="ko-KR" sz="1100" b="1" dirty="0" smtClean="0"/>
          </a:p>
          <a:p>
            <a:pPr algn="ctr"/>
            <a:r>
              <a:rPr lang="en-US" altLang="ko-KR" sz="1100" b="1" dirty="0" smtClean="0"/>
              <a:t>PC</a:t>
            </a:r>
            <a:endParaRPr lang="en-US" altLang="ko-KR" sz="1100" b="1" dirty="0" smtClean="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300" y="4001035"/>
            <a:ext cx="752835" cy="764598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7680940" y="3815210"/>
            <a:ext cx="487659" cy="9504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업무</a:t>
            </a:r>
            <a:endParaRPr lang="en-US" altLang="ko-KR" sz="1100" b="1" dirty="0" smtClean="0"/>
          </a:p>
          <a:p>
            <a:pPr algn="ctr"/>
            <a:r>
              <a:rPr lang="en-US" altLang="ko-KR" sz="1100" b="1" dirty="0" smtClean="0"/>
              <a:t>PC</a:t>
            </a:r>
            <a:endParaRPr lang="en-US" altLang="ko-KR" sz="1100" b="1" dirty="0" smtClean="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300" y="5053648"/>
            <a:ext cx="752835" cy="764598"/>
          </a:xfrm>
          <a:prstGeom prst="rect">
            <a:avLst/>
          </a:prstGeom>
        </p:spPr>
      </p:pic>
      <p:sp>
        <p:nvSpPr>
          <p:cNvPr id="38" name="직사각형 37"/>
          <p:cNvSpPr/>
          <p:nvPr/>
        </p:nvSpPr>
        <p:spPr>
          <a:xfrm>
            <a:off x="7680940" y="4867823"/>
            <a:ext cx="487659" cy="9504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업무</a:t>
            </a:r>
            <a:endParaRPr lang="en-US" altLang="ko-KR" sz="1100" b="1" dirty="0" smtClean="0"/>
          </a:p>
          <a:p>
            <a:pPr algn="ctr"/>
            <a:r>
              <a:rPr lang="en-US" altLang="ko-KR" sz="1100" b="1" dirty="0" smtClean="0"/>
              <a:t>PC</a:t>
            </a:r>
            <a:endParaRPr lang="en-US" altLang="ko-KR" sz="1100" b="1" dirty="0" smtClean="0"/>
          </a:p>
        </p:txBody>
      </p:sp>
      <p:sp>
        <p:nvSpPr>
          <p:cNvPr id="41" name="TextBox 40"/>
          <p:cNvSpPr txBox="1"/>
          <p:nvPr/>
        </p:nvSpPr>
        <p:spPr>
          <a:xfrm>
            <a:off x="6977142" y="6106260"/>
            <a:ext cx="1687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직원 </a:t>
            </a:r>
            <a:r>
              <a:rPr lang="en-US" altLang="ko-KR" dirty="0" smtClean="0"/>
              <a:t>16,000</a:t>
            </a:r>
            <a:r>
              <a:rPr lang="ko-KR" altLang="en-US" dirty="0"/>
              <a:t>명</a:t>
            </a:r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10099964" y="3466407"/>
            <a:ext cx="756417" cy="17373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 smtClean="0"/>
              <a:t>클라우드</a:t>
            </a:r>
            <a:endParaRPr lang="en-US" altLang="ko-KR" sz="1100" b="1" dirty="0" smtClean="0"/>
          </a:p>
          <a:p>
            <a:pPr algn="ctr"/>
            <a:endParaRPr lang="en-US" altLang="ko-KR" sz="1100" b="1" dirty="0" smtClean="0"/>
          </a:p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44" name="TextBox 43"/>
          <p:cNvSpPr txBox="1"/>
          <p:nvPr/>
        </p:nvSpPr>
        <p:spPr>
          <a:xfrm>
            <a:off x="10143514" y="5203767"/>
            <a:ext cx="7718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전산동</a:t>
            </a:r>
            <a:endParaRPr lang="ko-KR" altLang="en-US" sz="1200" dirty="0"/>
          </a:p>
        </p:txBody>
      </p:sp>
      <p:cxnSp>
        <p:nvCxnSpPr>
          <p:cNvPr id="45" name="직선 연결선 44"/>
          <p:cNvCxnSpPr/>
          <p:nvPr/>
        </p:nvCxnSpPr>
        <p:spPr>
          <a:xfrm>
            <a:off x="4674215" y="2186247"/>
            <a:ext cx="90457" cy="4671753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55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20" y="224444"/>
            <a:ext cx="2086496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smtClean="0"/>
              <a:t>자원 절감</a:t>
            </a:r>
            <a:endParaRPr lang="en-US" altLang="ko-KR" sz="2300" b="1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453690" y="3718061"/>
            <a:ext cx="307571" cy="54015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00" b="1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79523" y="3502617"/>
            <a:ext cx="638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/>
              <a:t>외부망</a:t>
            </a:r>
            <a:r>
              <a:rPr lang="en-US" altLang="ko-KR" sz="800" dirty="0" smtClean="0"/>
              <a:t>PC</a:t>
            </a:r>
            <a:endParaRPr lang="ko-KR" altLang="en-US" sz="800" dirty="0"/>
          </a:p>
        </p:txBody>
      </p:sp>
      <p:sp>
        <p:nvSpPr>
          <p:cNvPr id="6" name="TextBox 5"/>
          <p:cNvSpPr txBox="1"/>
          <p:nvPr/>
        </p:nvSpPr>
        <p:spPr>
          <a:xfrm>
            <a:off x="274320" y="4258214"/>
            <a:ext cx="1687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외부망</a:t>
            </a:r>
            <a:r>
              <a:rPr lang="ko-KR" altLang="en-US" dirty="0" smtClean="0"/>
              <a:t> </a:t>
            </a:r>
            <a:r>
              <a:rPr lang="en-US" altLang="ko-KR" dirty="0" smtClean="0"/>
              <a:t>PC</a:t>
            </a:r>
          </a:p>
          <a:p>
            <a:endParaRPr lang="en-US" altLang="ko-KR" sz="800" dirty="0" smtClean="0"/>
          </a:p>
          <a:p>
            <a:r>
              <a:rPr lang="en-US" altLang="ko-KR" dirty="0" smtClean="0"/>
              <a:t>16,000</a:t>
            </a:r>
            <a:r>
              <a:rPr lang="ko-KR" altLang="en-US" dirty="0" smtClean="0"/>
              <a:t>대 절감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454" y="2945479"/>
            <a:ext cx="752835" cy="76459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8695094" y="2759654"/>
            <a:ext cx="487659" cy="9504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업무</a:t>
            </a:r>
            <a:endParaRPr lang="en-US" altLang="ko-KR" sz="1100" b="1" dirty="0" smtClean="0"/>
          </a:p>
          <a:p>
            <a:pPr algn="ctr"/>
            <a:r>
              <a:rPr lang="en-US" altLang="ko-KR" sz="1100" b="1" dirty="0" smtClean="0"/>
              <a:t>PC</a:t>
            </a:r>
            <a:endParaRPr lang="en-US" altLang="ko-KR" sz="1100" b="1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454" y="4001035"/>
            <a:ext cx="752835" cy="764598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8695094" y="3815210"/>
            <a:ext cx="487659" cy="9504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업무</a:t>
            </a:r>
            <a:endParaRPr lang="en-US" altLang="ko-KR" sz="1100" b="1" dirty="0" smtClean="0"/>
          </a:p>
          <a:p>
            <a:pPr algn="ctr"/>
            <a:r>
              <a:rPr lang="en-US" altLang="ko-KR" sz="1100" b="1" dirty="0" smtClean="0"/>
              <a:t>PC</a:t>
            </a:r>
            <a:endParaRPr lang="en-US" altLang="ko-KR" sz="1100" b="1" dirty="0" smtClean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454" y="5053648"/>
            <a:ext cx="752835" cy="764598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8695094" y="4867823"/>
            <a:ext cx="487659" cy="9504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업무</a:t>
            </a:r>
            <a:endParaRPr lang="en-US" altLang="ko-KR" sz="1100" b="1" dirty="0" smtClean="0"/>
          </a:p>
          <a:p>
            <a:pPr algn="ctr"/>
            <a:r>
              <a:rPr lang="en-US" altLang="ko-KR" sz="1100" b="1" dirty="0" smtClean="0"/>
              <a:t>PC</a:t>
            </a:r>
            <a:endParaRPr lang="en-US" altLang="ko-KR" sz="1100" b="1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7991296" y="6106260"/>
            <a:ext cx="1687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직원 </a:t>
            </a:r>
            <a:r>
              <a:rPr lang="en-US" altLang="ko-KR" dirty="0" smtClean="0"/>
              <a:t>16,000</a:t>
            </a:r>
            <a:r>
              <a:rPr lang="ko-KR" altLang="en-US" dirty="0"/>
              <a:t>명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0440786" y="3466407"/>
            <a:ext cx="756417" cy="17373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0" b="1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10740044" y="2683637"/>
            <a:ext cx="1546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VM 3,000</a:t>
            </a:r>
            <a:r>
              <a:rPr lang="ko-KR" altLang="en-US" sz="1200" dirty="0" smtClean="0"/>
              <a:t>개로 분해</a:t>
            </a:r>
            <a:endParaRPr lang="ko-KR" altLang="en-US" sz="12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5733" y="3604626"/>
            <a:ext cx="706522" cy="1034184"/>
          </a:xfrm>
          <a:prstGeom prst="rect">
            <a:avLst/>
          </a:prstGeom>
        </p:spPr>
      </p:pic>
      <p:cxnSp>
        <p:nvCxnSpPr>
          <p:cNvPr id="18" name="직선 연결선 17"/>
          <p:cNvCxnSpPr/>
          <p:nvPr/>
        </p:nvCxnSpPr>
        <p:spPr>
          <a:xfrm flipH="1">
            <a:off x="11055928" y="2945479"/>
            <a:ext cx="141275" cy="764597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1205349" y="2659204"/>
            <a:ext cx="147550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500" dirty="0"/>
              <a:t>CPU: </a:t>
            </a:r>
            <a:r>
              <a:rPr lang="en-US" altLang="ko-KR" sz="1500" dirty="0" smtClean="0"/>
              <a:t>1</a:t>
            </a:r>
            <a:r>
              <a:rPr lang="ko-KR" altLang="en-US" sz="1500" dirty="0" smtClean="0"/>
              <a:t>코어</a:t>
            </a:r>
            <a:endParaRPr lang="ko-KR" altLang="en-US" sz="1500" dirty="0"/>
          </a:p>
          <a:p>
            <a:r>
              <a:rPr lang="ko-KR" altLang="en-US" sz="1500" dirty="0"/>
              <a:t>램</a:t>
            </a:r>
            <a:r>
              <a:rPr lang="en-US" altLang="ko-KR" sz="1500" dirty="0"/>
              <a:t>: 4GB</a:t>
            </a:r>
          </a:p>
          <a:p>
            <a:r>
              <a:rPr lang="ko-KR" altLang="en-US" sz="1500" dirty="0"/>
              <a:t>디스크</a:t>
            </a:r>
            <a:r>
              <a:rPr lang="en-US" altLang="ko-KR" sz="1500" dirty="0"/>
              <a:t>: 256GB</a:t>
            </a:r>
            <a:endParaRPr lang="ko-KR" altLang="en-US" sz="1500" dirty="0"/>
          </a:p>
        </p:txBody>
      </p:sp>
      <p:sp>
        <p:nvSpPr>
          <p:cNvPr id="22" name="모서리가 둥근 사각형 설명선 21"/>
          <p:cNvSpPr/>
          <p:nvPr/>
        </p:nvSpPr>
        <p:spPr>
          <a:xfrm>
            <a:off x="1118057" y="2576764"/>
            <a:ext cx="1596043" cy="1027862"/>
          </a:xfrm>
          <a:prstGeom prst="wedgeRoundRectCallout">
            <a:avLst>
              <a:gd name="adj1" fmla="val -71944"/>
              <a:gd name="adj2" fmla="val 75632"/>
              <a:gd name="adj3" fmla="val 1666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/>
          <p:nvPr/>
        </p:nvCxnSpPr>
        <p:spPr>
          <a:xfrm>
            <a:off x="3110936" y="723207"/>
            <a:ext cx="11154" cy="6134793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5120247" y="1018713"/>
            <a:ext cx="137199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CPU: </a:t>
            </a:r>
            <a:r>
              <a:rPr lang="en-US" altLang="ko-KR" sz="1200" dirty="0" smtClean="0"/>
              <a:t>16,000</a:t>
            </a:r>
            <a:r>
              <a:rPr lang="ko-KR" altLang="en-US" sz="1200" dirty="0" smtClean="0"/>
              <a:t>코어</a:t>
            </a:r>
            <a:endParaRPr lang="ko-KR" altLang="en-US" sz="1200" dirty="0"/>
          </a:p>
          <a:p>
            <a:endParaRPr lang="en-US" altLang="ko-KR" sz="300" dirty="0" smtClean="0"/>
          </a:p>
          <a:p>
            <a:r>
              <a:rPr lang="ko-KR" altLang="en-US" sz="1200" dirty="0" smtClean="0"/>
              <a:t>램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64,000GB</a:t>
            </a:r>
          </a:p>
          <a:p>
            <a:endParaRPr lang="en-US" altLang="ko-KR" sz="300" dirty="0"/>
          </a:p>
          <a:p>
            <a:r>
              <a:rPr lang="ko-KR" altLang="en-US" sz="1200" dirty="0"/>
              <a:t>디스크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4,000TB</a:t>
            </a:r>
            <a:endParaRPr lang="ko-KR" alt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3771561" y="1018713"/>
            <a:ext cx="1473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16,000</a:t>
            </a:r>
            <a:r>
              <a:rPr lang="ko-KR" altLang="en-US" b="1" dirty="0" smtClean="0"/>
              <a:t>명 분</a:t>
            </a:r>
            <a:endParaRPr lang="ko-KR" alt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3816400" y="4084980"/>
            <a:ext cx="1473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3,000</a:t>
            </a:r>
            <a:r>
              <a:rPr lang="ko-KR" altLang="en-US" b="1" dirty="0" smtClean="0"/>
              <a:t>명 분</a:t>
            </a:r>
            <a:endParaRPr lang="ko-KR" altLang="en-US" b="1" dirty="0"/>
          </a:p>
        </p:txBody>
      </p:sp>
      <p:sp>
        <p:nvSpPr>
          <p:cNvPr id="29" name="직사각형 28"/>
          <p:cNvSpPr/>
          <p:nvPr/>
        </p:nvSpPr>
        <p:spPr>
          <a:xfrm>
            <a:off x="5046504" y="4049105"/>
            <a:ext cx="137199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CPU: </a:t>
            </a:r>
            <a:r>
              <a:rPr lang="en-US" altLang="ko-KR" sz="1200" dirty="0" smtClean="0"/>
              <a:t>3,000</a:t>
            </a:r>
            <a:r>
              <a:rPr lang="ko-KR" altLang="en-US" sz="1200" dirty="0" smtClean="0"/>
              <a:t>코어</a:t>
            </a:r>
            <a:endParaRPr lang="ko-KR" altLang="en-US" sz="1200" dirty="0"/>
          </a:p>
          <a:p>
            <a:endParaRPr lang="en-US" altLang="ko-KR" sz="300" dirty="0" smtClean="0"/>
          </a:p>
          <a:p>
            <a:r>
              <a:rPr lang="ko-KR" altLang="en-US" sz="1200" dirty="0" smtClean="0"/>
              <a:t>램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12,000GB</a:t>
            </a:r>
          </a:p>
          <a:p>
            <a:endParaRPr lang="en-US" altLang="ko-KR" sz="300" dirty="0"/>
          </a:p>
          <a:p>
            <a:r>
              <a:rPr lang="ko-KR" altLang="en-US" sz="1200" dirty="0"/>
              <a:t>디스크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768TB</a:t>
            </a:r>
            <a:endParaRPr lang="ko-KR" altLang="en-US" sz="1200" dirty="0"/>
          </a:p>
        </p:txBody>
      </p:sp>
      <p:sp>
        <p:nvSpPr>
          <p:cNvPr id="30" name="오른쪽 화살표 29"/>
          <p:cNvSpPr/>
          <p:nvPr/>
        </p:nvSpPr>
        <p:spPr>
          <a:xfrm rot="5400000">
            <a:off x="3203488" y="2405761"/>
            <a:ext cx="2556345" cy="661504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31" name="직사각형 30"/>
          <p:cNvSpPr/>
          <p:nvPr/>
        </p:nvSpPr>
        <p:spPr>
          <a:xfrm>
            <a:off x="4580993" y="2498972"/>
            <a:ext cx="1441901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dirty="0" err="1" smtClean="0"/>
              <a:t>클라우드</a:t>
            </a:r>
            <a:r>
              <a:rPr lang="ko-KR" altLang="en-US" sz="1500" dirty="0" smtClean="0"/>
              <a:t> 전</a:t>
            </a:r>
            <a:r>
              <a:rPr lang="ko-KR" altLang="en-US" sz="1500" dirty="0" smtClean="0"/>
              <a:t>환</a:t>
            </a:r>
            <a:endParaRPr lang="ko-KR" altLang="en-US" sz="1500" dirty="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330" y="5635334"/>
            <a:ext cx="706522" cy="1034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186751" y="5400937"/>
            <a:ext cx="1546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VM 3,000</a:t>
            </a:r>
            <a:r>
              <a:rPr lang="ko-KR" altLang="en-US" sz="1200" dirty="0" smtClean="0"/>
              <a:t>개로 분해</a:t>
            </a:r>
            <a:endParaRPr lang="ko-KR" altLang="en-US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3662864" y="6013927"/>
            <a:ext cx="7322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/>
              <a:t>VM 1</a:t>
            </a:r>
            <a:r>
              <a:rPr lang="ko-KR" altLang="en-US" sz="1200" b="1" dirty="0" smtClean="0"/>
              <a:t>개</a:t>
            </a:r>
            <a:endParaRPr lang="ko-KR" alt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264825" y="6019372"/>
            <a:ext cx="1022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CPU: 1</a:t>
            </a:r>
            <a:r>
              <a:rPr lang="ko-KR" altLang="en-US" sz="1000" dirty="0" smtClean="0"/>
              <a:t>코어</a:t>
            </a:r>
            <a:endParaRPr lang="en-US" altLang="ko-KR" sz="1000" dirty="0" smtClean="0"/>
          </a:p>
          <a:p>
            <a:endParaRPr lang="en-US" altLang="ko-KR" sz="300" dirty="0"/>
          </a:p>
          <a:p>
            <a:r>
              <a:rPr lang="ko-KR" altLang="en-US" sz="1000" dirty="0" smtClean="0"/>
              <a:t>램</a:t>
            </a:r>
            <a:r>
              <a:rPr lang="en-US" altLang="ko-KR" sz="1000" dirty="0" smtClean="0"/>
              <a:t>: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4GB</a:t>
            </a:r>
          </a:p>
          <a:p>
            <a:endParaRPr lang="en-US" altLang="ko-KR" sz="300" dirty="0"/>
          </a:p>
          <a:p>
            <a:r>
              <a:rPr lang="ko-KR" altLang="en-US" sz="1000" dirty="0" smtClean="0"/>
              <a:t>디스크</a:t>
            </a:r>
            <a:r>
              <a:rPr lang="en-US" altLang="ko-KR" sz="1000" dirty="0" smtClean="0"/>
              <a:t>: 256GB</a:t>
            </a:r>
            <a:endParaRPr lang="ko-KR" altLang="en-US" sz="1000" dirty="0"/>
          </a:p>
        </p:txBody>
      </p:sp>
      <p:cxnSp>
        <p:nvCxnSpPr>
          <p:cNvPr id="37" name="직선 연결선 36"/>
          <p:cNvCxnSpPr/>
          <p:nvPr/>
        </p:nvCxnSpPr>
        <p:spPr>
          <a:xfrm>
            <a:off x="7236125" y="726166"/>
            <a:ext cx="11154" cy="6134793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709502" y="657873"/>
            <a:ext cx="1230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외부망</a:t>
            </a:r>
            <a:r>
              <a:rPr lang="ko-KR" altLang="en-US" dirty="0" smtClean="0"/>
              <a:t> </a:t>
            </a:r>
            <a:r>
              <a:rPr lang="en-US" altLang="ko-KR" dirty="0" smtClean="0"/>
              <a:t>PC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181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20" y="224444"/>
            <a:ext cx="2086496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smtClean="0"/>
              <a:t>자원 절감</a:t>
            </a:r>
            <a:endParaRPr lang="en-US" altLang="ko-KR" sz="2300" b="1" dirty="0" smtClean="0"/>
          </a:p>
        </p:txBody>
      </p:sp>
      <p:sp>
        <p:nvSpPr>
          <p:cNvPr id="28" name="TextBox 27"/>
          <p:cNvSpPr txBox="1"/>
          <p:nvPr/>
        </p:nvSpPr>
        <p:spPr>
          <a:xfrm>
            <a:off x="836192" y="2209136"/>
            <a:ext cx="1473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3,000</a:t>
            </a:r>
            <a:r>
              <a:rPr lang="ko-KR" altLang="en-US" b="1" dirty="0" smtClean="0"/>
              <a:t>명 분</a:t>
            </a:r>
            <a:endParaRPr lang="ko-KR" altLang="en-US" b="1" dirty="0"/>
          </a:p>
        </p:txBody>
      </p:sp>
      <p:sp>
        <p:nvSpPr>
          <p:cNvPr id="29" name="직사각형 28"/>
          <p:cNvSpPr/>
          <p:nvPr/>
        </p:nvSpPr>
        <p:spPr>
          <a:xfrm>
            <a:off x="2066296" y="2173261"/>
            <a:ext cx="137199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CPU: </a:t>
            </a:r>
            <a:r>
              <a:rPr lang="en-US" altLang="ko-KR" sz="1200" dirty="0" smtClean="0"/>
              <a:t>3,000</a:t>
            </a:r>
            <a:r>
              <a:rPr lang="ko-KR" altLang="en-US" sz="1200" dirty="0" smtClean="0"/>
              <a:t>코어</a:t>
            </a:r>
            <a:endParaRPr lang="ko-KR" altLang="en-US" sz="1200" dirty="0"/>
          </a:p>
          <a:p>
            <a:endParaRPr lang="en-US" altLang="ko-KR" sz="300" dirty="0" smtClean="0"/>
          </a:p>
          <a:p>
            <a:r>
              <a:rPr lang="ko-KR" altLang="en-US" sz="1200" dirty="0" smtClean="0"/>
              <a:t>램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12,000GB</a:t>
            </a:r>
          </a:p>
          <a:p>
            <a:endParaRPr lang="en-US" altLang="ko-KR" sz="300" dirty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디스크</a:t>
            </a:r>
            <a:r>
              <a:rPr lang="en-US" altLang="ko-KR" sz="1400" dirty="0"/>
              <a:t>: </a:t>
            </a:r>
            <a:r>
              <a:rPr lang="en-US" altLang="ko-KR" sz="1400" dirty="0" smtClean="0"/>
              <a:t>768TB</a:t>
            </a:r>
            <a:endParaRPr lang="ko-KR" altLang="en-US" sz="1400" dirty="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06" y="5224983"/>
            <a:ext cx="706522" cy="1034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93212" y="4947984"/>
            <a:ext cx="1546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VM 3,000</a:t>
            </a:r>
            <a:r>
              <a:rPr lang="ko-KR" altLang="en-US" sz="1200" dirty="0" smtClean="0"/>
              <a:t>개로 분해</a:t>
            </a:r>
            <a:endParaRPr lang="ko-KR" altLang="en-US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44040" y="5603576"/>
            <a:ext cx="7322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/>
              <a:t>VM 1</a:t>
            </a:r>
            <a:r>
              <a:rPr lang="ko-KR" altLang="en-US" sz="1200" b="1" dirty="0" smtClean="0"/>
              <a:t>개</a:t>
            </a:r>
            <a:endParaRPr lang="ko-KR" alt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646001" y="5609021"/>
            <a:ext cx="10227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CPU: 1</a:t>
            </a:r>
            <a:r>
              <a:rPr lang="ko-KR" altLang="en-US" sz="1000" dirty="0" smtClean="0"/>
              <a:t>코어</a:t>
            </a:r>
            <a:endParaRPr lang="en-US" altLang="ko-KR" sz="1000" dirty="0" smtClean="0"/>
          </a:p>
          <a:p>
            <a:endParaRPr lang="en-US" altLang="ko-KR" sz="300" dirty="0"/>
          </a:p>
          <a:p>
            <a:r>
              <a:rPr lang="ko-KR" altLang="en-US" sz="1000" dirty="0" smtClean="0"/>
              <a:t>램</a:t>
            </a:r>
            <a:r>
              <a:rPr lang="en-US" altLang="ko-KR" sz="1000" dirty="0" smtClean="0"/>
              <a:t>: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4GB</a:t>
            </a:r>
          </a:p>
          <a:p>
            <a:endParaRPr lang="en-US" altLang="ko-KR" sz="300" dirty="0"/>
          </a:p>
          <a:p>
            <a:r>
              <a:rPr lang="ko-KR" altLang="en-US" sz="1000" dirty="0" smtClean="0"/>
              <a:t>디스크</a:t>
            </a:r>
            <a:r>
              <a:rPr lang="en-US" altLang="ko-KR" sz="1000" dirty="0" smtClean="0"/>
              <a:t>: 256GB</a:t>
            </a:r>
          </a:p>
          <a:p>
            <a:endParaRPr lang="en-US" altLang="ko-KR" sz="1000" dirty="0"/>
          </a:p>
          <a:p>
            <a:r>
              <a:rPr lang="ko-KR" altLang="en-US" sz="1000" dirty="0" smtClean="0"/>
              <a:t>윈도우</a:t>
            </a:r>
            <a:r>
              <a:rPr lang="en-US" altLang="ko-KR" sz="1000" dirty="0" smtClean="0"/>
              <a:t>1</a:t>
            </a:r>
            <a:r>
              <a:rPr lang="ko-KR" altLang="en-US" sz="1000" dirty="0" smtClean="0"/>
              <a:t>개</a:t>
            </a:r>
            <a:endParaRPr lang="ko-KR" altLang="en-US" sz="1000" dirty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4946081" y="1326222"/>
            <a:ext cx="2718262" cy="1026279"/>
          </a:xfrm>
          <a:prstGeom prst="roundRect">
            <a:avLst>
              <a:gd name="adj" fmla="val 4038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4946080" y="997248"/>
            <a:ext cx="15046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smtClean="0"/>
              <a:t>컴퓨팅 </a:t>
            </a:r>
            <a:r>
              <a:rPr lang="ko-KR" altLang="en-US" sz="1500" dirty="0" err="1" smtClean="0"/>
              <a:t>서버군</a:t>
            </a:r>
            <a:endParaRPr lang="ko-KR" altLang="en-US" sz="1500" dirty="0"/>
          </a:p>
        </p:txBody>
      </p:sp>
      <p:sp>
        <p:nvSpPr>
          <p:cNvPr id="38" name="직사각형 37"/>
          <p:cNvSpPr/>
          <p:nvPr/>
        </p:nvSpPr>
        <p:spPr>
          <a:xfrm>
            <a:off x="5108894" y="1455115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39" name="직사각형 38"/>
          <p:cNvSpPr/>
          <p:nvPr/>
        </p:nvSpPr>
        <p:spPr>
          <a:xfrm>
            <a:off x="5507484" y="1455115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40" name="직사각형 39"/>
          <p:cNvSpPr/>
          <p:nvPr/>
        </p:nvSpPr>
        <p:spPr>
          <a:xfrm>
            <a:off x="5906074" y="1455115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41" name="직사각형 40"/>
          <p:cNvSpPr/>
          <p:nvPr/>
        </p:nvSpPr>
        <p:spPr>
          <a:xfrm>
            <a:off x="6332974" y="1455115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43" name="직사각형 42"/>
          <p:cNvSpPr/>
          <p:nvPr/>
        </p:nvSpPr>
        <p:spPr>
          <a:xfrm>
            <a:off x="6731564" y="1455114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44" name="직사각형 43"/>
          <p:cNvSpPr/>
          <p:nvPr/>
        </p:nvSpPr>
        <p:spPr>
          <a:xfrm>
            <a:off x="7142409" y="1455114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45" name="TextBox 44"/>
          <p:cNvSpPr txBox="1"/>
          <p:nvPr/>
        </p:nvSpPr>
        <p:spPr>
          <a:xfrm>
            <a:off x="5130273" y="2793669"/>
            <a:ext cx="161441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스토리지 </a:t>
            </a:r>
            <a:r>
              <a:rPr lang="ko-KR" altLang="en-US" sz="1500" dirty="0" err="1" smtClean="0"/>
              <a:t>서버군</a:t>
            </a:r>
            <a:endParaRPr lang="ko-KR" altLang="en-US" sz="1500" dirty="0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5257241" y="3116834"/>
            <a:ext cx="994703" cy="1026279"/>
          </a:xfrm>
          <a:prstGeom prst="roundRect">
            <a:avLst>
              <a:gd name="adj" fmla="val 4038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5420054" y="3245727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49" name="직사각형 48"/>
          <p:cNvSpPr/>
          <p:nvPr/>
        </p:nvSpPr>
        <p:spPr>
          <a:xfrm>
            <a:off x="5818644" y="3245727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3241972" y="1187512"/>
            <a:ext cx="1786570" cy="107952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 flipH="1">
            <a:off x="3081465" y="1261819"/>
            <a:ext cx="1998501" cy="1296162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stCxn id="45" idx="1"/>
          </p:cNvCxnSpPr>
          <p:nvPr/>
        </p:nvCxnSpPr>
        <p:spPr>
          <a:xfrm flipH="1">
            <a:off x="3321335" y="2955252"/>
            <a:ext cx="1808938" cy="30556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오른쪽 화살표 64"/>
          <p:cNvSpPr/>
          <p:nvPr/>
        </p:nvSpPr>
        <p:spPr>
          <a:xfrm>
            <a:off x="2502772" y="5395252"/>
            <a:ext cx="1220118" cy="661504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cxnSp>
        <p:nvCxnSpPr>
          <p:cNvPr id="66" name="직선 연결선 65"/>
          <p:cNvCxnSpPr/>
          <p:nvPr/>
        </p:nvCxnSpPr>
        <p:spPr>
          <a:xfrm>
            <a:off x="7937813" y="0"/>
            <a:ext cx="45964" cy="685800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8298341" y="199504"/>
            <a:ext cx="1528602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err="1" smtClean="0"/>
              <a:t>하이퍼바이저</a:t>
            </a:r>
            <a:endParaRPr lang="en-US" altLang="ko-KR" sz="1500" b="1" dirty="0" smtClean="0"/>
          </a:p>
        </p:txBody>
      </p:sp>
      <p:sp>
        <p:nvSpPr>
          <p:cNvPr id="72" name="TextBox 71"/>
          <p:cNvSpPr txBox="1"/>
          <p:nvPr/>
        </p:nvSpPr>
        <p:spPr>
          <a:xfrm>
            <a:off x="44040" y="6540552"/>
            <a:ext cx="2419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/>
              <a:t>VM: </a:t>
            </a:r>
            <a:r>
              <a:rPr lang="en-US" altLang="ko-KR" sz="1200" dirty="0" smtClean="0"/>
              <a:t>Virtual Machine (</a:t>
            </a:r>
            <a:r>
              <a:rPr lang="ko-KR" altLang="en-US" sz="1200" dirty="0" err="1" smtClean="0"/>
              <a:t>가상머신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75" name="TextBox 74"/>
          <p:cNvSpPr txBox="1"/>
          <p:nvPr/>
        </p:nvSpPr>
        <p:spPr>
          <a:xfrm>
            <a:off x="8354233" y="641036"/>
            <a:ext cx="33964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/>
              <a:t>1</a:t>
            </a:r>
            <a:r>
              <a:rPr lang="ko-KR" altLang="en-US" sz="1500" dirty="0" smtClean="0"/>
              <a:t>개의 </a:t>
            </a:r>
            <a:r>
              <a:rPr lang="ko-KR" altLang="en-US" sz="1500" dirty="0" err="1" smtClean="0"/>
              <a:t>클라우드로</a:t>
            </a:r>
            <a:r>
              <a:rPr lang="ko-KR" altLang="en-US" sz="1500" dirty="0" smtClean="0"/>
              <a:t> 합쳐서</a:t>
            </a:r>
            <a:endParaRPr lang="en-US" altLang="ko-KR" sz="1500" dirty="0" smtClean="0"/>
          </a:p>
          <a:p>
            <a:endParaRPr lang="en-US" altLang="ko-KR" sz="800" dirty="0"/>
          </a:p>
          <a:p>
            <a:r>
              <a:rPr lang="en-US" altLang="ko-KR" sz="1500" dirty="0" smtClean="0"/>
              <a:t>3,000</a:t>
            </a:r>
            <a:r>
              <a:rPr lang="ko-KR" altLang="en-US" sz="1500" dirty="0" smtClean="0"/>
              <a:t>대의 </a:t>
            </a:r>
            <a:r>
              <a:rPr lang="en-US" altLang="ko-KR" sz="1500" dirty="0" smtClean="0"/>
              <a:t>VM</a:t>
            </a:r>
            <a:r>
              <a:rPr lang="ko-KR" altLang="en-US" sz="1500" dirty="0" err="1" smtClean="0"/>
              <a:t>으로</a:t>
            </a:r>
            <a:r>
              <a:rPr lang="ko-KR" altLang="en-US" sz="1500" dirty="0" smtClean="0"/>
              <a:t> 분할</a:t>
            </a:r>
            <a:endParaRPr lang="en-US" altLang="ko-KR" sz="1500" dirty="0" smtClean="0"/>
          </a:p>
          <a:p>
            <a:endParaRPr lang="en-US" altLang="ko-KR" sz="1500" dirty="0"/>
          </a:p>
          <a:p>
            <a:r>
              <a:rPr lang="ko-KR" altLang="en-US" sz="1500" dirty="0" smtClean="0"/>
              <a:t>       각 </a:t>
            </a:r>
            <a:r>
              <a:rPr lang="en-US" altLang="ko-KR" sz="1500" dirty="0" smtClean="0"/>
              <a:t>VM</a:t>
            </a:r>
            <a:r>
              <a:rPr lang="ko-KR" altLang="en-US" sz="1500" dirty="0" smtClean="0"/>
              <a:t>은</a:t>
            </a:r>
            <a:r>
              <a:rPr lang="en-US" altLang="ko-KR" sz="1500" dirty="0"/>
              <a:t> </a:t>
            </a:r>
            <a:r>
              <a:rPr lang="en-US" altLang="ko-KR" sz="1500" dirty="0" smtClean="0"/>
              <a:t>[CPU, </a:t>
            </a:r>
            <a:r>
              <a:rPr lang="ko-KR" altLang="en-US" sz="1500" dirty="0" smtClean="0"/>
              <a:t>램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디스크</a:t>
            </a:r>
            <a:r>
              <a:rPr lang="en-US" altLang="ko-KR" sz="1500" dirty="0" smtClean="0"/>
              <a:t>]</a:t>
            </a:r>
            <a:r>
              <a:rPr lang="ko-KR" altLang="en-US" sz="1500" dirty="0" smtClean="0"/>
              <a:t> 보유</a:t>
            </a:r>
            <a:endParaRPr lang="ko-KR" altLang="en-US" sz="1500" dirty="0"/>
          </a:p>
        </p:txBody>
      </p:sp>
      <p:sp>
        <p:nvSpPr>
          <p:cNvPr id="77" name="오른쪽 화살표 76"/>
          <p:cNvSpPr/>
          <p:nvPr/>
        </p:nvSpPr>
        <p:spPr>
          <a:xfrm>
            <a:off x="8572435" y="1533993"/>
            <a:ext cx="224442" cy="19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877" y="2820008"/>
            <a:ext cx="600075" cy="676275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331803" y="2794795"/>
            <a:ext cx="199908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업체 엔지니어가</a:t>
            </a:r>
            <a:endParaRPr lang="en-US" altLang="ko-KR" sz="1200" dirty="0" smtClean="0"/>
          </a:p>
          <a:p>
            <a:endParaRPr lang="en-US" altLang="ko-KR" sz="500" dirty="0" smtClean="0"/>
          </a:p>
          <a:p>
            <a:r>
              <a:rPr lang="ko-KR" altLang="en-US" sz="1200" dirty="0" smtClean="0"/>
              <a:t>각 </a:t>
            </a:r>
            <a:r>
              <a:rPr lang="en-US" altLang="ko-KR" sz="1200" dirty="0" smtClean="0"/>
              <a:t>VM</a:t>
            </a:r>
            <a:r>
              <a:rPr lang="ko-KR" altLang="en-US" sz="1200" dirty="0" smtClean="0"/>
              <a:t>에 </a:t>
            </a:r>
            <a:r>
              <a:rPr lang="en-US" altLang="ko-KR" sz="1200" dirty="0" smtClean="0"/>
              <a:t>Guest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OS </a:t>
            </a:r>
            <a:r>
              <a:rPr lang="ko-KR" altLang="en-US" sz="1200" dirty="0" smtClean="0"/>
              <a:t>설치</a:t>
            </a:r>
            <a:endParaRPr lang="en-US" altLang="ko-KR" sz="1200" dirty="0" smtClean="0"/>
          </a:p>
          <a:p>
            <a:endParaRPr lang="en-US" altLang="ko-KR" sz="500" dirty="0"/>
          </a:p>
          <a:p>
            <a:r>
              <a:rPr lang="en-US" altLang="ko-KR" sz="1200" dirty="0" smtClean="0"/>
              <a:t>            (</a:t>
            </a:r>
            <a:r>
              <a:rPr lang="ko-KR" altLang="en-US" sz="1200" dirty="0" smtClean="0"/>
              <a:t>윈도우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구름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82" name="오른쪽 화살표 81"/>
          <p:cNvSpPr/>
          <p:nvPr/>
        </p:nvSpPr>
        <p:spPr>
          <a:xfrm rot="5400000">
            <a:off x="753591" y="3504805"/>
            <a:ext cx="2210103" cy="661504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pic>
        <p:nvPicPr>
          <p:cNvPr id="83" name="그림 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719" y="5216858"/>
            <a:ext cx="493653" cy="501366"/>
          </a:xfrm>
          <a:prstGeom prst="rect">
            <a:avLst/>
          </a:prstGeom>
        </p:spPr>
      </p:pic>
      <p:pic>
        <p:nvPicPr>
          <p:cNvPr id="84" name="그림 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771" y="5212663"/>
            <a:ext cx="493653" cy="501366"/>
          </a:xfrm>
          <a:prstGeom prst="rect">
            <a:avLst/>
          </a:prstGeom>
        </p:spPr>
      </p:pic>
      <p:pic>
        <p:nvPicPr>
          <p:cNvPr id="85" name="그림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652" y="5212663"/>
            <a:ext cx="493653" cy="501366"/>
          </a:xfrm>
          <a:prstGeom prst="rect">
            <a:avLst/>
          </a:prstGeom>
        </p:spPr>
      </p:pic>
      <p:pic>
        <p:nvPicPr>
          <p:cNvPr id="86" name="그림 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719" y="5754999"/>
            <a:ext cx="493653" cy="501366"/>
          </a:xfrm>
          <a:prstGeom prst="rect">
            <a:avLst/>
          </a:prstGeom>
        </p:spPr>
      </p:pic>
      <p:pic>
        <p:nvPicPr>
          <p:cNvPr id="87" name="그림 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771" y="5750804"/>
            <a:ext cx="493653" cy="501366"/>
          </a:xfrm>
          <a:prstGeom prst="rect">
            <a:avLst/>
          </a:prstGeom>
        </p:spPr>
      </p:pic>
      <p:pic>
        <p:nvPicPr>
          <p:cNvPr id="88" name="그림 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652" y="5750804"/>
            <a:ext cx="493653" cy="50136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3670065" y="6254737"/>
            <a:ext cx="322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직원 </a:t>
            </a:r>
            <a:r>
              <a:rPr lang="en-US" altLang="ko-KR" sz="1200" b="1" dirty="0" smtClean="0"/>
              <a:t>16,000</a:t>
            </a:r>
            <a:r>
              <a:rPr lang="ko-KR" altLang="en-US" sz="1200" b="1" dirty="0" smtClean="0"/>
              <a:t>명이 사용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동시 접속 </a:t>
            </a:r>
            <a:r>
              <a:rPr lang="en-US" altLang="ko-KR" sz="1200" dirty="0" smtClean="0"/>
              <a:t>3,000</a:t>
            </a:r>
            <a:r>
              <a:rPr lang="ko-KR" altLang="en-US" sz="1200" dirty="0" smtClean="0"/>
              <a:t>명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pic>
        <p:nvPicPr>
          <p:cNvPr id="92" name="그림 9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1739" y="3995870"/>
            <a:ext cx="290512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8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877" y="2820008"/>
            <a:ext cx="600075" cy="676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31803" y="2794795"/>
            <a:ext cx="199908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업체 엔지니어가</a:t>
            </a:r>
            <a:endParaRPr lang="en-US" altLang="ko-KR" sz="1200" dirty="0" smtClean="0"/>
          </a:p>
          <a:p>
            <a:endParaRPr lang="en-US" altLang="ko-KR" sz="500" dirty="0" smtClean="0"/>
          </a:p>
          <a:p>
            <a:r>
              <a:rPr lang="ko-KR" altLang="en-US" sz="1200" dirty="0" smtClean="0"/>
              <a:t>각 </a:t>
            </a:r>
            <a:r>
              <a:rPr lang="en-US" altLang="ko-KR" sz="1200" dirty="0" smtClean="0"/>
              <a:t>VM</a:t>
            </a:r>
            <a:r>
              <a:rPr lang="ko-KR" altLang="en-US" sz="1200" dirty="0" smtClean="0"/>
              <a:t>에 </a:t>
            </a:r>
            <a:r>
              <a:rPr lang="en-US" altLang="ko-KR" sz="1200" dirty="0" smtClean="0"/>
              <a:t>Guest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OS </a:t>
            </a:r>
            <a:r>
              <a:rPr lang="ko-KR" altLang="en-US" sz="1200" dirty="0" smtClean="0"/>
              <a:t>설치</a:t>
            </a:r>
            <a:endParaRPr lang="en-US" altLang="ko-KR" sz="1200" dirty="0" smtClean="0"/>
          </a:p>
          <a:p>
            <a:endParaRPr lang="en-US" altLang="ko-KR" sz="500" dirty="0"/>
          </a:p>
          <a:p>
            <a:r>
              <a:rPr lang="en-US" altLang="ko-KR" sz="1200" dirty="0" smtClean="0"/>
              <a:t>            (</a:t>
            </a:r>
            <a:r>
              <a:rPr lang="ko-KR" altLang="en-US" sz="1200" dirty="0" smtClean="0"/>
              <a:t>윈도우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구름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739" y="3995870"/>
            <a:ext cx="2905125" cy="2181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90012" y="841303"/>
            <a:ext cx="41480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램</a:t>
            </a:r>
            <a:r>
              <a:rPr lang="en-US" altLang="ko-KR" dirty="0" smtClean="0"/>
              <a:t>, </a:t>
            </a:r>
            <a:r>
              <a:rPr lang="ko-KR" altLang="en-US" dirty="0" smtClean="0"/>
              <a:t>디스</a:t>
            </a:r>
            <a:r>
              <a:rPr lang="ko-KR" altLang="en-US" dirty="0" smtClean="0"/>
              <a:t>크</a:t>
            </a:r>
            <a:r>
              <a:rPr lang="ko-KR" altLang="en-US" dirty="0" smtClean="0"/>
              <a:t> 낭비</a:t>
            </a:r>
            <a:r>
              <a:rPr lang="en-US" altLang="ko-KR" dirty="0" smtClean="0"/>
              <a:t>: </a:t>
            </a:r>
            <a:r>
              <a:rPr lang="ko-KR" altLang="en-US" dirty="0" smtClean="0"/>
              <a:t>윈도우 </a:t>
            </a:r>
            <a:r>
              <a:rPr lang="en-US" altLang="ko-KR" dirty="0" smtClean="0"/>
              <a:t>3,000 </a:t>
            </a:r>
            <a:r>
              <a:rPr lang="ko-KR" altLang="en-US" dirty="0" smtClean="0"/>
              <a:t>개 설치</a:t>
            </a:r>
            <a:endParaRPr lang="en-US" altLang="ko-KR" dirty="0"/>
          </a:p>
          <a:p>
            <a:endParaRPr lang="en-US" altLang="ko-KR" sz="800" dirty="0" smtClean="0"/>
          </a:p>
          <a:p>
            <a:r>
              <a:rPr lang="ko-KR" altLang="en-US" dirty="0" smtClean="0"/>
              <a:t>긴 부팅시간</a:t>
            </a: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274319" y="224444"/>
            <a:ext cx="2751513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 dirty="0" smtClean="0"/>
              <a:t>VM </a:t>
            </a:r>
            <a:r>
              <a:rPr lang="ko-KR" altLang="en-US" sz="2300" b="1" dirty="0" smtClean="0"/>
              <a:t>방식의 문제점</a:t>
            </a:r>
            <a:endParaRPr lang="en-US" altLang="ko-KR" sz="2300" b="1" dirty="0" smtClean="0"/>
          </a:p>
        </p:txBody>
      </p:sp>
    </p:spTree>
    <p:extLst>
      <p:ext uri="{BB962C8B-B14F-4D97-AF65-F5344CB8AC3E}">
        <p14:creationId xmlns:p14="http://schemas.microsoft.com/office/powerpoint/2010/main" val="97348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19" y="224444"/>
            <a:ext cx="3782292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err="1" smtClean="0"/>
              <a:t>클라우드</a:t>
            </a:r>
            <a:r>
              <a:rPr lang="ko-KR" altLang="en-US" sz="2300" b="1" dirty="0" smtClean="0"/>
              <a:t> </a:t>
            </a:r>
            <a:r>
              <a:rPr lang="ko-KR" altLang="en-US" sz="2300" b="1" dirty="0" err="1" smtClean="0"/>
              <a:t>네이티브로</a:t>
            </a:r>
            <a:r>
              <a:rPr lang="ko-KR" altLang="en-US" sz="2300" b="1" dirty="0" smtClean="0"/>
              <a:t> 해결</a:t>
            </a:r>
            <a:endParaRPr lang="en-US" altLang="ko-KR" sz="2300" b="1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38" y="1312632"/>
            <a:ext cx="7574010" cy="300925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5117105"/>
            <a:ext cx="493653" cy="5013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67951" y="5229288"/>
            <a:ext cx="33530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직원이 돌린 프로그램이 </a:t>
            </a:r>
            <a:r>
              <a:rPr lang="en-US" altLang="ko-KR" sz="1200" dirty="0" smtClean="0"/>
              <a:t>CPU, </a:t>
            </a:r>
            <a:r>
              <a:rPr lang="ko-KR" altLang="en-US" sz="1200" dirty="0" smtClean="0"/>
              <a:t>램이 부족하면</a:t>
            </a:r>
            <a:r>
              <a:rPr lang="en-US" altLang="ko-KR" sz="1200" dirty="0" smtClean="0"/>
              <a:t>?</a:t>
            </a:r>
            <a:endParaRPr lang="ko-KR" alt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5220391" y="5632073"/>
            <a:ext cx="248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컨테이너 자동 추가</a:t>
            </a:r>
            <a:endParaRPr lang="en-US" altLang="ko-KR" dirty="0"/>
          </a:p>
        </p:txBody>
      </p:sp>
      <p:sp>
        <p:nvSpPr>
          <p:cNvPr id="9" name="직사각형 8"/>
          <p:cNvSpPr/>
          <p:nvPr/>
        </p:nvSpPr>
        <p:spPr>
          <a:xfrm>
            <a:off x="5380574" y="6087260"/>
            <a:ext cx="671093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 smtClean="0"/>
              <a:t>HPA</a:t>
            </a:r>
            <a:endParaRPr lang="en-US" altLang="ko-KR" sz="1500" b="1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5993188" y="6176021"/>
            <a:ext cx="2078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Horizontal Pod Autoscaler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2308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20" y="224444"/>
            <a:ext cx="2086496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smtClean="0"/>
              <a:t>자원 절감</a:t>
            </a:r>
            <a:endParaRPr lang="en-US" altLang="ko-KR" sz="2300" b="1" dirty="0" smtClean="0"/>
          </a:p>
        </p:txBody>
      </p:sp>
      <p:sp>
        <p:nvSpPr>
          <p:cNvPr id="28" name="TextBox 27"/>
          <p:cNvSpPr txBox="1"/>
          <p:nvPr/>
        </p:nvSpPr>
        <p:spPr>
          <a:xfrm>
            <a:off x="836192" y="2209136"/>
            <a:ext cx="1473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3,000</a:t>
            </a:r>
            <a:r>
              <a:rPr lang="ko-KR" altLang="en-US" b="1" dirty="0" smtClean="0"/>
              <a:t>명 분</a:t>
            </a:r>
            <a:endParaRPr lang="ko-KR" altLang="en-US" b="1" dirty="0"/>
          </a:p>
        </p:txBody>
      </p:sp>
      <p:sp>
        <p:nvSpPr>
          <p:cNvPr id="29" name="직사각형 28"/>
          <p:cNvSpPr/>
          <p:nvPr/>
        </p:nvSpPr>
        <p:spPr>
          <a:xfrm>
            <a:off x="2066296" y="2173261"/>
            <a:ext cx="137199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CPU: </a:t>
            </a:r>
            <a:r>
              <a:rPr lang="en-US" altLang="ko-KR" sz="1200" dirty="0" smtClean="0"/>
              <a:t>3,000</a:t>
            </a:r>
            <a:r>
              <a:rPr lang="ko-KR" altLang="en-US" sz="1200" dirty="0" smtClean="0"/>
              <a:t>코어</a:t>
            </a:r>
            <a:endParaRPr lang="ko-KR" altLang="en-US" sz="1200" dirty="0"/>
          </a:p>
          <a:p>
            <a:endParaRPr lang="en-US" altLang="ko-KR" sz="300" dirty="0" smtClean="0"/>
          </a:p>
          <a:p>
            <a:r>
              <a:rPr lang="ko-KR" altLang="en-US" sz="1200" dirty="0" smtClean="0"/>
              <a:t>램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12,000GB</a:t>
            </a:r>
          </a:p>
          <a:p>
            <a:endParaRPr lang="en-US" altLang="ko-KR" sz="300" dirty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디스크</a:t>
            </a:r>
            <a:r>
              <a:rPr lang="en-US" altLang="ko-KR" sz="1400" dirty="0"/>
              <a:t>: </a:t>
            </a:r>
            <a:r>
              <a:rPr lang="en-US" altLang="ko-KR" sz="1400" dirty="0" smtClean="0"/>
              <a:t>768TB</a:t>
            </a:r>
            <a:endParaRPr lang="ko-KR" altLang="en-US" sz="1400" dirty="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06" y="5224983"/>
            <a:ext cx="706522" cy="1034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19199" y="4947984"/>
            <a:ext cx="1942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컨테이너</a:t>
            </a:r>
            <a:r>
              <a:rPr lang="en-US" altLang="ko-KR" sz="1200" dirty="0" smtClean="0"/>
              <a:t> 3,000</a:t>
            </a:r>
            <a:r>
              <a:rPr lang="ko-KR" altLang="en-US" sz="1200" dirty="0" smtClean="0"/>
              <a:t>개로 분해</a:t>
            </a:r>
            <a:endParaRPr lang="ko-KR" altLang="en-US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27211" y="5335986"/>
            <a:ext cx="1191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컨테이너</a:t>
            </a:r>
            <a:r>
              <a:rPr lang="en-US" altLang="ko-KR" sz="1200" b="1" dirty="0" smtClean="0"/>
              <a:t> 1</a:t>
            </a:r>
            <a:r>
              <a:rPr lang="ko-KR" altLang="en-US" sz="1200" b="1" dirty="0" smtClean="0"/>
              <a:t>개</a:t>
            </a:r>
            <a:endParaRPr lang="ko-KR" alt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332198" y="5579702"/>
            <a:ext cx="1022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CPU: 1</a:t>
            </a:r>
            <a:r>
              <a:rPr lang="ko-KR" altLang="en-US" sz="1000" dirty="0" smtClean="0"/>
              <a:t>코어</a:t>
            </a:r>
            <a:endParaRPr lang="en-US" altLang="ko-KR" sz="1000" dirty="0" smtClean="0"/>
          </a:p>
          <a:p>
            <a:endParaRPr lang="en-US" altLang="ko-KR" sz="300" dirty="0"/>
          </a:p>
          <a:p>
            <a:r>
              <a:rPr lang="ko-KR" altLang="en-US" sz="1000" dirty="0" smtClean="0"/>
              <a:t>램</a:t>
            </a:r>
            <a:r>
              <a:rPr lang="en-US" altLang="ko-KR" sz="1000" dirty="0" smtClean="0"/>
              <a:t>: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4GB</a:t>
            </a:r>
          </a:p>
          <a:p>
            <a:endParaRPr lang="en-US" altLang="ko-KR" sz="300" dirty="0"/>
          </a:p>
          <a:p>
            <a:r>
              <a:rPr lang="ko-KR" altLang="en-US" sz="1000" dirty="0" smtClean="0"/>
              <a:t>디스크</a:t>
            </a:r>
            <a:r>
              <a:rPr lang="en-US" altLang="ko-KR" sz="1000" dirty="0" smtClean="0"/>
              <a:t>: 256GB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946081" y="1326222"/>
            <a:ext cx="2718262" cy="1026279"/>
          </a:xfrm>
          <a:prstGeom prst="roundRect">
            <a:avLst>
              <a:gd name="adj" fmla="val 4038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4946080" y="997248"/>
            <a:ext cx="15046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smtClean="0"/>
              <a:t>컴퓨팅 </a:t>
            </a:r>
            <a:r>
              <a:rPr lang="ko-KR" altLang="en-US" sz="1500" dirty="0" err="1" smtClean="0"/>
              <a:t>서버군</a:t>
            </a:r>
            <a:endParaRPr lang="ko-KR" altLang="en-US" sz="1500" dirty="0"/>
          </a:p>
        </p:txBody>
      </p:sp>
      <p:sp>
        <p:nvSpPr>
          <p:cNvPr id="38" name="직사각형 37"/>
          <p:cNvSpPr/>
          <p:nvPr/>
        </p:nvSpPr>
        <p:spPr>
          <a:xfrm>
            <a:off x="5108894" y="1455115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39" name="직사각형 38"/>
          <p:cNvSpPr/>
          <p:nvPr/>
        </p:nvSpPr>
        <p:spPr>
          <a:xfrm>
            <a:off x="5507484" y="1455115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40" name="직사각형 39"/>
          <p:cNvSpPr/>
          <p:nvPr/>
        </p:nvSpPr>
        <p:spPr>
          <a:xfrm>
            <a:off x="5906074" y="1455115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41" name="직사각형 40"/>
          <p:cNvSpPr/>
          <p:nvPr/>
        </p:nvSpPr>
        <p:spPr>
          <a:xfrm>
            <a:off x="6332974" y="1455115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43" name="직사각형 42"/>
          <p:cNvSpPr/>
          <p:nvPr/>
        </p:nvSpPr>
        <p:spPr>
          <a:xfrm>
            <a:off x="6731564" y="1455114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44" name="직사각형 43"/>
          <p:cNvSpPr/>
          <p:nvPr/>
        </p:nvSpPr>
        <p:spPr>
          <a:xfrm>
            <a:off x="7142409" y="1455114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45" name="TextBox 44"/>
          <p:cNvSpPr txBox="1"/>
          <p:nvPr/>
        </p:nvSpPr>
        <p:spPr>
          <a:xfrm>
            <a:off x="5130273" y="2793669"/>
            <a:ext cx="161441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스토리지 </a:t>
            </a:r>
            <a:r>
              <a:rPr lang="ko-KR" altLang="en-US" sz="1500" dirty="0" err="1" smtClean="0"/>
              <a:t>서버군</a:t>
            </a:r>
            <a:endParaRPr lang="ko-KR" altLang="en-US" sz="1500" dirty="0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5257241" y="3116834"/>
            <a:ext cx="994703" cy="1026279"/>
          </a:xfrm>
          <a:prstGeom prst="roundRect">
            <a:avLst>
              <a:gd name="adj" fmla="val 4038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5420054" y="3245727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49" name="직사각형 48"/>
          <p:cNvSpPr/>
          <p:nvPr/>
        </p:nvSpPr>
        <p:spPr>
          <a:xfrm>
            <a:off x="5818644" y="3245727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3241972" y="1187512"/>
            <a:ext cx="1786570" cy="107952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 flipH="1">
            <a:off x="3081465" y="1261819"/>
            <a:ext cx="1998501" cy="1296162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stCxn id="45" idx="1"/>
          </p:cNvCxnSpPr>
          <p:nvPr/>
        </p:nvCxnSpPr>
        <p:spPr>
          <a:xfrm flipH="1">
            <a:off x="3321335" y="2955252"/>
            <a:ext cx="1808938" cy="30556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오른쪽 화살표 64"/>
          <p:cNvSpPr/>
          <p:nvPr/>
        </p:nvSpPr>
        <p:spPr>
          <a:xfrm>
            <a:off x="2502772" y="5395252"/>
            <a:ext cx="1220118" cy="661504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cxnSp>
        <p:nvCxnSpPr>
          <p:cNvPr id="66" name="직선 연결선 65"/>
          <p:cNvCxnSpPr/>
          <p:nvPr/>
        </p:nvCxnSpPr>
        <p:spPr>
          <a:xfrm>
            <a:off x="7937813" y="0"/>
            <a:ext cx="45964" cy="685800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8298341" y="199504"/>
            <a:ext cx="1172565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err="1" smtClean="0"/>
              <a:t>도커</a:t>
            </a:r>
            <a:endParaRPr lang="en-US" altLang="ko-KR" sz="1500" b="1" dirty="0" smtClean="0"/>
          </a:p>
        </p:txBody>
      </p:sp>
      <p:sp>
        <p:nvSpPr>
          <p:cNvPr id="75" name="TextBox 74"/>
          <p:cNvSpPr txBox="1"/>
          <p:nvPr/>
        </p:nvSpPr>
        <p:spPr>
          <a:xfrm>
            <a:off x="8354233" y="641036"/>
            <a:ext cx="384446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smtClean="0"/>
              <a:t>1</a:t>
            </a:r>
            <a:r>
              <a:rPr lang="ko-KR" altLang="en-US" sz="1500" dirty="0" smtClean="0"/>
              <a:t>개의 </a:t>
            </a:r>
            <a:r>
              <a:rPr lang="ko-KR" altLang="en-US" sz="1500" dirty="0" err="1" smtClean="0"/>
              <a:t>클라우드로</a:t>
            </a:r>
            <a:r>
              <a:rPr lang="ko-KR" altLang="en-US" sz="1500" dirty="0" smtClean="0"/>
              <a:t> 합쳐서</a:t>
            </a:r>
            <a:endParaRPr lang="en-US" altLang="ko-KR" sz="1500" dirty="0" smtClean="0"/>
          </a:p>
          <a:p>
            <a:endParaRPr lang="en-US" altLang="ko-KR" sz="800" dirty="0"/>
          </a:p>
          <a:p>
            <a:r>
              <a:rPr lang="en-US" altLang="ko-KR" sz="1500" dirty="0" smtClean="0"/>
              <a:t>3,000</a:t>
            </a:r>
            <a:r>
              <a:rPr lang="ko-KR" altLang="en-US" sz="1500" dirty="0" smtClean="0"/>
              <a:t>대의 컨테이너로 분할</a:t>
            </a:r>
            <a:endParaRPr lang="en-US" altLang="ko-KR" sz="1500" dirty="0" smtClean="0"/>
          </a:p>
          <a:p>
            <a:endParaRPr lang="en-US" altLang="ko-KR" sz="1500" dirty="0"/>
          </a:p>
          <a:p>
            <a:r>
              <a:rPr lang="ko-KR" altLang="en-US" sz="1500" dirty="0" smtClean="0"/>
              <a:t>       각 컨테이너는</a:t>
            </a:r>
            <a:r>
              <a:rPr lang="en-US" altLang="ko-KR" sz="1500" dirty="0" smtClean="0"/>
              <a:t> [CPU, </a:t>
            </a:r>
            <a:r>
              <a:rPr lang="ko-KR" altLang="en-US" sz="1500" dirty="0" smtClean="0"/>
              <a:t>램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디스크</a:t>
            </a:r>
            <a:r>
              <a:rPr lang="en-US" altLang="ko-KR" sz="1500" dirty="0" smtClean="0"/>
              <a:t>]</a:t>
            </a:r>
            <a:r>
              <a:rPr lang="ko-KR" altLang="en-US" sz="1500" dirty="0" smtClean="0"/>
              <a:t> 보유</a:t>
            </a:r>
            <a:endParaRPr lang="ko-KR" altLang="en-US" sz="1500" dirty="0"/>
          </a:p>
        </p:txBody>
      </p:sp>
      <p:sp>
        <p:nvSpPr>
          <p:cNvPr id="77" name="오른쪽 화살표 76"/>
          <p:cNvSpPr/>
          <p:nvPr/>
        </p:nvSpPr>
        <p:spPr>
          <a:xfrm>
            <a:off x="8572435" y="1533993"/>
            <a:ext cx="224442" cy="19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81" name="TextBox 80"/>
          <p:cNvSpPr txBox="1"/>
          <p:nvPr/>
        </p:nvSpPr>
        <p:spPr>
          <a:xfrm>
            <a:off x="8299632" y="3288605"/>
            <a:ext cx="2141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컨테이너들은 </a:t>
            </a:r>
            <a:r>
              <a:rPr lang="en-US" altLang="ko-KR" sz="1200" dirty="0" smtClean="0"/>
              <a:t>Host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OS </a:t>
            </a:r>
            <a:r>
              <a:rPr lang="ko-KR" altLang="en-US" sz="1200" dirty="0" smtClean="0"/>
              <a:t>공유</a:t>
            </a:r>
            <a:endParaRPr lang="ko-KR" altLang="en-US" sz="1200" dirty="0"/>
          </a:p>
        </p:txBody>
      </p:sp>
      <p:sp>
        <p:nvSpPr>
          <p:cNvPr id="82" name="오른쪽 화살표 81"/>
          <p:cNvSpPr/>
          <p:nvPr/>
        </p:nvSpPr>
        <p:spPr>
          <a:xfrm rot="5400000">
            <a:off x="753591" y="3504805"/>
            <a:ext cx="2210103" cy="661504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pic>
        <p:nvPicPr>
          <p:cNvPr id="83" name="그림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719" y="5216858"/>
            <a:ext cx="493653" cy="501366"/>
          </a:xfrm>
          <a:prstGeom prst="rect">
            <a:avLst/>
          </a:prstGeom>
        </p:spPr>
      </p:pic>
      <p:pic>
        <p:nvPicPr>
          <p:cNvPr id="84" name="그림 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771" y="5212663"/>
            <a:ext cx="493653" cy="501366"/>
          </a:xfrm>
          <a:prstGeom prst="rect">
            <a:avLst/>
          </a:prstGeom>
        </p:spPr>
      </p:pic>
      <p:pic>
        <p:nvPicPr>
          <p:cNvPr id="85" name="그림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652" y="5212663"/>
            <a:ext cx="493653" cy="501366"/>
          </a:xfrm>
          <a:prstGeom prst="rect">
            <a:avLst/>
          </a:prstGeom>
        </p:spPr>
      </p:pic>
      <p:pic>
        <p:nvPicPr>
          <p:cNvPr id="86" name="그림 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719" y="5754999"/>
            <a:ext cx="493653" cy="501366"/>
          </a:xfrm>
          <a:prstGeom prst="rect">
            <a:avLst/>
          </a:prstGeom>
        </p:spPr>
      </p:pic>
      <p:pic>
        <p:nvPicPr>
          <p:cNvPr id="87" name="그림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771" y="5750804"/>
            <a:ext cx="493653" cy="501366"/>
          </a:xfrm>
          <a:prstGeom prst="rect">
            <a:avLst/>
          </a:prstGeom>
        </p:spPr>
      </p:pic>
      <p:pic>
        <p:nvPicPr>
          <p:cNvPr id="88" name="그림 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652" y="5750804"/>
            <a:ext cx="493653" cy="50136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3670065" y="6254737"/>
            <a:ext cx="322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직원 </a:t>
            </a:r>
            <a:r>
              <a:rPr lang="en-US" altLang="ko-KR" sz="1200" b="1" dirty="0" smtClean="0"/>
              <a:t>16,000</a:t>
            </a:r>
            <a:r>
              <a:rPr lang="ko-KR" altLang="en-US" sz="1200" b="1" dirty="0" smtClean="0"/>
              <a:t>명이 사용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동시 접속 </a:t>
            </a:r>
            <a:r>
              <a:rPr lang="en-US" altLang="ko-KR" sz="1200" dirty="0" smtClean="0"/>
              <a:t>3,000</a:t>
            </a:r>
            <a:r>
              <a:rPr lang="ko-KR" altLang="en-US" sz="1200" dirty="0" smtClean="0"/>
              <a:t>명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795" y="3651688"/>
            <a:ext cx="3421882" cy="310739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7993" y="1779809"/>
            <a:ext cx="2628664" cy="105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2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20" y="224444"/>
            <a:ext cx="2086496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smtClean="0"/>
              <a:t>차이점</a:t>
            </a:r>
            <a:endParaRPr lang="en-US" altLang="ko-KR" sz="23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700" y="2267772"/>
            <a:ext cx="528092" cy="5363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2963" y="1075331"/>
            <a:ext cx="291350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800" b="1" dirty="0" smtClean="0"/>
              <a:t>VM </a:t>
            </a:r>
            <a:r>
              <a:rPr lang="ko-KR" altLang="en-US" sz="3800" b="1" dirty="0" smtClean="0"/>
              <a:t>방식</a:t>
            </a:r>
            <a:endParaRPr lang="en-US" altLang="ko-KR" sz="3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645392" y="1075331"/>
            <a:ext cx="454146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800" b="1" dirty="0" err="1" smtClean="0"/>
              <a:t>클라우드</a:t>
            </a:r>
            <a:r>
              <a:rPr lang="ko-KR" altLang="en-US" sz="3800" b="1" dirty="0" smtClean="0"/>
              <a:t> </a:t>
            </a:r>
            <a:r>
              <a:rPr lang="ko-KR" altLang="en-US" sz="3800" b="1" dirty="0" err="1" smtClean="0"/>
              <a:t>네이티브</a:t>
            </a:r>
            <a:endParaRPr lang="en-US" altLang="ko-KR" sz="3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874951" y="2830153"/>
            <a:ext cx="11316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/>
              <a:t>VM 1</a:t>
            </a:r>
            <a:r>
              <a:rPr lang="ko-KR" altLang="en-US" sz="1200" b="1" dirty="0" smtClean="0"/>
              <a:t>개 할당</a:t>
            </a:r>
            <a:endParaRPr lang="ko-KR" alt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890257" y="2835598"/>
            <a:ext cx="1022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CPU: 1</a:t>
            </a:r>
            <a:r>
              <a:rPr lang="ko-KR" altLang="en-US" sz="1000" dirty="0" smtClean="0"/>
              <a:t>코어</a:t>
            </a:r>
            <a:endParaRPr lang="en-US" altLang="ko-KR" sz="1000" dirty="0" smtClean="0"/>
          </a:p>
          <a:p>
            <a:endParaRPr lang="en-US" altLang="ko-KR" sz="300" dirty="0"/>
          </a:p>
          <a:p>
            <a:r>
              <a:rPr lang="ko-KR" altLang="en-US" sz="1000" dirty="0" smtClean="0"/>
              <a:t>램</a:t>
            </a:r>
            <a:r>
              <a:rPr lang="en-US" altLang="ko-KR" sz="1000" dirty="0" smtClean="0"/>
              <a:t>: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4GB</a:t>
            </a:r>
          </a:p>
          <a:p>
            <a:endParaRPr lang="en-US" altLang="ko-KR" sz="300" dirty="0"/>
          </a:p>
          <a:p>
            <a:r>
              <a:rPr lang="ko-KR" altLang="en-US" sz="1000" dirty="0" smtClean="0"/>
              <a:t>디스크</a:t>
            </a:r>
            <a:r>
              <a:rPr lang="en-US" altLang="ko-KR" sz="1000" dirty="0" smtClean="0"/>
              <a:t>: 256GB</a:t>
            </a:r>
            <a:endParaRPr lang="ko-KR" alt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4469077" y="2830153"/>
            <a:ext cx="1635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컨테이너</a:t>
            </a:r>
            <a:r>
              <a:rPr lang="en-US" altLang="ko-KR" sz="1200" b="1" dirty="0" smtClean="0"/>
              <a:t> 1</a:t>
            </a:r>
            <a:r>
              <a:rPr lang="ko-KR" altLang="en-US" sz="1200" b="1" dirty="0" smtClean="0"/>
              <a:t>개 할당</a:t>
            </a:r>
            <a:endParaRPr lang="ko-KR" alt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866707" y="2806761"/>
            <a:ext cx="1022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CPU: 1</a:t>
            </a:r>
            <a:r>
              <a:rPr lang="ko-KR" altLang="en-US" sz="1000" dirty="0" smtClean="0"/>
              <a:t>코어</a:t>
            </a:r>
            <a:endParaRPr lang="en-US" altLang="ko-KR" sz="1000" dirty="0" smtClean="0"/>
          </a:p>
          <a:p>
            <a:endParaRPr lang="en-US" altLang="ko-KR" sz="300" dirty="0"/>
          </a:p>
          <a:p>
            <a:r>
              <a:rPr lang="ko-KR" altLang="en-US" sz="1000" dirty="0" smtClean="0"/>
              <a:t>램</a:t>
            </a:r>
            <a:r>
              <a:rPr lang="en-US" altLang="ko-KR" sz="1000" dirty="0" smtClean="0"/>
              <a:t>: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4GB</a:t>
            </a:r>
          </a:p>
          <a:p>
            <a:endParaRPr lang="en-US" altLang="ko-KR" sz="300" dirty="0"/>
          </a:p>
          <a:p>
            <a:r>
              <a:rPr lang="ko-KR" altLang="en-US" sz="1000" dirty="0" smtClean="0"/>
              <a:t>디스크</a:t>
            </a:r>
            <a:r>
              <a:rPr lang="en-US" altLang="ko-KR" sz="1000" dirty="0" smtClean="0"/>
              <a:t>: 256GB</a:t>
            </a:r>
            <a:endParaRPr lang="ko-KR" altLang="en-US" sz="1000" dirty="0"/>
          </a:p>
        </p:txBody>
      </p:sp>
      <p:sp>
        <p:nvSpPr>
          <p:cNvPr id="12" name="직사각형 11"/>
          <p:cNvSpPr/>
          <p:nvPr/>
        </p:nvSpPr>
        <p:spPr>
          <a:xfrm>
            <a:off x="6977254" y="2864942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4817" y="2816969"/>
            <a:ext cx="1712422" cy="6200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tx1"/>
                </a:solidFill>
              </a:rPr>
              <a:t>맨 처음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4817" y="5416835"/>
            <a:ext cx="1712422" cy="6200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자원 더 필요</a:t>
            </a:r>
            <a:r>
              <a:rPr lang="en-US" altLang="ko-KR" b="1" dirty="0" smtClean="0">
                <a:solidFill>
                  <a:schemeClr val="tx1"/>
                </a:solidFill>
              </a:rPr>
              <a:t>?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56371" y="5542175"/>
            <a:ext cx="1467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/>
              <a:t>이용 불가</a:t>
            </a:r>
            <a:endParaRPr lang="ko-KR" alt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552999" y="5439342"/>
            <a:ext cx="1551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컨테이너</a:t>
            </a:r>
            <a:r>
              <a:rPr lang="en-US" altLang="ko-KR" sz="1200" b="1" dirty="0" smtClean="0"/>
              <a:t> 1</a:t>
            </a:r>
            <a:r>
              <a:rPr lang="ko-KR" altLang="en-US" sz="1200" b="1" dirty="0" smtClean="0"/>
              <a:t>개 추</a:t>
            </a:r>
            <a:r>
              <a:rPr lang="ko-KR" altLang="en-US" sz="1200" b="1" dirty="0" smtClean="0"/>
              <a:t>가</a:t>
            </a:r>
            <a:endParaRPr lang="ko-KR" altLang="en-US" sz="1200" b="1" dirty="0"/>
          </a:p>
        </p:txBody>
      </p:sp>
      <p:sp>
        <p:nvSpPr>
          <p:cNvPr id="19" name="직사각형 18"/>
          <p:cNvSpPr/>
          <p:nvPr/>
        </p:nvSpPr>
        <p:spPr>
          <a:xfrm>
            <a:off x="7094966" y="5357709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094966" y="5750613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4336869" y="0"/>
            <a:ext cx="33053" cy="685800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7415" y="5024112"/>
            <a:ext cx="493653" cy="50136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02468" y="5274795"/>
            <a:ext cx="2038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CPU, </a:t>
            </a:r>
            <a:r>
              <a:rPr lang="ko-KR" altLang="en-US" sz="1200" dirty="0" smtClean="0"/>
              <a:t>램이 부족하면</a:t>
            </a:r>
            <a:r>
              <a:rPr lang="en-US" altLang="ko-KR" sz="1200" dirty="0" smtClean="0"/>
              <a:t>?</a:t>
            </a:r>
            <a:endParaRPr lang="ko-KR" alt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8568552" y="5627933"/>
            <a:ext cx="248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컨테이너 자동 추가</a:t>
            </a:r>
            <a:endParaRPr lang="en-US" altLang="ko-KR" dirty="0"/>
          </a:p>
        </p:txBody>
      </p:sp>
      <p:sp>
        <p:nvSpPr>
          <p:cNvPr id="30" name="직사각형 29"/>
          <p:cNvSpPr/>
          <p:nvPr/>
        </p:nvSpPr>
        <p:spPr>
          <a:xfrm>
            <a:off x="8728735" y="6083120"/>
            <a:ext cx="671093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 smtClean="0"/>
              <a:t>HPA</a:t>
            </a:r>
            <a:endParaRPr lang="en-US" altLang="ko-KR" sz="1500" b="1" dirty="0" smtClean="0"/>
          </a:p>
        </p:txBody>
      </p:sp>
      <p:sp>
        <p:nvSpPr>
          <p:cNvPr id="31" name="TextBox 30"/>
          <p:cNvSpPr txBox="1"/>
          <p:nvPr/>
        </p:nvSpPr>
        <p:spPr>
          <a:xfrm>
            <a:off x="9341349" y="6171881"/>
            <a:ext cx="2014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Horizontal Pod Autoscaler</a:t>
            </a:r>
            <a:endParaRPr lang="ko-KR" altLang="en-US" sz="1200" dirty="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151" y="2293810"/>
            <a:ext cx="528092" cy="536343"/>
          </a:xfrm>
          <a:prstGeom prst="rect">
            <a:avLst/>
          </a:prstGeom>
        </p:spPr>
      </p:pic>
      <p:sp>
        <p:nvSpPr>
          <p:cNvPr id="33" name="직사각형 32"/>
          <p:cNvSpPr/>
          <p:nvPr/>
        </p:nvSpPr>
        <p:spPr>
          <a:xfrm>
            <a:off x="1874951" y="3545673"/>
            <a:ext cx="1166063" cy="267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/>
              <a:t>하이퍼바이저</a:t>
            </a:r>
            <a:endParaRPr lang="en-US" altLang="ko-KR" sz="1200" b="1" dirty="0" smtClean="0"/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610" y="3401782"/>
            <a:ext cx="1476360" cy="59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50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429" y="4236108"/>
            <a:ext cx="4076006" cy="2458360"/>
          </a:xfrm>
          <a:prstGeom prst="rect">
            <a:avLst/>
          </a:prstGeom>
        </p:spPr>
      </p:pic>
      <p:sp>
        <p:nvSpPr>
          <p:cNvPr id="42" name="직사각형 41"/>
          <p:cNvSpPr/>
          <p:nvPr/>
        </p:nvSpPr>
        <p:spPr>
          <a:xfrm>
            <a:off x="274319" y="224444"/>
            <a:ext cx="3749041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err="1" smtClean="0"/>
              <a:t>클라우드</a:t>
            </a:r>
            <a:r>
              <a:rPr lang="ko-KR" altLang="en-US" sz="2300" b="1" dirty="0" smtClean="0"/>
              <a:t> </a:t>
            </a:r>
            <a:r>
              <a:rPr lang="ko-KR" altLang="en-US" sz="2300" b="1" dirty="0" err="1" smtClean="0"/>
              <a:t>네이티브의</a:t>
            </a:r>
            <a:r>
              <a:rPr lang="ko-KR" altLang="en-US" sz="2300" b="1" dirty="0" smtClean="0"/>
              <a:t> 용도</a:t>
            </a:r>
            <a:endParaRPr lang="en-US" altLang="ko-KR" sz="2300" b="1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7460777" y="379845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36081" y="400041"/>
            <a:ext cx="1265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CPU: 0.1</a:t>
            </a:r>
            <a:r>
              <a:rPr lang="ko-KR" altLang="en-US" sz="1000" dirty="0" smtClean="0"/>
              <a:t>코어</a:t>
            </a:r>
            <a:endParaRPr lang="en-US" altLang="ko-KR" sz="1000" dirty="0" smtClean="0"/>
          </a:p>
          <a:p>
            <a:endParaRPr lang="en-US" altLang="ko-KR" sz="300" dirty="0"/>
          </a:p>
          <a:p>
            <a:r>
              <a:rPr lang="ko-KR" altLang="en-US" sz="1000" dirty="0" smtClean="0"/>
              <a:t>램</a:t>
            </a:r>
            <a:r>
              <a:rPr lang="en-US" altLang="ko-KR" sz="1000" dirty="0" smtClean="0"/>
              <a:t>: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256 </a:t>
            </a:r>
            <a:r>
              <a:rPr lang="en-US" altLang="ko-KR" sz="1000" dirty="0" smtClean="0"/>
              <a:t>M</a:t>
            </a:r>
            <a:r>
              <a:rPr lang="en-US" altLang="ko-KR" sz="1000" dirty="0" smtClean="0"/>
              <a:t>B</a:t>
            </a:r>
          </a:p>
          <a:p>
            <a:endParaRPr lang="en-US" altLang="ko-KR" sz="300" dirty="0"/>
          </a:p>
          <a:p>
            <a:r>
              <a:rPr lang="ko-KR" altLang="en-US" sz="1000" dirty="0" smtClean="0"/>
              <a:t>디스크</a:t>
            </a:r>
            <a:r>
              <a:rPr lang="en-US" altLang="ko-KR" sz="1000" dirty="0" smtClean="0"/>
              <a:t>: 256 MB</a:t>
            </a:r>
            <a:endParaRPr lang="ko-KR" altLang="en-US" sz="1000" dirty="0"/>
          </a:p>
        </p:txBody>
      </p:sp>
      <p:sp>
        <p:nvSpPr>
          <p:cNvPr id="6" name="직사각형 5"/>
          <p:cNvSpPr/>
          <p:nvPr/>
        </p:nvSpPr>
        <p:spPr>
          <a:xfrm>
            <a:off x="502429" y="3139401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징수통합시스템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486704" y="1802671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51568" y="1843487"/>
            <a:ext cx="1546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인증 </a:t>
            </a:r>
            <a:r>
              <a:rPr lang="en-US" altLang="ko-KR" sz="1200" dirty="0" smtClean="0"/>
              <a:t>MSA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7486704" y="2235995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51568" y="2276811"/>
            <a:ext cx="2434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사용자</a:t>
            </a:r>
            <a:r>
              <a:rPr lang="en-US" altLang="ko-KR" sz="1200" dirty="0" smtClean="0"/>
              <a:t>DB</a:t>
            </a:r>
            <a:r>
              <a:rPr lang="ko-KR" altLang="en-US" sz="1200" dirty="0" smtClean="0"/>
              <a:t> 조회 </a:t>
            </a:r>
            <a:r>
              <a:rPr lang="en-US" altLang="ko-KR" sz="1200" dirty="0" smtClean="0"/>
              <a:t>MSA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7486704" y="2692717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51568" y="2733533"/>
            <a:ext cx="16506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권한 </a:t>
            </a:r>
            <a:r>
              <a:rPr lang="en-US" altLang="ko-KR" sz="1200" dirty="0" smtClean="0"/>
              <a:t>MSA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274319" y="1019350"/>
            <a:ext cx="6762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u="sng" dirty="0" smtClean="0"/>
              <a:t>컨테이너</a:t>
            </a:r>
            <a:r>
              <a:rPr lang="ko-KR" altLang="en-US" sz="2100" dirty="0" smtClean="0"/>
              <a:t>를 사람이 아닌 </a:t>
            </a:r>
            <a:r>
              <a:rPr lang="ko-KR" altLang="en-US" sz="2800" b="1" u="sng" dirty="0" smtClean="0"/>
              <a:t>애플리케이션</a:t>
            </a:r>
            <a:r>
              <a:rPr lang="ko-KR" altLang="en-US" sz="2100" dirty="0" smtClean="0"/>
              <a:t>에 할당</a:t>
            </a:r>
            <a:endParaRPr lang="ko-KR" altLang="en-US" sz="2100" dirty="0"/>
          </a:p>
        </p:txBody>
      </p:sp>
      <p:sp>
        <p:nvSpPr>
          <p:cNvPr id="14" name="직사각형 13"/>
          <p:cNvSpPr/>
          <p:nvPr/>
        </p:nvSpPr>
        <p:spPr>
          <a:xfrm>
            <a:off x="517668" y="3714442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통합급여시스템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17668" y="4311769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장기요양시스템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17667" y="1972789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통합로그인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17667" y="4909096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포털시스템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모서리가 둥근 사각형 설명선 1"/>
          <p:cNvSpPr/>
          <p:nvPr/>
        </p:nvSpPr>
        <p:spPr>
          <a:xfrm>
            <a:off x="4484914" y="1802671"/>
            <a:ext cx="2290553" cy="2020390"/>
          </a:xfrm>
          <a:prstGeom prst="wedgeRoundRectCallout">
            <a:avLst>
              <a:gd name="adj1" fmla="val -137603"/>
              <a:gd name="adj2" fmla="val -3122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58887" y="1946010"/>
            <a:ext cx="21165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인증</a:t>
            </a:r>
            <a:r>
              <a:rPr lang="ko-KR" altLang="en-US" sz="1200" dirty="0" smtClean="0"/>
              <a:t> </a:t>
            </a:r>
            <a:r>
              <a:rPr lang="ko-KR" altLang="en-US" sz="1000" dirty="0" smtClean="0"/>
              <a:t>애플리케이션</a:t>
            </a:r>
            <a:endParaRPr lang="en-US" altLang="ko-KR" sz="1000" dirty="0" smtClean="0"/>
          </a:p>
          <a:p>
            <a:endParaRPr lang="en-US" altLang="ko-KR" sz="1200" dirty="0"/>
          </a:p>
          <a:p>
            <a:r>
              <a:rPr lang="ko-KR" altLang="en-US" sz="1200" b="1" dirty="0" smtClean="0"/>
              <a:t>사용자 </a:t>
            </a:r>
            <a:r>
              <a:rPr lang="en-US" altLang="ko-KR" sz="1200" b="1" dirty="0" smtClean="0"/>
              <a:t>DB </a:t>
            </a:r>
            <a:r>
              <a:rPr lang="ko-KR" altLang="en-US" sz="1200" b="1" dirty="0" smtClean="0"/>
              <a:t>조회 </a:t>
            </a:r>
            <a:r>
              <a:rPr lang="ko-KR" altLang="en-US" sz="1000" dirty="0" smtClean="0"/>
              <a:t>애플리케이션</a:t>
            </a:r>
            <a:endParaRPr lang="en-US" altLang="ko-KR" sz="1000" dirty="0" smtClean="0"/>
          </a:p>
          <a:p>
            <a:endParaRPr lang="en-US" altLang="ko-KR" sz="1200" dirty="0"/>
          </a:p>
          <a:p>
            <a:r>
              <a:rPr lang="ko-KR" altLang="en-US" sz="1200" b="1" dirty="0" err="1" smtClean="0"/>
              <a:t>권한부여</a:t>
            </a:r>
            <a:r>
              <a:rPr lang="ko-KR" altLang="en-US" sz="1200" dirty="0" smtClean="0"/>
              <a:t> </a:t>
            </a:r>
            <a:r>
              <a:rPr lang="ko-KR" altLang="en-US" sz="1000" dirty="0" smtClean="0"/>
              <a:t>애플리케이션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ko-KR" altLang="en-US" sz="1200" b="1" dirty="0" smtClean="0"/>
              <a:t>세션 관리 </a:t>
            </a:r>
            <a:r>
              <a:rPr lang="ko-KR" altLang="en-US" sz="1000" dirty="0" smtClean="0"/>
              <a:t>애플리케이션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200" b="1" dirty="0" smtClean="0"/>
              <a:t>로그</a:t>
            </a:r>
            <a:r>
              <a:rPr lang="ko-KR" altLang="en-US" sz="1000" dirty="0" smtClean="0"/>
              <a:t> 애플리케이션</a:t>
            </a:r>
            <a:endParaRPr lang="en-US" altLang="ko-KR" sz="1000" dirty="0"/>
          </a:p>
        </p:txBody>
      </p:sp>
      <p:sp>
        <p:nvSpPr>
          <p:cNvPr id="19" name="직사각형 18"/>
          <p:cNvSpPr/>
          <p:nvPr/>
        </p:nvSpPr>
        <p:spPr>
          <a:xfrm>
            <a:off x="7486704" y="3182059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51568" y="3222875"/>
            <a:ext cx="2434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세션 </a:t>
            </a:r>
            <a:r>
              <a:rPr lang="en-US" altLang="ko-KR" sz="1200" dirty="0" smtClean="0"/>
              <a:t>MSA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21" name="직사각형 20"/>
          <p:cNvSpPr/>
          <p:nvPr/>
        </p:nvSpPr>
        <p:spPr>
          <a:xfrm>
            <a:off x="7486704" y="3638781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51568" y="3679597"/>
            <a:ext cx="16506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로그 </a:t>
            </a:r>
            <a:r>
              <a:rPr lang="en-US" altLang="ko-KR" sz="1200" dirty="0" smtClean="0"/>
              <a:t>MSA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6856712" y="6040466"/>
            <a:ext cx="494033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MSA : Micro Service Architecture</a:t>
            </a:r>
            <a:endParaRPr lang="en-US" altLang="ko-KR" dirty="0" smtClean="0"/>
          </a:p>
          <a:p>
            <a:endParaRPr lang="en-US" altLang="ko-KR" sz="500" dirty="0" smtClean="0"/>
          </a:p>
          <a:p>
            <a:r>
              <a:rPr lang="en-US" altLang="ko-KR" dirty="0" smtClean="0"/>
              <a:t>         1</a:t>
            </a:r>
            <a:r>
              <a:rPr lang="en-US" altLang="ko-KR" dirty="0"/>
              <a:t> </a:t>
            </a:r>
            <a:r>
              <a:rPr lang="ko-KR" altLang="en-US" dirty="0" smtClean="0"/>
              <a:t>프로그램을 작은 서비스들로 나눈 것</a:t>
            </a:r>
            <a:endParaRPr lang="en-US" altLang="ko-KR" dirty="0" smtClean="0"/>
          </a:p>
        </p:txBody>
      </p:sp>
      <p:sp>
        <p:nvSpPr>
          <p:cNvPr id="25" name="직사각형 24"/>
          <p:cNvSpPr/>
          <p:nvPr/>
        </p:nvSpPr>
        <p:spPr>
          <a:xfrm>
            <a:off x="508958" y="2555568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자격부과시스템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33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429" y="4236108"/>
            <a:ext cx="4076006" cy="2458360"/>
          </a:xfrm>
          <a:prstGeom prst="rect">
            <a:avLst/>
          </a:prstGeom>
        </p:spPr>
      </p:pic>
      <p:sp>
        <p:nvSpPr>
          <p:cNvPr id="42" name="직사각형 41"/>
          <p:cNvSpPr/>
          <p:nvPr/>
        </p:nvSpPr>
        <p:spPr>
          <a:xfrm>
            <a:off x="274319" y="224444"/>
            <a:ext cx="3749041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err="1" smtClean="0"/>
              <a:t>클라우드</a:t>
            </a:r>
            <a:r>
              <a:rPr lang="ko-KR" altLang="en-US" sz="2300" b="1" dirty="0" smtClean="0"/>
              <a:t> </a:t>
            </a:r>
            <a:r>
              <a:rPr lang="ko-KR" altLang="en-US" sz="2300" b="1" dirty="0" err="1" smtClean="0"/>
              <a:t>네이티브의</a:t>
            </a:r>
            <a:r>
              <a:rPr lang="ko-KR" altLang="en-US" sz="2300" b="1" dirty="0" smtClean="0"/>
              <a:t> 용도</a:t>
            </a:r>
            <a:endParaRPr lang="en-US" altLang="ko-KR" sz="2300" b="1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7460777" y="379845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36081" y="400041"/>
            <a:ext cx="1265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CPU: 0.1</a:t>
            </a:r>
            <a:r>
              <a:rPr lang="ko-KR" altLang="en-US" sz="1000" dirty="0" smtClean="0"/>
              <a:t>코어</a:t>
            </a:r>
            <a:endParaRPr lang="en-US" altLang="ko-KR" sz="1000" dirty="0" smtClean="0"/>
          </a:p>
          <a:p>
            <a:endParaRPr lang="en-US" altLang="ko-KR" sz="300" dirty="0"/>
          </a:p>
          <a:p>
            <a:r>
              <a:rPr lang="ko-KR" altLang="en-US" sz="1000" dirty="0" smtClean="0"/>
              <a:t>램</a:t>
            </a:r>
            <a:r>
              <a:rPr lang="en-US" altLang="ko-KR" sz="1000" dirty="0" smtClean="0"/>
              <a:t>: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256 </a:t>
            </a:r>
            <a:r>
              <a:rPr lang="en-US" altLang="ko-KR" sz="1000" dirty="0" smtClean="0"/>
              <a:t>M</a:t>
            </a:r>
            <a:r>
              <a:rPr lang="en-US" altLang="ko-KR" sz="1000" dirty="0" smtClean="0"/>
              <a:t>B</a:t>
            </a:r>
          </a:p>
          <a:p>
            <a:endParaRPr lang="en-US" altLang="ko-KR" sz="300" dirty="0"/>
          </a:p>
          <a:p>
            <a:r>
              <a:rPr lang="ko-KR" altLang="en-US" sz="1000" dirty="0" smtClean="0"/>
              <a:t>디스크</a:t>
            </a:r>
            <a:r>
              <a:rPr lang="en-US" altLang="ko-KR" sz="1000" dirty="0" smtClean="0"/>
              <a:t>: 256 MB</a:t>
            </a:r>
            <a:endParaRPr lang="ko-KR" altLang="en-US" sz="1000" dirty="0"/>
          </a:p>
        </p:txBody>
      </p:sp>
      <p:sp>
        <p:nvSpPr>
          <p:cNvPr id="7" name="직사각형 6"/>
          <p:cNvSpPr/>
          <p:nvPr/>
        </p:nvSpPr>
        <p:spPr>
          <a:xfrm>
            <a:off x="7486704" y="1802671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51568" y="1843487"/>
            <a:ext cx="2042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자격조회</a:t>
            </a:r>
            <a:r>
              <a:rPr lang="ko-KR" altLang="en-US" sz="1200" dirty="0" smtClean="0"/>
              <a:t> </a:t>
            </a:r>
            <a:r>
              <a:rPr lang="en-US" altLang="ko-KR" sz="1200" b="1" dirty="0" smtClean="0"/>
              <a:t>MSA</a:t>
            </a:r>
            <a:r>
              <a:rPr lang="en-US" altLang="ko-KR" sz="1200" dirty="0" smtClean="0"/>
              <a:t>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7486704" y="2235995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51568" y="2276811"/>
            <a:ext cx="2434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자격변경</a:t>
            </a:r>
            <a:r>
              <a:rPr lang="ko-KR" altLang="en-US" sz="1200" dirty="0" smtClean="0"/>
              <a:t> </a:t>
            </a:r>
            <a:r>
              <a:rPr lang="en-US" altLang="ko-KR" sz="1200" b="1" dirty="0" smtClean="0"/>
              <a:t>MSA</a:t>
            </a:r>
            <a:r>
              <a:rPr lang="en-US" altLang="ko-KR" sz="1200" dirty="0" smtClean="0"/>
              <a:t>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7486704" y="2692717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51568" y="2733533"/>
            <a:ext cx="2686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부과내역조회 </a:t>
            </a:r>
            <a:r>
              <a:rPr lang="en-US" altLang="ko-KR" sz="1200" b="1" dirty="0" smtClean="0"/>
              <a:t>MSA</a:t>
            </a:r>
            <a:r>
              <a:rPr lang="en-US" altLang="ko-KR" sz="1200" dirty="0" smtClean="0"/>
              <a:t>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274319" y="1019350"/>
            <a:ext cx="6762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u="sng" dirty="0" smtClean="0"/>
              <a:t>컨테이너</a:t>
            </a:r>
            <a:r>
              <a:rPr lang="ko-KR" altLang="en-US" sz="2100" dirty="0" smtClean="0"/>
              <a:t>를 사람이 아닌 </a:t>
            </a:r>
            <a:r>
              <a:rPr lang="ko-KR" altLang="en-US" sz="2800" b="1" u="sng" dirty="0" smtClean="0"/>
              <a:t>애플리케이션</a:t>
            </a:r>
            <a:r>
              <a:rPr lang="ko-KR" altLang="en-US" sz="2100" dirty="0" smtClean="0"/>
              <a:t>에 할당</a:t>
            </a:r>
            <a:endParaRPr lang="ko-KR" altLang="en-US" sz="2100" dirty="0"/>
          </a:p>
        </p:txBody>
      </p:sp>
      <p:sp>
        <p:nvSpPr>
          <p:cNvPr id="2" name="모서리가 둥근 사각형 설명선 1"/>
          <p:cNvSpPr/>
          <p:nvPr/>
        </p:nvSpPr>
        <p:spPr>
          <a:xfrm>
            <a:off x="4484914" y="1802671"/>
            <a:ext cx="2290553" cy="2020390"/>
          </a:xfrm>
          <a:prstGeom prst="wedgeRoundRectCallout">
            <a:avLst>
              <a:gd name="adj1" fmla="val -137603"/>
              <a:gd name="adj2" fmla="val 1967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58887" y="1946010"/>
            <a:ext cx="21165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/>
              <a:t>자격조회</a:t>
            </a:r>
            <a:r>
              <a:rPr lang="ko-KR" altLang="en-US" sz="1200" dirty="0" smtClean="0"/>
              <a:t> </a:t>
            </a:r>
            <a:r>
              <a:rPr lang="ko-KR" altLang="en-US" sz="1000" dirty="0" smtClean="0"/>
              <a:t>애플리케이션</a:t>
            </a:r>
            <a:endParaRPr lang="en-US" altLang="ko-KR" sz="1000" dirty="0" smtClean="0"/>
          </a:p>
          <a:p>
            <a:endParaRPr lang="en-US" altLang="ko-KR" sz="1200" dirty="0"/>
          </a:p>
          <a:p>
            <a:r>
              <a:rPr lang="ko-KR" altLang="en-US" sz="1200" b="1" dirty="0" err="1" smtClean="0"/>
              <a:t>자격변경</a:t>
            </a:r>
            <a:r>
              <a:rPr lang="ko-KR" altLang="en-US" sz="1200" b="1" dirty="0" smtClean="0"/>
              <a:t> </a:t>
            </a:r>
            <a:r>
              <a:rPr lang="ko-KR" altLang="en-US" sz="1000" dirty="0" smtClean="0"/>
              <a:t>애플리케이션</a:t>
            </a:r>
            <a:endParaRPr lang="en-US" altLang="ko-KR" sz="1000" dirty="0" smtClean="0"/>
          </a:p>
          <a:p>
            <a:endParaRPr lang="en-US" altLang="ko-KR" sz="1200" dirty="0"/>
          </a:p>
          <a:p>
            <a:r>
              <a:rPr lang="ko-KR" altLang="en-US" sz="1200" b="1" dirty="0" smtClean="0"/>
              <a:t>부과내역조회</a:t>
            </a:r>
            <a:r>
              <a:rPr lang="ko-KR" altLang="en-US" sz="1200" dirty="0" smtClean="0"/>
              <a:t> </a:t>
            </a:r>
            <a:r>
              <a:rPr lang="ko-KR" altLang="en-US" sz="1000" dirty="0" smtClean="0"/>
              <a:t>애플리케이션</a:t>
            </a:r>
            <a:endParaRPr lang="en-US" altLang="ko-KR" sz="1000" dirty="0" smtClean="0"/>
          </a:p>
          <a:p>
            <a:endParaRPr lang="en-US" altLang="ko-KR" sz="1000" dirty="0" smtClean="0"/>
          </a:p>
          <a:p>
            <a:r>
              <a:rPr lang="ko-KR" altLang="en-US" sz="1200" b="1" dirty="0" smtClean="0"/>
              <a:t>자격 관리 </a:t>
            </a:r>
            <a:r>
              <a:rPr lang="ko-KR" altLang="en-US" sz="1000" dirty="0" smtClean="0"/>
              <a:t>애플리케이션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200" b="1" dirty="0" smtClean="0"/>
              <a:t>로그</a:t>
            </a:r>
            <a:r>
              <a:rPr lang="ko-KR" altLang="en-US" sz="1000" dirty="0" smtClean="0"/>
              <a:t> 애플리케이션</a:t>
            </a:r>
            <a:endParaRPr lang="en-US" altLang="ko-KR" sz="1000" dirty="0"/>
          </a:p>
        </p:txBody>
      </p:sp>
      <p:sp>
        <p:nvSpPr>
          <p:cNvPr id="19" name="직사각형 18"/>
          <p:cNvSpPr/>
          <p:nvPr/>
        </p:nvSpPr>
        <p:spPr>
          <a:xfrm>
            <a:off x="7486704" y="3182059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51568" y="3222875"/>
            <a:ext cx="2434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자격관리 </a:t>
            </a:r>
            <a:r>
              <a:rPr lang="en-US" altLang="ko-KR" sz="1200" b="1" dirty="0" smtClean="0"/>
              <a:t>MSA</a:t>
            </a:r>
            <a:r>
              <a:rPr lang="en-US" altLang="ko-KR" sz="1200" dirty="0" smtClean="0"/>
              <a:t>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21" name="직사각형 20"/>
          <p:cNvSpPr/>
          <p:nvPr/>
        </p:nvSpPr>
        <p:spPr>
          <a:xfrm>
            <a:off x="7486704" y="3638781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51568" y="3679597"/>
            <a:ext cx="16506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로그 </a:t>
            </a:r>
            <a:r>
              <a:rPr lang="en-US" altLang="ko-KR" sz="1200" b="1" dirty="0" smtClean="0"/>
              <a:t>MSA</a:t>
            </a:r>
            <a:r>
              <a:rPr lang="en-US" altLang="ko-KR" sz="1200" dirty="0" smtClean="0"/>
              <a:t>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6856712" y="6040466"/>
            <a:ext cx="494033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MSA : Micro Service Architecture</a:t>
            </a:r>
            <a:endParaRPr lang="en-US" altLang="ko-KR" dirty="0" smtClean="0"/>
          </a:p>
          <a:p>
            <a:endParaRPr lang="en-US" altLang="ko-KR" sz="500" dirty="0" smtClean="0"/>
          </a:p>
          <a:p>
            <a:r>
              <a:rPr lang="en-US" altLang="ko-KR" dirty="0" smtClean="0"/>
              <a:t>         1</a:t>
            </a:r>
            <a:r>
              <a:rPr lang="en-US" altLang="ko-KR" dirty="0"/>
              <a:t> </a:t>
            </a:r>
            <a:r>
              <a:rPr lang="ko-KR" altLang="en-US" dirty="0" smtClean="0"/>
              <a:t>프로그램을 작은 서비스들로 나눈 것</a:t>
            </a:r>
            <a:endParaRPr lang="en-US" altLang="ko-KR" dirty="0" smtClean="0"/>
          </a:p>
        </p:txBody>
      </p:sp>
      <p:sp>
        <p:nvSpPr>
          <p:cNvPr id="25" name="직사각형 24"/>
          <p:cNvSpPr/>
          <p:nvPr/>
        </p:nvSpPr>
        <p:spPr>
          <a:xfrm>
            <a:off x="502429" y="3139401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징수통합시스템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17668" y="3714442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통합급여시스템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17668" y="4311769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장기요양시스템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17667" y="1972789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통합로그인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17667" y="4909096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포털시스템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08958" y="2555568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자격부과시스템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29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19" y="224444"/>
            <a:ext cx="3749041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err="1" smtClean="0"/>
              <a:t>데브옵스</a:t>
            </a:r>
            <a:r>
              <a:rPr lang="en-US" altLang="ko-KR" sz="2300" b="1" dirty="0" smtClean="0"/>
              <a:t> (DevOps)</a:t>
            </a:r>
            <a:endParaRPr lang="en-US" altLang="ko-KR" sz="2300" b="1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663539" y="3457127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>
                <a:solidFill>
                  <a:schemeClr val="tx1"/>
                </a:solidFill>
              </a:rPr>
              <a:t>개발팀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1139" y="1111976"/>
            <a:ext cx="4278576" cy="4233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Development + Operation = DevOps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443" y="1554747"/>
            <a:ext cx="68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개발</a:t>
            </a:r>
            <a:endParaRPr lang="ko-KR" alt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650427" y="1554747"/>
            <a:ext cx="68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운영</a:t>
            </a:r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725306" y="1554747"/>
            <a:ext cx="114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/>
              <a:t>데브옵스</a:t>
            </a:r>
            <a:endParaRPr lang="ko-KR" alt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772288" y="3497943"/>
            <a:ext cx="2172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개발서버에서 프로그램 개발</a:t>
            </a:r>
            <a:endParaRPr lang="ko-KR" altLang="en-US" sz="1200" dirty="0"/>
          </a:p>
        </p:txBody>
      </p:sp>
      <p:sp>
        <p:nvSpPr>
          <p:cNvPr id="16" name="직사각형 15"/>
          <p:cNvSpPr/>
          <p:nvPr/>
        </p:nvSpPr>
        <p:spPr>
          <a:xfrm>
            <a:off x="663539" y="4071082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err="1" smtClean="0">
                <a:solidFill>
                  <a:schemeClr val="tx1"/>
                </a:solidFill>
              </a:rPr>
              <a:t>운영팀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72288" y="4111898"/>
            <a:ext cx="2172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운영서버에서 프로그램 운영</a:t>
            </a:r>
            <a:endParaRPr lang="ko-KR" alt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1634684" y="2532206"/>
            <a:ext cx="1223951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100" b="1" dirty="0" smtClean="0"/>
              <a:t>기존</a:t>
            </a:r>
            <a:endParaRPr lang="en-US" altLang="ko-KR" sz="3100" b="1" dirty="0"/>
          </a:p>
        </p:txBody>
      </p:sp>
      <p:sp>
        <p:nvSpPr>
          <p:cNvPr id="24" name="직사각형 23"/>
          <p:cNvSpPr/>
          <p:nvPr/>
        </p:nvSpPr>
        <p:spPr>
          <a:xfrm>
            <a:off x="5974080" y="3461476"/>
            <a:ext cx="1297693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개발</a:t>
            </a:r>
            <a:r>
              <a:rPr lang="en-US" altLang="ko-KR" sz="1500" dirty="0" smtClean="0">
                <a:solidFill>
                  <a:schemeClr val="tx1"/>
                </a:solidFill>
              </a:rPr>
              <a:t>+</a:t>
            </a:r>
            <a:r>
              <a:rPr lang="ko-KR" altLang="en-US" sz="1500" dirty="0" err="1" smtClean="0">
                <a:solidFill>
                  <a:schemeClr val="tx1"/>
                </a:solidFill>
              </a:rPr>
              <a:t>운영팀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71774" y="3502292"/>
            <a:ext cx="2107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다같이 협업해서 개발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운영</a:t>
            </a:r>
            <a:endParaRPr lang="ko-KR" alt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7134169" y="2536555"/>
            <a:ext cx="198370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100" b="1" smtClean="0"/>
              <a:t>데브옵스</a:t>
            </a:r>
            <a:endParaRPr lang="en-US" altLang="ko-KR" sz="31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5651862" y="5649870"/>
            <a:ext cx="6252754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100" b="1" dirty="0" err="1" smtClean="0"/>
              <a:t>건보</a:t>
            </a:r>
            <a:r>
              <a:rPr lang="ko-KR" altLang="en-US" sz="3100" b="1" dirty="0" smtClean="0"/>
              <a:t> 정보운영실은 이미 </a:t>
            </a:r>
            <a:r>
              <a:rPr lang="ko-KR" altLang="en-US" sz="3100" b="1" dirty="0" err="1" smtClean="0"/>
              <a:t>데브옵스</a:t>
            </a:r>
            <a:endParaRPr lang="en-US" altLang="ko-KR" sz="31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8560526" y="6219257"/>
            <a:ext cx="334409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 smtClean="0"/>
              <a:t>(1</a:t>
            </a:r>
            <a:r>
              <a:rPr lang="ko-KR" altLang="en-US" sz="2300" dirty="0" smtClean="0"/>
              <a:t>명이 개발</a:t>
            </a:r>
            <a:r>
              <a:rPr lang="en-US" altLang="ko-KR" sz="2300" dirty="0" smtClean="0"/>
              <a:t>, </a:t>
            </a:r>
            <a:r>
              <a:rPr lang="ko-KR" altLang="en-US" sz="2300" dirty="0" smtClean="0"/>
              <a:t>운영 다 함</a:t>
            </a:r>
            <a:r>
              <a:rPr lang="en-US" altLang="ko-KR" sz="2300" dirty="0" smtClean="0"/>
              <a:t>)</a:t>
            </a:r>
            <a:endParaRPr lang="ko-KR" altLang="en-US" sz="2300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4612078" y="2133600"/>
            <a:ext cx="50471" cy="472440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70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19" y="224444"/>
            <a:ext cx="1986741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 dirty="0" smtClean="0"/>
              <a:t>CI / CD</a:t>
            </a:r>
            <a:endParaRPr lang="en-US" altLang="ko-KR" sz="2300" b="1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837710" y="1441177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>
                <a:solidFill>
                  <a:schemeClr val="tx1"/>
                </a:solidFill>
              </a:rPr>
              <a:t>개발 서버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19" name="오른쪽 화살표 18"/>
          <p:cNvSpPr/>
          <p:nvPr/>
        </p:nvSpPr>
        <p:spPr>
          <a:xfrm>
            <a:off x="2036618" y="1524896"/>
            <a:ext cx="224442" cy="19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0" name="직사각형 19"/>
          <p:cNvSpPr/>
          <p:nvPr/>
        </p:nvSpPr>
        <p:spPr>
          <a:xfrm>
            <a:off x="2418316" y="1441177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>
                <a:solidFill>
                  <a:schemeClr val="tx1"/>
                </a:solidFill>
              </a:rPr>
              <a:t>형상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21" name="오른쪽 화살표 20"/>
          <p:cNvSpPr/>
          <p:nvPr/>
        </p:nvSpPr>
        <p:spPr>
          <a:xfrm>
            <a:off x="3634641" y="1520538"/>
            <a:ext cx="224442" cy="19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22" name="직사각형 21"/>
          <p:cNvSpPr/>
          <p:nvPr/>
        </p:nvSpPr>
        <p:spPr>
          <a:xfrm>
            <a:off x="8771230" y="1436818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>
                <a:solidFill>
                  <a:schemeClr val="tx1"/>
                </a:solidFill>
              </a:rPr>
              <a:t>운영 서버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6032" y="1840625"/>
            <a:ext cx="1282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프로그램 개발</a:t>
            </a:r>
            <a:endParaRPr lang="ko-KR" alt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9067325" y="1840624"/>
            <a:ext cx="616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반영</a:t>
            </a:r>
            <a:endParaRPr lang="ko-KR" altLang="en-US" sz="1200" dirty="0"/>
          </a:p>
        </p:txBody>
      </p:sp>
      <p:sp>
        <p:nvSpPr>
          <p:cNvPr id="27" name="오른쪽 화살표 26"/>
          <p:cNvSpPr/>
          <p:nvPr/>
        </p:nvSpPr>
        <p:spPr>
          <a:xfrm>
            <a:off x="8373888" y="1516179"/>
            <a:ext cx="224442" cy="19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31" name="직사각형 30"/>
          <p:cNvSpPr/>
          <p:nvPr/>
        </p:nvSpPr>
        <p:spPr>
          <a:xfrm>
            <a:off x="5544694" y="1432460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>
                <a:solidFill>
                  <a:schemeClr val="tx1"/>
                </a:solidFill>
              </a:rPr>
              <a:t>테스</a:t>
            </a:r>
            <a:r>
              <a:rPr lang="ko-KR" altLang="en-US" sz="1500" dirty="0" smtClean="0">
                <a:solidFill>
                  <a:schemeClr val="tx1"/>
                </a:solidFill>
              </a:rPr>
              <a:t>트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32" name="오른쪽 화살표 31"/>
          <p:cNvSpPr/>
          <p:nvPr/>
        </p:nvSpPr>
        <p:spPr>
          <a:xfrm>
            <a:off x="6769726" y="1503115"/>
            <a:ext cx="224442" cy="19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33" name="직사각형 32"/>
          <p:cNvSpPr/>
          <p:nvPr/>
        </p:nvSpPr>
        <p:spPr>
          <a:xfrm>
            <a:off x="7125300" y="1432460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>
                <a:solidFill>
                  <a:schemeClr val="tx1"/>
                </a:solidFill>
              </a:rPr>
              <a:t>분배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2508" y="779506"/>
            <a:ext cx="1223951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100" b="1" dirty="0" smtClean="0"/>
              <a:t>기존</a:t>
            </a:r>
            <a:endParaRPr lang="en-US" altLang="ko-KR" sz="31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747450" y="4121603"/>
            <a:ext cx="1695808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100" b="1" dirty="0" smtClean="0"/>
              <a:t>CI / CD</a:t>
            </a:r>
            <a:endParaRPr lang="en-US" altLang="ko-KR" sz="3100" b="1" dirty="0"/>
          </a:p>
        </p:txBody>
      </p:sp>
      <p:sp>
        <p:nvSpPr>
          <p:cNvPr id="49" name="직사각형 48"/>
          <p:cNvSpPr/>
          <p:nvPr/>
        </p:nvSpPr>
        <p:spPr>
          <a:xfrm>
            <a:off x="3975366" y="1441176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>
                <a:solidFill>
                  <a:schemeClr val="tx1"/>
                </a:solidFill>
              </a:rPr>
              <a:t>빌드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50" name="오른쪽 화살표 49"/>
          <p:cNvSpPr/>
          <p:nvPr/>
        </p:nvSpPr>
        <p:spPr>
          <a:xfrm>
            <a:off x="5188923" y="1524896"/>
            <a:ext cx="224442" cy="19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51" name="TextBox 50"/>
          <p:cNvSpPr txBox="1"/>
          <p:nvPr/>
        </p:nvSpPr>
        <p:spPr>
          <a:xfrm>
            <a:off x="2509852" y="1847397"/>
            <a:ext cx="92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버전 관리</a:t>
            </a:r>
            <a:endParaRPr lang="ko-KR" altLang="en-US" sz="1200" dirty="0"/>
          </a:p>
        </p:txBody>
      </p:sp>
      <p:sp>
        <p:nvSpPr>
          <p:cNvPr id="52" name="직사각형 51"/>
          <p:cNvSpPr/>
          <p:nvPr/>
        </p:nvSpPr>
        <p:spPr>
          <a:xfrm>
            <a:off x="842061" y="4824467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>
                <a:solidFill>
                  <a:schemeClr val="tx1"/>
                </a:solidFill>
              </a:rPr>
              <a:t>개발 서버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53" name="오른쪽 화살표 52"/>
          <p:cNvSpPr/>
          <p:nvPr/>
        </p:nvSpPr>
        <p:spPr>
          <a:xfrm>
            <a:off x="2040969" y="4908186"/>
            <a:ext cx="224442" cy="19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54" name="직사각형 53"/>
          <p:cNvSpPr/>
          <p:nvPr/>
        </p:nvSpPr>
        <p:spPr>
          <a:xfrm>
            <a:off x="2422667" y="4824467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>
                <a:solidFill>
                  <a:schemeClr val="tx1"/>
                </a:solidFill>
              </a:rPr>
              <a:t>형상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55" name="오른쪽 화살표 54"/>
          <p:cNvSpPr/>
          <p:nvPr/>
        </p:nvSpPr>
        <p:spPr>
          <a:xfrm>
            <a:off x="3638992" y="4903828"/>
            <a:ext cx="224442" cy="19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56" name="직사각형 55"/>
          <p:cNvSpPr/>
          <p:nvPr/>
        </p:nvSpPr>
        <p:spPr>
          <a:xfrm>
            <a:off x="8775581" y="4820108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>
                <a:solidFill>
                  <a:schemeClr val="tx1"/>
                </a:solidFill>
              </a:rPr>
              <a:t>운영 서버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20383" y="5223915"/>
            <a:ext cx="1282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프로그램 개발</a:t>
            </a:r>
            <a:endParaRPr lang="ko-KR" alt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9071676" y="5223914"/>
            <a:ext cx="616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반영</a:t>
            </a:r>
            <a:endParaRPr lang="ko-KR" altLang="en-US" sz="1200" dirty="0"/>
          </a:p>
        </p:txBody>
      </p:sp>
      <p:sp>
        <p:nvSpPr>
          <p:cNvPr id="59" name="오른쪽 화살표 58"/>
          <p:cNvSpPr/>
          <p:nvPr/>
        </p:nvSpPr>
        <p:spPr>
          <a:xfrm>
            <a:off x="8378239" y="4899469"/>
            <a:ext cx="224442" cy="191193"/>
          </a:xfrm>
          <a:prstGeom prst="righ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b="1">
              <a:solidFill>
                <a:schemeClr val="bg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5522918" y="4815750"/>
            <a:ext cx="1220681" cy="35863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smtClean="0">
                <a:solidFill>
                  <a:schemeClr val="bg1"/>
                </a:solidFill>
              </a:rPr>
              <a:t>테스</a:t>
            </a:r>
            <a:r>
              <a:rPr lang="ko-KR" altLang="en-US" sz="1500" b="1" dirty="0" smtClean="0">
                <a:solidFill>
                  <a:schemeClr val="bg1"/>
                </a:solidFill>
              </a:rPr>
              <a:t>트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자동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)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61" name="오른쪽 화살표 60"/>
          <p:cNvSpPr/>
          <p:nvPr/>
        </p:nvSpPr>
        <p:spPr>
          <a:xfrm>
            <a:off x="6817622" y="4886405"/>
            <a:ext cx="224442" cy="191193"/>
          </a:xfrm>
          <a:prstGeom prst="righ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b="1">
              <a:solidFill>
                <a:schemeClr val="bg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7129651" y="4815750"/>
            <a:ext cx="1108749" cy="35863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smtClean="0">
                <a:solidFill>
                  <a:schemeClr val="bg1"/>
                </a:solidFill>
              </a:rPr>
              <a:t>분배 </a:t>
            </a:r>
            <a:r>
              <a:rPr lang="en-US" altLang="ko-KR" sz="1500" b="1" dirty="0" smtClean="0">
                <a:solidFill>
                  <a:schemeClr val="bg1"/>
                </a:solidFill>
              </a:rPr>
              <a:t>(</a:t>
            </a:r>
            <a:r>
              <a:rPr lang="ko-KR" altLang="en-US" sz="1500" b="1" dirty="0" smtClean="0">
                <a:solidFill>
                  <a:schemeClr val="bg1"/>
                </a:solidFill>
              </a:rPr>
              <a:t>자동</a:t>
            </a:r>
            <a:r>
              <a:rPr lang="en-US" altLang="ko-KR" sz="1500" b="1" dirty="0" smtClean="0">
                <a:solidFill>
                  <a:schemeClr val="bg1"/>
                </a:solidFill>
              </a:rPr>
              <a:t>)</a:t>
            </a:r>
            <a:endParaRPr lang="ko-KR" altLang="en-US" sz="1500" b="1" dirty="0">
              <a:solidFill>
                <a:schemeClr val="bg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3979717" y="4824466"/>
            <a:ext cx="1108749" cy="35863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smtClean="0">
                <a:solidFill>
                  <a:schemeClr val="bg1"/>
                </a:solidFill>
              </a:rPr>
              <a:t>빌드 </a:t>
            </a:r>
            <a:r>
              <a:rPr lang="en-US" altLang="ko-KR" sz="1500" b="1" dirty="0" smtClean="0">
                <a:solidFill>
                  <a:schemeClr val="bg1"/>
                </a:solidFill>
              </a:rPr>
              <a:t>(</a:t>
            </a:r>
            <a:r>
              <a:rPr lang="ko-KR" altLang="en-US" sz="1500" b="1" dirty="0" smtClean="0">
                <a:solidFill>
                  <a:schemeClr val="bg1"/>
                </a:solidFill>
              </a:rPr>
              <a:t>자동</a:t>
            </a:r>
            <a:r>
              <a:rPr lang="en-US" altLang="ko-KR" sz="1500" b="1" dirty="0" smtClean="0">
                <a:solidFill>
                  <a:schemeClr val="bg1"/>
                </a:solidFill>
              </a:rPr>
              <a:t>)</a:t>
            </a:r>
            <a:endParaRPr lang="ko-KR" altLang="en-US" sz="1500" b="1" dirty="0">
              <a:solidFill>
                <a:schemeClr val="bg1"/>
              </a:solidFill>
            </a:endParaRPr>
          </a:p>
        </p:txBody>
      </p:sp>
      <p:sp>
        <p:nvSpPr>
          <p:cNvPr id="64" name="오른쪽 화살표 63"/>
          <p:cNvSpPr/>
          <p:nvPr/>
        </p:nvSpPr>
        <p:spPr>
          <a:xfrm>
            <a:off x="5193274" y="4908186"/>
            <a:ext cx="224442" cy="191193"/>
          </a:xfrm>
          <a:prstGeom prst="righ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b="1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514203" y="5230687"/>
            <a:ext cx="92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버전 관리</a:t>
            </a:r>
            <a:endParaRPr lang="ko-KR" altLang="en-US"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4355613" y="5230687"/>
            <a:ext cx="34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/>
              <a:t>CI</a:t>
            </a:r>
            <a:endParaRPr lang="ko-KR" altLang="en-US" sz="1200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6045880" y="5230687"/>
            <a:ext cx="34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/>
              <a:t>CI</a:t>
            </a:r>
            <a:endParaRPr lang="ko-KR" altLang="en-US" sz="1200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7489442" y="5223913"/>
            <a:ext cx="493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/>
              <a:t>CD</a:t>
            </a:r>
            <a:endParaRPr lang="ko-KR" altLang="en-US" sz="1200" b="1" dirty="0"/>
          </a:p>
        </p:txBody>
      </p:sp>
      <p:sp>
        <p:nvSpPr>
          <p:cNvPr id="69" name="직사각형 68"/>
          <p:cNvSpPr/>
          <p:nvPr/>
        </p:nvSpPr>
        <p:spPr>
          <a:xfrm>
            <a:off x="3917468" y="4676505"/>
            <a:ext cx="4782395" cy="824407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3917467" y="5641162"/>
            <a:ext cx="8143904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700" b="1" dirty="0" smtClean="0"/>
              <a:t>CI : Continous Integration    </a:t>
            </a:r>
            <a:r>
              <a:rPr lang="en-US" altLang="ko-KR" sz="2700" dirty="0" smtClean="0"/>
              <a:t>(</a:t>
            </a:r>
            <a:r>
              <a:rPr lang="ko-KR" altLang="en-US" sz="2700" dirty="0" smtClean="0"/>
              <a:t>빌드</a:t>
            </a:r>
            <a:r>
              <a:rPr lang="en-US" altLang="ko-KR" sz="2700" dirty="0" smtClean="0"/>
              <a:t>, </a:t>
            </a:r>
            <a:r>
              <a:rPr lang="ko-KR" altLang="en-US" sz="2700" dirty="0" smtClean="0"/>
              <a:t>테스트 자동화</a:t>
            </a:r>
            <a:r>
              <a:rPr lang="en-US" altLang="ko-KR" sz="2700" dirty="0" smtClean="0"/>
              <a:t>)</a:t>
            </a:r>
          </a:p>
          <a:p>
            <a:endParaRPr lang="en-US" altLang="ko-KR" sz="700" dirty="0"/>
          </a:p>
          <a:p>
            <a:r>
              <a:rPr lang="en-US" altLang="ko-KR" sz="2700" b="1" dirty="0" smtClean="0"/>
              <a:t>CD: Continuous Deployment </a:t>
            </a:r>
            <a:r>
              <a:rPr lang="en-US" altLang="ko-KR" sz="2700" dirty="0" smtClean="0"/>
              <a:t>(</a:t>
            </a:r>
            <a:r>
              <a:rPr lang="ko-KR" altLang="en-US" sz="2700" dirty="0" smtClean="0"/>
              <a:t>분배 자동화</a:t>
            </a:r>
            <a:r>
              <a:rPr lang="en-US" altLang="ko-KR" sz="2700" dirty="0" smtClean="0"/>
              <a:t>)</a:t>
            </a:r>
            <a:endParaRPr lang="en-US" altLang="ko-KR" sz="2700" dirty="0"/>
          </a:p>
        </p:txBody>
      </p:sp>
      <p:sp>
        <p:nvSpPr>
          <p:cNvPr id="71" name="TextBox 70"/>
          <p:cNvSpPr txBox="1"/>
          <p:nvPr/>
        </p:nvSpPr>
        <p:spPr>
          <a:xfrm>
            <a:off x="1119441" y="2291541"/>
            <a:ext cx="450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.pc</a:t>
            </a:r>
            <a:endParaRPr lang="ko-KR" altLang="en-US" sz="1200" dirty="0"/>
          </a:p>
        </p:txBody>
      </p:sp>
      <p:sp>
        <p:nvSpPr>
          <p:cNvPr id="72" name="TextBox 71"/>
          <p:cNvSpPr txBox="1"/>
          <p:nvPr/>
        </p:nvSpPr>
        <p:spPr>
          <a:xfrm>
            <a:off x="2751555" y="2290804"/>
            <a:ext cx="450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.pc</a:t>
            </a:r>
            <a:endParaRPr lang="ko-KR" altLang="en-US" sz="1200" dirty="0"/>
          </a:p>
        </p:txBody>
      </p:sp>
      <p:sp>
        <p:nvSpPr>
          <p:cNvPr id="73" name="TextBox 72"/>
          <p:cNvSpPr txBox="1"/>
          <p:nvPr/>
        </p:nvSpPr>
        <p:spPr>
          <a:xfrm>
            <a:off x="5761360" y="2315313"/>
            <a:ext cx="1168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실행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바이너리</a:t>
            </a:r>
            <a:endParaRPr lang="ko-KR" altLang="en-US" sz="1200" dirty="0"/>
          </a:p>
        </p:txBody>
      </p:sp>
      <p:sp>
        <p:nvSpPr>
          <p:cNvPr id="74" name="TextBox 73"/>
          <p:cNvSpPr txBox="1"/>
          <p:nvPr/>
        </p:nvSpPr>
        <p:spPr>
          <a:xfrm>
            <a:off x="3881598" y="2315313"/>
            <a:ext cx="1689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.c =&gt; </a:t>
            </a:r>
            <a:r>
              <a:rPr lang="ko-KR" altLang="en-US" sz="1200" dirty="0" smtClean="0"/>
              <a:t>실행 바이너리</a:t>
            </a:r>
            <a:endParaRPr lang="ko-KR" altLang="en-US" sz="1200" dirty="0"/>
          </a:p>
        </p:txBody>
      </p:sp>
      <p:sp>
        <p:nvSpPr>
          <p:cNvPr id="75" name="TextBox 74"/>
          <p:cNvSpPr txBox="1"/>
          <p:nvPr/>
        </p:nvSpPr>
        <p:spPr>
          <a:xfrm>
            <a:off x="7359134" y="2307197"/>
            <a:ext cx="1260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실행 바이너리</a:t>
            </a:r>
            <a:endParaRPr lang="ko-KR" altLang="en-US" sz="1200" dirty="0"/>
          </a:p>
        </p:txBody>
      </p:sp>
      <p:sp>
        <p:nvSpPr>
          <p:cNvPr id="76" name="TextBox 75"/>
          <p:cNvSpPr txBox="1"/>
          <p:nvPr/>
        </p:nvSpPr>
        <p:spPr>
          <a:xfrm>
            <a:off x="1119441" y="2668655"/>
            <a:ext cx="639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.java</a:t>
            </a:r>
            <a:endParaRPr lang="ko-KR" altLang="en-US" sz="12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1554" y="2667918"/>
            <a:ext cx="539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.java</a:t>
            </a:r>
            <a:endParaRPr lang="ko-KR" altLang="en-US" sz="1200" dirty="0"/>
          </a:p>
        </p:txBody>
      </p:sp>
      <p:sp>
        <p:nvSpPr>
          <p:cNvPr id="78" name="TextBox 77"/>
          <p:cNvSpPr txBox="1"/>
          <p:nvPr/>
        </p:nvSpPr>
        <p:spPr>
          <a:xfrm>
            <a:off x="5873582" y="2674851"/>
            <a:ext cx="450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.jar</a:t>
            </a:r>
            <a:endParaRPr lang="ko-KR" altLang="en-US" sz="1200" dirty="0"/>
          </a:p>
        </p:txBody>
      </p:sp>
      <p:sp>
        <p:nvSpPr>
          <p:cNvPr id="79" name="TextBox 78"/>
          <p:cNvSpPr txBox="1"/>
          <p:nvPr/>
        </p:nvSpPr>
        <p:spPr>
          <a:xfrm>
            <a:off x="4356849" y="2667917"/>
            <a:ext cx="832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.class</a:t>
            </a:r>
            <a:endParaRPr lang="ko-KR" altLang="en-US" sz="1200" dirty="0"/>
          </a:p>
        </p:txBody>
      </p:sp>
      <p:sp>
        <p:nvSpPr>
          <p:cNvPr id="80" name="TextBox 79"/>
          <p:cNvSpPr txBox="1"/>
          <p:nvPr/>
        </p:nvSpPr>
        <p:spPr>
          <a:xfrm>
            <a:off x="7510660" y="2667916"/>
            <a:ext cx="450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.jar</a:t>
            </a:r>
            <a:endParaRPr lang="ko-KR" altLang="en-US" sz="1200" dirty="0"/>
          </a:p>
        </p:txBody>
      </p:sp>
      <p:sp>
        <p:nvSpPr>
          <p:cNvPr id="81" name="TextBox 80"/>
          <p:cNvSpPr txBox="1"/>
          <p:nvPr/>
        </p:nvSpPr>
        <p:spPr>
          <a:xfrm>
            <a:off x="8817822" y="2311552"/>
            <a:ext cx="1260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실행 바이너리</a:t>
            </a:r>
            <a:endParaRPr lang="ko-KR" altLang="en-US" sz="1200" dirty="0"/>
          </a:p>
        </p:txBody>
      </p:sp>
      <p:sp>
        <p:nvSpPr>
          <p:cNvPr id="82" name="TextBox 81"/>
          <p:cNvSpPr txBox="1"/>
          <p:nvPr/>
        </p:nvSpPr>
        <p:spPr>
          <a:xfrm>
            <a:off x="8969348" y="2672271"/>
            <a:ext cx="450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.jar</a:t>
            </a:r>
            <a:endParaRPr lang="ko-KR" altLang="en-US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601" y="3577314"/>
            <a:ext cx="501292" cy="443279"/>
          </a:xfrm>
          <a:prstGeom prst="rect">
            <a:avLst/>
          </a:prstGeom>
        </p:spPr>
      </p:pic>
      <p:sp>
        <p:nvSpPr>
          <p:cNvPr id="83" name="모서리가 둥근 사각형 설명선 82"/>
          <p:cNvSpPr/>
          <p:nvPr/>
        </p:nvSpPr>
        <p:spPr>
          <a:xfrm>
            <a:off x="5318131" y="3541860"/>
            <a:ext cx="1611712" cy="850576"/>
          </a:xfrm>
          <a:prstGeom prst="wedgeRoundRectCallout">
            <a:avLst>
              <a:gd name="adj1" fmla="val 14797"/>
              <a:gd name="adj2" fmla="val 97730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394758" y="3697428"/>
            <a:ext cx="1535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/>
              <a:t>도커</a:t>
            </a:r>
            <a:r>
              <a:rPr lang="ko-KR" altLang="en-US" sz="1200" b="1" dirty="0" smtClean="0"/>
              <a:t> 이미지</a:t>
            </a:r>
            <a:endParaRPr lang="en-US" altLang="ko-KR" sz="1200" b="1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실행 바이너리</a:t>
            </a:r>
            <a:r>
              <a:rPr lang="en-US" altLang="ko-KR" sz="1200" dirty="0" smtClean="0"/>
              <a:t>, jar)</a:t>
            </a:r>
            <a:endParaRPr lang="ko-KR" altLang="en-US" sz="1200" dirty="0"/>
          </a:p>
        </p:txBody>
      </p:sp>
      <p:pic>
        <p:nvPicPr>
          <p:cNvPr id="85" name="그림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977" y="3577314"/>
            <a:ext cx="501292" cy="443279"/>
          </a:xfrm>
          <a:prstGeom prst="rect">
            <a:avLst/>
          </a:prstGeom>
        </p:spPr>
      </p:pic>
      <p:sp>
        <p:nvSpPr>
          <p:cNvPr id="86" name="모서리가 둥근 사각형 설명선 85"/>
          <p:cNvSpPr/>
          <p:nvPr/>
        </p:nvSpPr>
        <p:spPr>
          <a:xfrm>
            <a:off x="7068507" y="3541860"/>
            <a:ext cx="1611712" cy="850576"/>
          </a:xfrm>
          <a:prstGeom prst="wedgeRoundRectCallout">
            <a:avLst>
              <a:gd name="adj1" fmla="val 14797"/>
              <a:gd name="adj2" fmla="val 97730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145134" y="3697428"/>
            <a:ext cx="1535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/>
              <a:t>도커</a:t>
            </a:r>
            <a:r>
              <a:rPr lang="ko-KR" altLang="en-US" sz="1200" b="1" dirty="0" smtClean="0"/>
              <a:t> 이미지</a:t>
            </a:r>
            <a:endParaRPr lang="en-US" altLang="ko-KR" sz="1200" b="1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실행 바이너리</a:t>
            </a:r>
            <a:r>
              <a:rPr lang="en-US" altLang="ko-KR" sz="1200" dirty="0" smtClean="0"/>
              <a:t>, jar)</a:t>
            </a:r>
            <a:endParaRPr lang="ko-KR" altLang="en-US" sz="1200" dirty="0"/>
          </a:p>
        </p:txBody>
      </p:sp>
      <p:pic>
        <p:nvPicPr>
          <p:cNvPr id="88" name="그림 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219" y="3581945"/>
            <a:ext cx="501292" cy="443279"/>
          </a:xfrm>
          <a:prstGeom prst="rect">
            <a:avLst/>
          </a:prstGeom>
        </p:spPr>
      </p:pic>
      <p:sp>
        <p:nvSpPr>
          <p:cNvPr id="89" name="모서리가 둥근 사각형 설명선 88"/>
          <p:cNvSpPr/>
          <p:nvPr/>
        </p:nvSpPr>
        <p:spPr>
          <a:xfrm>
            <a:off x="8824749" y="3546491"/>
            <a:ext cx="1611712" cy="850576"/>
          </a:xfrm>
          <a:prstGeom prst="wedgeRoundRectCallout">
            <a:avLst>
              <a:gd name="adj1" fmla="val 748"/>
              <a:gd name="adj2" fmla="val 94659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901376" y="3702059"/>
            <a:ext cx="1535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/>
              <a:t>도커</a:t>
            </a:r>
            <a:r>
              <a:rPr lang="ko-KR" altLang="en-US" sz="1200" b="1" dirty="0" smtClean="0"/>
              <a:t> 이미지</a:t>
            </a:r>
            <a:endParaRPr lang="en-US" altLang="ko-KR" sz="1200" b="1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실행 바이너리</a:t>
            </a:r>
            <a:r>
              <a:rPr lang="en-US" altLang="ko-KR" sz="1200" dirty="0" smtClean="0"/>
              <a:t>, jar)</a:t>
            </a:r>
            <a:endParaRPr lang="ko-KR" altLang="en-US" sz="1200" dirty="0"/>
          </a:p>
        </p:txBody>
      </p:sp>
      <p:sp>
        <p:nvSpPr>
          <p:cNvPr id="92" name="직사각형 91"/>
          <p:cNvSpPr/>
          <p:nvPr/>
        </p:nvSpPr>
        <p:spPr>
          <a:xfrm>
            <a:off x="10706397" y="2490650"/>
            <a:ext cx="1354974" cy="69167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smtClean="0"/>
              <a:t>컨테이너에</a:t>
            </a:r>
            <a:endParaRPr lang="en-US" altLang="ko-KR" sz="1500" b="1" dirty="0"/>
          </a:p>
          <a:p>
            <a:pPr algn="ctr"/>
            <a:endParaRPr lang="en-US" altLang="ko-KR" sz="500" b="1" dirty="0"/>
          </a:p>
          <a:p>
            <a:pPr algn="ctr"/>
            <a:r>
              <a:rPr lang="ko-KR" altLang="en-US" sz="1500" b="1" dirty="0" smtClean="0"/>
              <a:t>할당 가능</a:t>
            </a:r>
            <a:endParaRPr lang="en-US" altLang="ko-KR" sz="1500" b="1" dirty="0" smtClean="0"/>
          </a:p>
        </p:txBody>
      </p:sp>
      <p:cxnSp>
        <p:nvCxnSpPr>
          <p:cNvPr id="93" name="직선 화살표 연결선 92"/>
          <p:cNvCxnSpPr>
            <a:endCxn id="92" idx="1"/>
          </p:cNvCxnSpPr>
          <p:nvPr/>
        </p:nvCxnSpPr>
        <p:spPr>
          <a:xfrm flipV="1">
            <a:off x="9553303" y="2836486"/>
            <a:ext cx="1153094" cy="860944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41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20" y="224444"/>
            <a:ext cx="2086496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err="1" smtClean="0"/>
              <a:t>쿠버네티스</a:t>
            </a:r>
            <a:endParaRPr lang="en-US" altLang="ko-KR" sz="2300" b="1" dirty="0" smtClean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274320" y="1482971"/>
            <a:ext cx="2718262" cy="1026279"/>
          </a:xfrm>
          <a:prstGeom prst="roundRect">
            <a:avLst>
              <a:gd name="adj" fmla="val 4038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74319" y="1153997"/>
            <a:ext cx="15046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smtClean="0"/>
              <a:t>컴퓨팅 </a:t>
            </a:r>
            <a:r>
              <a:rPr lang="ko-KR" altLang="en-US" sz="1500" dirty="0" err="1" smtClean="0"/>
              <a:t>서버군</a:t>
            </a:r>
            <a:endParaRPr lang="ko-KR" altLang="en-US" sz="1500" dirty="0"/>
          </a:p>
        </p:txBody>
      </p:sp>
      <p:sp>
        <p:nvSpPr>
          <p:cNvPr id="5" name="직사각형 4"/>
          <p:cNvSpPr/>
          <p:nvPr/>
        </p:nvSpPr>
        <p:spPr>
          <a:xfrm>
            <a:off x="437133" y="1611864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6" name="직사각형 5"/>
          <p:cNvSpPr/>
          <p:nvPr/>
        </p:nvSpPr>
        <p:spPr>
          <a:xfrm>
            <a:off x="835723" y="1611864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1234313" y="1611864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8" name="직사각형 7"/>
          <p:cNvSpPr/>
          <p:nvPr/>
        </p:nvSpPr>
        <p:spPr>
          <a:xfrm>
            <a:off x="1661213" y="1611864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9" name="직사각형 8"/>
          <p:cNvSpPr/>
          <p:nvPr/>
        </p:nvSpPr>
        <p:spPr>
          <a:xfrm>
            <a:off x="2059803" y="1611863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2470648" y="1611863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445389" y="2741246"/>
            <a:ext cx="161441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스토리지 </a:t>
            </a:r>
            <a:r>
              <a:rPr lang="ko-KR" altLang="en-US" sz="1500" dirty="0" err="1" smtClean="0"/>
              <a:t>서버군</a:t>
            </a:r>
            <a:endParaRPr lang="ko-KR" altLang="en-US" sz="1500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572357" y="3064411"/>
            <a:ext cx="994703" cy="1026279"/>
          </a:xfrm>
          <a:prstGeom prst="roundRect">
            <a:avLst>
              <a:gd name="adj" fmla="val 4038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735170" y="3193304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sp>
        <p:nvSpPr>
          <p:cNvPr id="14" name="직사각형 13"/>
          <p:cNvSpPr/>
          <p:nvPr/>
        </p:nvSpPr>
        <p:spPr>
          <a:xfrm>
            <a:off x="1133760" y="3193304"/>
            <a:ext cx="319325" cy="8119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/>
              <a:t>서버</a:t>
            </a:r>
            <a:endParaRPr lang="en-US" altLang="ko-KR" sz="1100" b="1" dirty="0" smtClean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233" y="2054733"/>
            <a:ext cx="706522" cy="1034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48926" y="1777734"/>
            <a:ext cx="1942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컨테이너</a:t>
            </a:r>
            <a:r>
              <a:rPr lang="en-US" altLang="ko-KR" sz="1200" dirty="0" smtClean="0"/>
              <a:t> 3,000</a:t>
            </a:r>
            <a:r>
              <a:rPr lang="ko-KR" altLang="en-US" sz="1200" dirty="0" smtClean="0"/>
              <a:t>개로 분해</a:t>
            </a:r>
            <a:endParaRPr lang="ko-KR" alt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5535226" y="3155670"/>
            <a:ext cx="1191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컨테이너</a:t>
            </a:r>
            <a:r>
              <a:rPr lang="en-US" altLang="ko-KR" sz="1200" b="1" dirty="0" smtClean="0"/>
              <a:t> 1</a:t>
            </a:r>
            <a:r>
              <a:rPr lang="ko-KR" altLang="en-US" sz="1200" b="1" dirty="0" smtClean="0"/>
              <a:t>개</a:t>
            </a:r>
            <a:endParaRPr lang="ko-KR" altLang="en-US" sz="12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840213" y="3399386"/>
            <a:ext cx="1165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CPU: 0.1</a:t>
            </a:r>
            <a:r>
              <a:rPr lang="ko-KR" altLang="en-US" sz="1000" dirty="0" smtClean="0"/>
              <a:t>코어</a:t>
            </a:r>
            <a:endParaRPr lang="en-US" altLang="ko-KR" sz="1000" dirty="0" smtClean="0"/>
          </a:p>
          <a:p>
            <a:endParaRPr lang="en-US" altLang="ko-KR" sz="300" dirty="0"/>
          </a:p>
          <a:p>
            <a:r>
              <a:rPr lang="ko-KR" altLang="en-US" sz="1000" dirty="0" smtClean="0"/>
              <a:t>램</a:t>
            </a:r>
            <a:r>
              <a:rPr lang="en-US" altLang="ko-KR" sz="1000" dirty="0" smtClean="0"/>
              <a:t>: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256 </a:t>
            </a:r>
            <a:r>
              <a:rPr lang="en-US" altLang="ko-KR" sz="1000" dirty="0"/>
              <a:t>M</a:t>
            </a:r>
            <a:r>
              <a:rPr lang="en-US" altLang="ko-KR" sz="1000" dirty="0" smtClean="0"/>
              <a:t>B</a:t>
            </a:r>
          </a:p>
          <a:p>
            <a:endParaRPr lang="en-US" altLang="ko-KR" sz="300" dirty="0"/>
          </a:p>
          <a:p>
            <a:r>
              <a:rPr lang="ko-KR" altLang="en-US" sz="1000" dirty="0" smtClean="0"/>
              <a:t>디스크</a:t>
            </a:r>
            <a:r>
              <a:rPr lang="en-US" altLang="ko-KR" sz="1000" dirty="0" smtClean="0"/>
              <a:t>: 256 MB</a:t>
            </a:r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1580183" y="1375949"/>
            <a:ext cx="2419595" cy="116940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V="1">
            <a:off x="1944992" y="2616273"/>
            <a:ext cx="2054786" cy="286556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4039136" y="2017824"/>
            <a:ext cx="883198" cy="13815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smtClean="0"/>
              <a:t>초대형</a:t>
            </a:r>
            <a:endParaRPr lang="en-US" altLang="ko-KR" sz="1500" b="1" dirty="0" smtClean="0"/>
          </a:p>
          <a:p>
            <a:pPr algn="ctr"/>
            <a:endParaRPr lang="en-US" altLang="ko-KR" sz="500" b="1" dirty="0"/>
          </a:p>
          <a:p>
            <a:pPr algn="ctr"/>
            <a:r>
              <a:rPr lang="ko-KR" altLang="en-US" sz="1500" b="1" dirty="0" smtClean="0"/>
              <a:t>서버</a:t>
            </a:r>
            <a:endParaRPr lang="en-US" altLang="ko-KR" sz="1500" b="1" dirty="0" smtClean="0"/>
          </a:p>
          <a:p>
            <a:pPr algn="ctr"/>
            <a:endParaRPr lang="en-US" altLang="ko-KR" sz="500" b="1" dirty="0"/>
          </a:p>
          <a:p>
            <a:pPr algn="ctr"/>
            <a:r>
              <a:rPr lang="en-US" altLang="ko-KR" sz="1500" b="1" dirty="0" smtClean="0"/>
              <a:t>(</a:t>
            </a:r>
            <a:r>
              <a:rPr lang="ko-KR" altLang="en-US" sz="1500" b="1" dirty="0" smtClean="0"/>
              <a:t>가상</a:t>
            </a:r>
            <a:r>
              <a:rPr lang="en-US" altLang="ko-KR" sz="1500" b="1" dirty="0" smtClean="0"/>
              <a:t>)</a:t>
            </a:r>
            <a:endParaRPr lang="en-US" altLang="ko-KR" sz="1500" b="1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3102267" y="1939317"/>
            <a:ext cx="784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CPU, </a:t>
            </a:r>
            <a:r>
              <a:rPr lang="ko-KR" altLang="en-US" sz="1200" dirty="0" smtClean="0"/>
              <a:t>램</a:t>
            </a:r>
            <a:endParaRPr lang="ko-KR" altLang="en-US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3148748" y="2811918"/>
            <a:ext cx="784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디스크</a:t>
            </a:r>
            <a:endParaRPr lang="ko-KR" altLang="en-US" sz="1200" dirty="0"/>
          </a:p>
        </p:txBody>
      </p:sp>
      <p:cxnSp>
        <p:nvCxnSpPr>
          <p:cNvPr id="35" name="직선 화살표 연결선 34"/>
          <p:cNvCxnSpPr>
            <a:endCxn id="15" idx="1"/>
          </p:cNvCxnSpPr>
          <p:nvPr/>
        </p:nvCxnSpPr>
        <p:spPr>
          <a:xfrm>
            <a:off x="4922334" y="2571825"/>
            <a:ext cx="793899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6422755" y="2571825"/>
            <a:ext cx="793899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246402" y="2435664"/>
            <a:ext cx="23504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컨테이너</a:t>
            </a:r>
            <a:r>
              <a:rPr lang="en-US" altLang="ko-KR" sz="1200" b="1" dirty="0" smtClean="0"/>
              <a:t> 1</a:t>
            </a:r>
            <a:r>
              <a:rPr lang="ko-KR" altLang="en-US" sz="1200" b="1" dirty="0" smtClean="0"/>
              <a:t>개에 </a:t>
            </a:r>
            <a:r>
              <a:rPr lang="en-US" altLang="ko-KR" sz="1200" b="1" dirty="0" smtClean="0"/>
              <a:t>MSA 1</a:t>
            </a:r>
            <a:r>
              <a:rPr lang="ko-KR" altLang="en-US" sz="1200" b="1" dirty="0" smtClean="0"/>
              <a:t>개 할당</a:t>
            </a:r>
            <a:endParaRPr lang="ko-KR" altLang="en-US" sz="1200" b="1" dirty="0"/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578" y="2818894"/>
            <a:ext cx="1496090" cy="60051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02090" y="5500643"/>
            <a:ext cx="1695808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100" b="1" dirty="0" smtClean="0"/>
              <a:t>CI / CD</a:t>
            </a:r>
            <a:endParaRPr lang="en-US" altLang="ko-KR" sz="3100" b="1" dirty="0"/>
          </a:p>
        </p:txBody>
      </p:sp>
      <p:sp>
        <p:nvSpPr>
          <p:cNvPr id="43" name="직사각형 42"/>
          <p:cNvSpPr/>
          <p:nvPr/>
        </p:nvSpPr>
        <p:spPr>
          <a:xfrm>
            <a:off x="521642" y="6111883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>
                <a:solidFill>
                  <a:schemeClr val="tx1"/>
                </a:solidFill>
              </a:rPr>
              <a:t>개발 서버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44" name="오른쪽 화살표 43"/>
          <p:cNvSpPr/>
          <p:nvPr/>
        </p:nvSpPr>
        <p:spPr>
          <a:xfrm>
            <a:off x="1720550" y="6195602"/>
            <a:ext cx="224442" cy="19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45" name="직사각형 44"/>
          <p:cNvSpPr/>
          <p:nvPr/>
        </p:nvSpPr>
        <p:spPr>
          <a:xfrm>
            <a:off x="2102248" y="6111883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>
                <a:solidFill>
                  <a:schemeClr val="tx1"/>
                </a:solidFill>
              </a:rPr>
              <a:t>형상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46" name="오른쪽 화살표 45"/>
          <p:cNvSpPr/>
          <p:nvPr/>
        </p:nvSpPr>
        <p:spPr>
          <a:xfrm>
            <a:off x="3318573" y="6191244"/>
            <a:ext cx="224442" cy="19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47" name="직사각형 46"/>
          <p:cNvSpPr/>
          <p:nvPr/>
        </p:nvSpPr>
        <p:spPr>
          <a:xfrm>
            <a:off x="8455162" y="6107524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smtClean="0">
                <a:solidFill>
                  <a:schemeClr val="tx1"/>
                </a:solidFill>
              </a:rPr>
              <a:t>운영 서버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99964" y="6511331"/>
            <a:ext cx="1282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프로그램 개발</a:t>
            </a:r>
            <a:endParaRPr lang="ko-KR" altLang="en-US" sz="1200" dirty="0"/>
          </a:p>
        </p:txBody>
      </p:sp>
      <p:sp>
        <p:nvSpPr>
          <p:cNvPr id="49" name="TextBox 48"/>
          <p:cNvSpPr txBox="1"/>
          <p:nvPr/>
        </p:nvSpPr>
        <p:spPr>
          <a:xfrm>
            <a:off x="8751257" y="6511330"/>
            <a:ext cx="616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반영</a:t>
            </a:r>
            <a:endParaRPr lang="ko-KR" altLang="en-US" sz="1200" dirty="0"/>
          </a:p>
        </p:txBody>
      </p:sp>
      <p:sp>
        <p:nvSpPr>
          <p:cNvPr id="50" name="오른쪽 화살표 49"/>
          <p:cNvSpPr/>
          <p:nvPr/>
        </p:nvSpPr>
        <p:spPr>
          <a:xfrm>
            <a:off x="8057820" y="6186885"/>
            <a:ext cx="224442" cy="191193"/>
          </a:xfrm>
          <a:prstGeom prst="righ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b="1">
              <a:solidFill>
                <a:schemeClr val="bg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5202499" y="6103166"/>
            <a:ext cx="1220681" cy="35863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smtClean="0">
                <a:solidFill>
                  <a:schemeClr val="bg1"/>
                </a:solidFill>
              </a:rPr>
              <a:t>테스</a:t>
            </a:r>
            <a:r>
              <a:rPr lang="ko-KR" altLang="en-US" sz="1500" b="1" dirty="0" smtClean="0">
                <a:solidFill>
                  <a:schemeClr val="bg1"/>
                </a:solidFill>
              </a:rPr>
              <a:t>트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자동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)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52" name="오른쪽 화살표 51"/>
          <p:cNvSpPr/>
          <p:nvPr/>
        </p:nvSpPr>
        <p:spPr>
          <a:xfrm>
            <a:off x="6497203" y="6173821"/>
            <a:ext cx="224442" cy="191193"/>
          </a:xfrm>
          <a:prstGeom prst="righ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b="1">
              <a:solidFill>
                <a:schemeClr val="bg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809232" y="6103166"/>
            <a:ext cx="1108749" cy="35863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smtClean="0">
                <a:solidFill>
                  <a:schemeClr val="bg1"/>
                </a:solidFill>
              </a:rPr>
              <a:t>분배 </a:t>
            </a:r>
            <a:r>
              <a:rPr lang="en-US" altLang="ko-KR" sz="1500" b="1" dirty="0" smtClean="0">
                <a:solidFill>
                  <a:schemeClr val="bg1"/>
                </a:solidFill>
              </a:rPr>
              <a:t>(</a:t>
            </a:r>
            <a:r>
              <a:rPr lang="ko-KR" altLang="en-US" sz="1500" b="1" dirty="0" smtClean="0">
                <a:solidFill>
                  <a:schemeClr val="bg1"/>
                </a:solidFill>
              </a:rPr>
              <a:t>자동</a:t>
            </a:r>
            <a:r>
              <a:rPr lang="en-US" altLang="ko-KR" sz="1500" b="1" dirty="0" smtClean="0">
                <a:solidFill>
                  <a:schemeClr val="bg1"/>
                </a:solidFill>
              </a:rPr>
              <a:t>)</a:t>
            </a:r>
            <a:endParaRPr lang="ko-KR" altLang="en-US" sz="1500" b="1" dirty="0">
              <a:solidFill>
                <a:schemeClr val="bg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3659298" y="6111882"/>
            <a:ext cx="1108749" cy="358632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smtClean="0">
                <a:solidFill>
                  <a:schemeClr val="bg1"/>
                </a:solidFill>
              </a:rPr>
              <a:t>빌드 </a:t>
            </a:r>
            <a:r>
              <a:rPr lang="en-US" altLang="ko-KR" sz="1500" b="1" dirty="0" smtClean="0">
                <a:solidFill>
                  <a:schemeClr val="bg1"/>
                </a:solidFill>
              </a:rPr>
              <a:t>(</a:t>
            </a:r>
            <a:r>
              <a:rPr lang="ko-KR" altLang="en-US" sz="1500" b="1" dirty="0" smtClean="0">
                <a:solidFill>
                  <a:schemeClr val="bg1"/>
                </a:solidFill>
              </a:rPr>
              <a:t>자동</a:t>
            </a:r>
            <a:r>
              <a:rPr lang="en-US" altLang="ko-KR" sz="1500" b="1" dirty="0" smtClean="0">
                <a:solidFill>
                  <a:schemeClr val="bg1"/>
                </a:solidFill>
              </a:rPr>
              <a:t>)</a:t>
            </a:r>
            <a:endParaRPr lang="ko-KR" altLang="en-US" sz="1500" b="1" dirty="0">
              <a:solidFill>
                <a:schemeClr val="bg1"/>
              </a:solidFill>
            </a:endParaRPr>
          </a:p>
        </p:txBody>
      </p:sp>
      <p:sp>
        <p:nvSpPr>
          <p:cNvPr id="55" name="오른쪽 화살표 54"/>
          <p:cNvSpPr/>
          <p:nvPr/>
        </p:nvSpPr>
        <p:spPr>
          <a:xfrm>
            <a:off x="4872855" y="6195602"/>
            <a:ext cx="224442" cy="191193"/>
          </a:xfrm>
          <a:prstGeom prst="righ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b="1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193784" y="6518103"/>
            <a:ext cx="92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버전 관리</a:t>
            </a:r>
            <a:endParaRPr lang="ko-KR" alt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4035194" y="6518103"/>
            <a:ext cx="34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/>
              <a:t>CI</a:t>
            </a:r>
            <a:endParaRPr lang="ko-KR" altLang="en-US" sz="1200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5725461" y="6518103"/>
            <a:ext cx="34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/>
              <a:t>CI</a:t>
            </a:r>
            <a:endParaRPr lang="ko-KR" altLang="en-US" sz="1200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7169023" y="6511329"/>
            <a:ext cx="493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/>
              <a:t>CD</a:t>
            </a:r>
            <a:endParaRPr lang="ko-KR" altLang="en-US" sz="1200" b="1" dirty="0"/>
          </a:p>
        </p:txBody>
      </p:sp>
      <p:sp>
        <p:nvSpPr>
          <p:cNvPr id="60" name="직사각형 59"/>
          <p:cNvSpPr/>
          <p:nvPr/>
        </p:nvSpPr>
        <p:spPr>
          <a:xfrm>
            <a:off x="3597049" y="5963921"/>
            <a:ext cx="4782395" cy="824407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182" y="4864730"/>
            <a:ext cx="501292" cy="443279"/>
          </a:xfrm>
          <a:prstGeom prst="rect">
            <a:avLst/>
          </a:prstGeom>
        </p:spPr>
      </p:pic>
      <p:sp>
        <p:nvSpPr>
          <p:cNvPr id="62" name="모서리가 둥근 사각형 설명선 61"/>
          <p:cNvSpPr/>
          <p:nvPr/>
        </p:nvSpPr>
        <p:spPr>
          <a:xfrm>
            <a:off x="4997712" y="4829276"/>
            <a:ext cx="1611712" cy="850576"/>
          </a:xfrm>
          <a:prstGeom prst="wedgeRoundRectCallout">
            <a:avLst>
              <a:gd name="adj1" fmla="val 14797"/>
              <a:gd name="adj2" fmla="val 97730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074339" y="4984844"/>
            <a:ext cx="1535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/>
              <a:t>도커</a:t>
            </a:r>
            <a:r>
              <a:rPr lang="ko-KR" altLang="en-US" sz="1200" b="1" dirty="0" smtClean="0"/>
              <a:t> 이미지</a:t>
            </a:r>
            <a:endParaRPr lang="en-US" altLang="ko-KR" sz="1200" b="1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실행 바이너리</a:t>
            </a:r>
            <a:r>
              <a:rPr lang="en-US" altLang="ko-KR" sz="1200" dirty="0" smtClean="0"/>
              <a:t>, jar)</a:t>
            </a:r>
            <a:endParaRPr lang="ko-KR" altLang="en-US" sz="1200" dirty="0"/>
          </a:p>
        </p:txBody>
      </p:sp>
      <p:pic>
        <p:nvPicPr>
          <p:cNvPr id="64" name="그림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558" y="4864730"/>
            <a:ext cx="501292" cy="443279"/>
          </a:xfrm>
          <a:prstGeom prst="rect">
            <a:avLst/>
          </a:prstGeom>
        </p:spPr>
      </p:pic>
      <p:sp>
        <p:nvSpPr>
          <p:cNvPr id="65" name="모서리가 둥근 사각형 설명선 64"/>
          <p:cNvSpPr/>
          <p:nvPr/>
        </p:nvSpPr>
        <p:spPr>
          <a:xfrm>
            <a:off x="6748088" y="4829276"/>
            <a:ext cx="1611712" cy="850576"/>
          </a:xfrm>
          <a:prstGeom prst="wedgeRoundRectCallout">
            <a:avLst>
              <a:gd name="adj1" fmla="val 14797"/>
              <a:gd name="adj2" fmla="val 97730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824715" y="4984844"/>
            <a:ext cx="1535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/>
              <a:t>도커</a:t>
            </a:r>
            <a:r>
              <a:rPr lang="ko-KR" altLang="en-US" sz="1200" b="1" dirty="0" smtClean="0"/>
              <a:t> 이미지</a:t>
            </a:r>
            <a:endParaRPr lang="en-US" altLang="ko-KR" sz="1200" b="1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실행 바이너리</a:t>
            </a:r>
            <a:r>
              <a:rPr lang="en-US" altLang="ko-KR" sz="1200" dirty="0" smtClean="0"/>
              <a:t>, jar)</a:t>
            </a:r>
            <a:endParaRPr lang="ko-KR" altLang="en-US" sz="1200" dirty="0"/>
          </a:p>
        </p:txBody>
      </p:sp>
      <p:pic>
        <p:nvPicPr>
          <p:cNvPr id="67" name="그림 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0106" y="4864730"/>
            <a:ext cx="468518" cy="443279"/>
          </a:xfrm>
          <a:prstGeom prst="rect">
            <a:avLst/>
          </a:prstGeom>
        </p:spPr>
      </p:pic>
      <p:sp>
        <p:nvSpPr>
          <p:cNvPr id="68" name="모서리가 둥근 사각형 설명선 67"/>
          <p:cNvSpPr/>
          <p:nvPr/>
        </p:nvSpPr>
        <p:spPr>
          <a:xfrm>
            <a:off x="8504330" y="4833907"/>
            <a:ext cx="1611712" cy="850576"/>
          </a:xfrm>
          <a:prstGeom prst="wedgeRoundRectCallout">
            <a:avLst>
              <a:gd name="adj1" fmla="val 748"/>
              <a:gd name="adj2" fmla="val 94659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580957" y="4989475"/>
            <a:ext cx="1535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/>
              <a:t>도커</a:t>
            </a:r>
            <a:r>
              <a:rPr lang="ko-KR" altLang="en-US" sz="1200" b="1" dirty="0" smtClean="0"/>
              <a:t> 이미지</a:t>
            </a:r>
            <a:endParaRPr lang="en-US" altLang="ko-KR" sz="1200" b="1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실행 바이너리</a:t>
            </a:r>
            <a:r>
              <a:rPr lang="en-US" altLang="ko-KR" sz="1200" dirty="0" smtClean="0"/>
              <a:t>, jar)</a:t>
            </a:r>
            <a:endParaRPr lang="ko-KR" altLang="en-US" sz="1200" dirty="0"/>
          </a:p>
        </p:txBody>
      </p:sp>
      <p:cxnSp>
        <p:nvCxnSpPr>
          <p:cNvPr id="70" name="직선 연결선 69"/>
          <p:cNvCxnSpPr/>
          <p:nvPr/>
        </p:nvCxnSpPr>
        <p:spPr>
          <a:xfrm flipH="1">
            <a:off x="0" y="4319930"/>
            <a:ext cx="12192000" cy="38127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그림 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1527" y="1785436"/>
            <a:ext cx="461379" cy="50136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0514243" y="2286802"/>
            <a:ext cx="932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지사직원</a:t>
            </a:r>
            <a:endParaRPr lang="ko-KR" altLang="en-US" sz="12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10514244" y="2574141"/>
            <a:ext cx="1438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민원인 자격 조회</a:t>
            </a:r>
            <a:endParaRPr lang="ko-KR" alt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10539960" y="2839626"/>
            <a:ext cx="15910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1MSA(</a:t>
            </a:r>
            <a:r>
              <a:rPr lang="ko-KR" altLang="en-US" sz="1200" dirty="0" smtClean="0"/>
              <a:t>자격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이</a:t>
            </a:r>
            <a:endParaRPr lang="en-US" altLang="ko-KR" sz="1200" dirty="0" smtClean="0"/>
          </a:p>
          <a:p>
            <a:endParaRPr lang="en-US" altLang="ko-KR" sz="500" dirty="0" smtClean="0"/>
          </a:p>
          <a:p>
            <a:r>
              <a:rPr lang="en-US" altLang="ko-KR" sz="1200" dirty="0" smtClean="0"/>
              <a:t>1</a:t>
            </a:r>
            <a:r>
              <a:rPr lang="ko-KR" altLang="en-US" sz="1200" dirty="0" smtClean="0"/>
              <a:t>컨테이너에 실려서</a:t>
            </a:r>
            <a:endParaRPr lang="en-US" altLang="ko-KR" sz="1200" dirty="0" smtClean="0"/>
          </a:p>
          <a:p>
            <a:endParaRPr lang="en-US" altLang="ko-KR" sz="500" dirty="0"/>
          </a:p>
          <a:p>
            <a:r>
              <a:rPr lang="ko-KR" altLang="en-US" sz="1200" dirty="0" smtClean="0"/>
              <a:t>화면에 출력</a:t>
            </a:r>
            <a:endParaRPr lang="ko-KR" altLang="en-US" sz="1200" dirty="0"/>
          </a:p>
        </p:txBody>
      </p:sp>
      <p:sp>
        <p:nvSpPr>
          <p:cNvPr id="79" name="TextBox 78"/>
          <p:cNvSpPr txBox="1"/>
          <p:nvPr/>
        </p:nvSpPr>
        <p:spPr>
          <a:xfrm>
            <a:off x="2508235" y="340385"/>
            <a:ext cx="3100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전체 지휘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오케스트레이션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cxnSp>
        <p:nvCxnSpPr>
          <p:cNvPr id="80" name="직선 화살표 연결선 79"/>
          <p:cNvCxnSpPr/>
          <p:nvPr/>
        </p:nvCxnSpPr>
        <p:spPr>
          <a:xfrm flipH="1" flipV="1">
            <a:off x="1832771" y="3027802"/>
            <a:ext cx="6968935" cy="2024209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그림 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3" y="43581"/>
            <a:ext cx="3685557" cy="72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78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20" y="224444"/>
            <a:ext cx="3487784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smtClean="0"/>
              <a:t>기존 </a:t>
            </a:r>
            <a:r>
              <a:rPr lang="ko-KR" altLang="en-US" sz="2300" b="1" dirty="0" err="1" smtClean="0"/>
              <a:t>클라우드와</a:t>
            </a:r>
            <a:r>
              <a:rPr lang="ko-KR" altLang="en-US" sz="2300" b="1" dirty="0" smtClean="0"/>
              <a:t> 차이점</a:t>
            </a:r>
            <a:endParaRPr lang="en-US" altLang="ko-KR" sz="2300" b="1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410178" y="1221588"/>
            <a:ext cx="445791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 smtClean="0"/>
              <a:t>VM 3,000 </a:t>
            </a:r>
            <a:r>
              <a:rPr lang="ko-KR" altLang="en-US" sz="2300" dirty="0" smtClean="0"/>
              <a:t>개가 </a:t>
            </a:r>
            <a:r>
              <a:rPr lang="en-US" altLang="ko-KR" sz="2300" dirty="0" smtClean="0"/>
              <a:t>OS 3,000</a:t>
            </a:r>
            <a:r>
              <a:rPr lang="ko-KR" altLang="en-US" sz="2300" dirty="0" smtClean="0"/>
              <a:t>개</a:t>
            </a:r>
            <a:r>
              <a:rPr lang="en-US" altLang="ko-KR" sz="2300" dirty="0" smtClean="0"/>
              <a:t> </a:t>
            </a:r>
            <a:r>
              <a:rPr lang="ko-KR" altLang="en-US" sz="2300" dirty="0" smtClean="0"/>
              <a:t>실행</a:t>
            </a:r>
            <a:endParaRPr lang="ko-KR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2101130" y="1725051"/>
            <a:ext cx="2766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(</a:t>
            </a:r>
            <a:r>
              <a:rPr lang="ko-KR" altLang="en-US" dirty="0" smtClean="0"/>
              <a:t>심각한 </a:t>
            </a:r>
            <a:r>
              <a:rPr lang="ko-KR" altLang="en-US" dirty="0" smtClean="0"/>
              <a:t>램</a:t>
            </a:r>
            <a:r>
              <a:rPr lang="en-US" altLang="ko-KR" dirty="0" smtClean="0"/>
              <a:t>, </a:t>
            </a:r>
            <a:r>
              <a:rPr lang="ko-KR" altLang="en-US" dirty="0" smtClean="0"/>
              <a:t>디스크 낭비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726761" y="1219988"/>
            <a:ext cx="548117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smtClean="0"/>
              <a:t>컨테이너</a:t>
            </a:r>
            <a:r>
              <a:rPr lang="en-US" altLang="ko-KR" sz="2300" dirty="0" smtClean="0"/>
              <a:t> 3,000 </a:t>
            </a:r>
            <a:r>
              <a:rPr lang="ko-KR" altLang="en-US" sz="2300" dirty="0" smtClean="0"/>
              <a:t>개가 </a:t>
            </a:r>
            <a:r>
              <a:rPr lang="en-US" altLang="ko-KR" sz="2300" dirty="0" smtClean="0"/>
              <a:t>OS </a:t>
            </a:r>
            <a:r>
              <a:rPr lang="ko-KR" altLang="en-US" sz="2300" dirty="0" err="1" smtClean="0"/>
              <a:t>미실행</a:t>
            </a:r>
            <a:endParaRPr lang="ko-KR" altLang="en-US" sz="2300" dirty="0"/>
          </a:p>
        </p:txBody>
      </p:sp>
      <p:sp>
        <p:nvSpPr>
          <p:cNvPr id="12" name="TextBox 11"/>
          <p:cNvSpPr txBox="1"/>
          <p:nvPr/>
        </p:nvSpPr>
        <p:spPr>
          <a:xfrm>
            <a:off x="7123612" y="1725051"/>
            <a:ext cx="2960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(</a:t>
            </a:r>
            <a:r>
              <a:rPr lang="ko-KR" altLang="en-US" dirty="0" smtClean="0"/>
              <a:t>램</a:t>
            </a:r>
            <a:r>
              <a:rPr lang="en-US" altLang="ko-KR" dirty="0" smtClean="0"/>
              <a:t>, </a:t>
            </a:r>
            <a:r>
              <a:rPr lang="ko-KR" altLang="en-US" dirty="0" smtClean="0"/>
              <a:t>디스크 낭비 없음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772112" y="2649823"/>
            <a:ext cx="1712422" cy="6200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자원 더 필요</a:t>
            </a:r>
            <a:r>
              <a:rPr lang="en-US" altLang="ko-KR" b="1" dirty="0" smtClean="0">
                <a:solidFill>
                  <a:schemeClr val="tx1"/>
                </a:solidFill>
              </a:rPr>
              <a:t>?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37375" y="2710531"/>
            <a:ext cx="1467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/>
              <a:t>이용 불가</a:t>
            </a:r>
            <a:endParaRPr lang="ko-KR" alt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7612537" y="2569564"/>
            <a:ext cx="1766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CPU, </a:t>
            </a:r>
            <a:r>
              <a:rPr lang="ko-KR" altLang="en-US" sz="1200" dirty="0" smtClean="0"/>
              <a:t>램이 부족하면</a:t>
            </a:r>
            <a:r>
              <a:rPr lang="en-US" altLang="ko-KR" sz="1200" dirty="0" smtClean="0"/>
              <a:t>?</a:t>
            </a:r>
            <a:endParaRPr lang="ko-KR" alt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7612537" y="2853764"/>
            <a:ext cx="248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컨테이너 자동 추가</a:t>
            </a:r>
            <a:endParaRPr lang="en-US" altLang="ko-KR" dirty="0"/>
          </a:p>
        </p:txBody>
      </p:sp>
      <p:sp>
        <p:nvSpPr>
          <p:cNvPr id="21" name="직사각형 20"/>
          <p:cNvSpPr/>
          <p:nvPr/>
        </p:nvSpPr>
        <p:spPr>
          <a:xfrm>
            <a:off x="7806289" y="3215838"/>
            <a:ext cx="671093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 smtClean="0"/>
              <a:t>HPA</a:t>
            </a:r>
            <a:endParaRPr lang="en-US" altLang="ko-KR" sz="1500" b="1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8418903" y="3304599"/>
            <a:ext cx="2014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Horizontal Pod Autoscaler</a:t>
            </a:r>
            <a:endParaRPr lang="ko-KR" altLang="en-US" sz="1200" dirty="0"/>
          </a:p>
        </p:txBody>
      </p:sp>
      <p:sp>
        <p:nvSpPr>
          <p:cNvPr id="23" name="직사각형 22"/>
          <p:cNvSpPr/>
          <p:nvPr/>
        </p:nvSpPr>
        <p:spPr>
          <a:xfrm>
            <a:off x="5823252" y="2684586"/>
            <a:ext cx="1712422" cy="6200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자원 더 필요</a:t>
            </a:r>
            <a:r>
              <a:rPr lang="en-US" altLang="ko-KR" b="1" dirty="0" smtClean="0">
                <a:solidFill>
                  <a:schemeClr val="tx1"/>
                </a:solidFill>
              </a:rPr>
              <a:t>?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86892" y="5575085"/>
            <a:ext cx="1712423" cy="489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부팅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dirty="0" smtClean="0">
                <a:solidFill>
                  <a:schemeClr val="tx1"/>
                </a:solidFill>
              </a:rPr>
              <a:t>분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823252" y="5575085"/>
            <a:ext cx="1712423" cy="489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부팅 </a:t>
            </a:r>
            <a:r>
              <a:rPr lang="en-US" altLang="ko-KR" b="1" dirty="0" smtClean="0">
                <a:solidFill>
                  <a:schemeClr val="tx1"/>
                </a:solidFill>
              </a:rPr>
              <a:t>5</a:t>
            </a:r>
            <a:r>
              <a:rPr lang="ko-KR" altLang="en-US" b="1" dirty="0" smtClean="0">
                <a:solidFill>
                  <a:schemeClr val="tx1"/>
                </a:solidFill>
              </a:rPr>
              <a:t>초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35674" y="5685390"/>
            <a:ext cx="2014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Host OS</a:t>
            </a:r>
            <a:r>
              <a:rPr lang="ko-KR" altLang="en-US" sz="1200" dirty="0" smtClean="0"/>
              <a:t>가 부팅된 상태</a:t>
            </a:r>
            <a:endParaRPr lang="ko-KR" altLang="en-US" sz="1200" dirty="0"/>
          </a:p>
        </p:txBody>
      </p:sp>
      <p:cxnSp>
        <p:nvCxnSpPr>
          <p:cNvPr id="27" name="직선 연결선 26"/>
          <p:cNvCxnSpPr/>
          <p:nvPr/>
        </p:nvCxnSpPr>
        <p:spPr>
          <a:xfrm>
            <a:off x="5251269" y="0"/>
            <a:ext cx="33053" cy="685800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772111" y="6175323"/>
            <a:ext cx="2319432" cy="489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이미지 </a:t>
            </a:r>
            <a:r>
              <a:rPr lang="en-US" altLang="ko-KR" b="1" dirty="0" smtClean="0">
                <a:solidFill>
                  <a:schemeClr val="tx1"/>
                </a:solidFill>
              </a:rPr>
              <a:t>3,000</a:t>
            </a:r>
            <a:r>
              <a:rPr lang="ko-KR" altLang="en-US" b="1" dirty="0" smtClean="0">
                <a:solidFill>
                  <a:schemeClr val="tx1"/>
                </a:solidFill>
              </a:rPr>
              <a:t>개 설치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822403" y="6119899"/>
            <a:ext cx="2173004" cy="489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이미지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dirty="0" smtClean="0">
                <a:solidFill>
                  <a:schemeClr val="tx1"/>
                </a:solidFill>
              </a:rPr>
              <a:t>개 설치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569" y="3699654"/>
            <a:ext cx="227647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3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3030584" y="2255520"/>
            <a:ext cx="4667794" cy="10885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800" b="1" dirty="0" err="1" smtClean="0"/>
              <a:t>경영정보부</a:t>
            </a:r>
            <a:r>
              <a:rPr lang="ko-KR" altLang="en-US" sz="3800" b="1" dirty="0" smtClean="0"/>
              <a:t> 영향</a:t>
            </a:r>
            <a:endParaRPr lang="en-US" altLang="ko-KR" sz="3800" b="1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3510430" y="3929957"/>
            <a:ext cx="361318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smtClean="0"/>
              <a:t>분배</a:t>
            </a:r>
            <a:r>
              <a:rPr lang="en-US" altLang="ko-KR" sz="2300" dirty="0" smtClean="0"/>
              <a:t>: </a:t>
            </a:r>
            <a:r>
              <a:rPr lang="ko-KR" altLang="en-US" sz="2300" dirty="0" err="1" smtClean="0"/>
              <a:t>도커</a:t>
            </a:r>
            <a:r>
              <a:rPr lang="ko-KR" altLang="en-US" sz="2300" dirty="0" smtClean="0"/>
              <a:t> 이미지 단위</a:t>
            </a:r>
            <a:endParaRPr lang="ko-KR" altLang="en-US" sz="2300" dirty="0"/>
          </a:p>
        </p:txBody>
      </p:sp>
      <p:sp>
        <p:nvSpPr>
          <p:cNvPr id="4" name="TextBox 3"/>
          <p:cNvSpPr txBox="1"/>
          <p:nvPr/>
        </p:nvSpPr>
        <p:spPr>
          <a:xfrm>
            <a:off x="3510430" y="4526494"/>
            <a:ext cx="471917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smtClean="0"/>
              <a:t>메타</a:t>
            </a:r>
            <a:r>
              <a:rPr lang="en-US" altLang="ko-KR" sz="2300" dirty="0" smtClean="0"/>
              <a:t>: 1</a:t>
            </a:r>
            <a:r>
              <a:rPr lang="ko-KR" altLang="en-US" sz="2300" dirty="0" smtClean="0"/>
              <a:t>테이블을 </a:t>
            </a:r>
            <a:r>
              <a:rPr lang="en-US" altLang="ko-KR" sz="2300" dirty="0" smtClean="0"/>
              <a:t>1</a:t>
            </a:r>
            <a:r>
              <a:rPr lang="ko-KR" altLang="en-US" sz="2300" dirty="0" smtClean="0"/>
              <a:t>개 </a:t>
            </a:r>
            <a:r>
              <a:rPr lang="en-US" altLang="ko-KR" sz="2300" dirty="0" smtClean="0"/>
              <a:t>MSA</a:t>
            </a:r>
            <a:r>
              <a:rPr lang="ko-KR" altLang="en-US" sz="2300" dirty="0" smtClean="0"/>
              <a:t>에 배정</a:t>
            </a:r>
            <a:endParaRPr lang="ko-KR" altLang="en-US" sz="2300" dirty="0"/>
          </a:p>
        </p:txBody>
      </p:sp>
      <p:sp>
        <p:nvSpPr>
          <p:cNvPr id="5" name="TextBox 4"/>
          <p:cNvSpPr txBox="1"/>
          <p:nvPr/>
        </p:nvSpPr>
        <p:spPr>
          <a:xfrm>
            <a:off x="3510429" y="5123031"/>
            <a:ext cx="61909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smtClean="0"/>
              <a:t>연계</a:t>
            </a:r>
            <a:r>
              <a:rPr lang="en-US" altLang="ko-KR" sz="2300" dirty="0" smtClean="0"/>
              <a:t>: </a:t>
            </a:r>
            <a:r>
              <a:rPr lang="ko-KR" altLang="en-US" sz="2300" dirty="0" err="1" smtClean="0"/>
              <a:t>클라우드</a:t>
            </a:r>
            <a:r>
              <a:rPr lang="ko-KR" altLang="en-US" sz="2300" dirty="0" smtClean="0"/>
              <a:t> 사용 기관</a:t>
            </a:r>
            <a:r>
              <a:rPr lang="en-US" altLang="ko-KR" sz="2300" dirty="0" smtClean="0"/>
              <a:t>, </a:t>
            </a:r>
            <a:r>
              <a:rPr lang="ko-KR" altLang="en-US" sz="2300" dirty="0" smtClean="0"/>
              <a:t>미사용 기관 구분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414680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429" y="4236108"/>
            <a:ext cx="4076006" cy="2458360"/>
          </a:xfrm>
          <a:prstGeom prst="rect">
            <a:avLst/>
          </a:prstGeom>
        </p:spPr>
      </p:pic>
      <p:sp>
        <p:nvSpPr>
          <p:cNvPr id="42" name="직사각형 41"/>
          <p:cNvSpPr/>
          <p:nvPr/>
        </p:nvSpPr>
        <p:spPr>
          <a:xfrm>
            <a:off x="274319" y="224444"/>
            <a:ext cx="3749041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err="1" smtClean="0"/>
              <a:t>클라우드</a:t>
            </a:r>
            <a:r>
              <a:rPr lang="ko-KR" altLang="en-US" sz="2300" b="1" dirty="0" smtClean="0"/>
              <a:t> </a:t>
            </a:r>
            <a:r>
              <a:rPr lang="ko-KR" altLang="en-US" sz="2300" b="1" dirty="0" err="1" smtClean="0"/>
              <a:t>네이티브의</a:t>
            </a:r>
            <a:r>
              <a:rPr lang="ko-KR" altLang="en-US" sz="2300" b="1" dirty="0" smtClean="0"/>
              <a:t> 용도</a:t>
            </a:r>
            <a:endParaRPr lang="en-US" altLang="ko-KR" sz="2300" b="1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7460777" y="379845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36081" y="400041"/>
            <a:ext cx="1265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CPU: 0.1</a:t>
            </a:r>
            <a:r>
              <a:rPr lang="ko-KR" altLang="en-US" sz="1000" dirty="0" smtClean="0"/>
              <a:t>코어</a:t>
            </a:r>
            <a:endParaRPr lang="en-US" altLang="ko-KR" sz="1000" dirty="0" smtClean="0"/>
          </a:p>
          <a:p>
            <a:endParaRPr lang="en-US" altLang="ko-KR" sz="300" dirty="0"/>
          </a:p>
          <a:p>
            <a:r>
              <a:rPr lang="ko-KR" altLang="en-US" sz="1000" dirty="0" smtClean="0"/>
              <a:t>램</a:t>
            </a:r>
            <a:r>
              <a:rPr lang="en-US" altLang="ko-KR" sz="1000" dirty="0" smtClean="0"/>
              <a:t>: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256 </a:t>
            </a:r>
            <a:r>
              <a:rPr lang="en-US" altLang="ko-KR" sz="1000" dirty="0" smtClean="0"/>
              <a:t>M</a:t>
            </a:r>
            <a:r>
              <a:rPr lang="en-US" altLang="ko-KR" sz="1000" dirty="0" smtClean="0"/>
              <a:t>B</a:t>
            </a:r>
          </a:p>
          <a:p>
            <a:endParaRPr lang="en-US" altLang="ko-KR" sz="300" dirty="0"/>
          </a:p>
          <a:p>
            <a:r>
              <a:rPr lang="ko-KR" altLang="en-US" sz="1000" dirty="0" smtClean="0"/>
              <a:t>디스크</a:t>
            </a:r>
            <a:r>
              <a:rPr lang="en-US" altLang="ko-KR" sz="1000" dirty="0" smtClean="0"/>
              <a:t>: 256 MB</a:t>
            </a:r>
            <a:endParaRPr lang="ko-KR" altLang="en-US" sz="1000" dirty="0"/>
          </a:p>
        </p:txBody>
      </p:sp>
      <p:sp>
        <p:nvSpPr>
          <p:cNvPr id="7" name="직사각형 6"/>
          <p:cNvSpPr/>
          <p:nvPr/>
        </p:nvSpPr>
        <p:spPr>
          <a:xfrm>
            <a:off x="7486704" y="1802671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51568" y="1843487"/>
            <a:ext cx="2042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자격조회</a:t>
            </a:r>
            <a:r>
              <a:rPr lang="ko-KR" altLang="en-US" sz="1200" dirty="0" smtClean="0"/>
              <a:t> </a:t>
            </a:r>
            <a:r>
              <a:rPr lang="en-US" altLang="ko-KR" sz="1200" b="1" dirty="0" smtClean="0"/>
              <a:t>MSA</a:t>
            </a:r>
            <a:r>
              <a:rPr lang="en-US" altLang="ko-KR" sz="1200" dirty="0" smtClean="0"/>
              <a:t>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7486704" y="2235995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51568" y="2276811"/>
            <a:ext cx="2434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자격변경</a:t>
            </a:r>
            <a:r>
              <a:rPr lang="ko-KR" altLang="en-US" sz="1200" dirty="0" smtClean="0"/>
              <a:t> </a:t>
            </a:r>
            <a:r>
              <a:rPr lang="en-US" altLang="ko-KR" sz="1200" b="1" dirty="0" smtClean="0"/>
              <a:t>MSA</a:t>
            </a:r>
            <a:r>
              <a:rPr lang="en-US" altLang="ko-KR" sz="1200" dirty="0" smtClean="0"/>
              <a:t>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7486704" y="2692717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51568" y="2733533"/>
            <a:ext cx="2686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부과내역조회 </a:t>
            </a:r>
            <a:r>
              <a:rPr lang="en-US" altLang="ko-KR" sz="1200" b="1" dirty="0" smtClean="0"/>
              <a:t>MSA</a:t>
            </a:r>
            <a:r>
              <a:rPr lang="en-US" altLang="ko-KR" sz="1200" dirty="0" smtClean="0"/>
              <a:t>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274319" y="1019350"/>
            <a:ext cx="6762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u="sng" dirty="0" smtClean="0"/>
              <a:t>컨테이너</a:t>
            </a:r>
            <a:r>
              <a:rPr lang="ko-KR" altLang="en-US" sz="2100" dirty="0" smtClean="0"/>
              <a:t>를 사람이 아닌 </a:t>
            </a:r>
            <a:r>
              <a:rPr lang="ko-KR" altLang="en-US" sz="2800" b="1" u="sng" dirty="0" smtClean="0"/>
              <a:t>애플리케이션</a:t>
            </a:r>
            <a:r>
              <a:rPr lang="ko-KR" altLang="en-US" sz="2100" dirty="0" smtClean="0"/>
              <a:t>에 할당</a:t>
            </a:r>
            <a:endParaRPr lang="ko-KR" altLang="en-US" sz="2100" dirty="0"/>
          </a:p>
        </p:txBody>
      </p:sp>
      <p:sp>
        <p:nvSpPr>
          <p:cNvPr id="2" name="모서리가 둥근 사각형 설명선 1"/>
          <p:cNvSpPr/>
          <p:nvPr/>
        </p:nvSpPr>
        <p:spPr>
          <a:xfrm>
            <a:off x="4484914" y="1802671"/>
            <a:ext cx="2290553" cy="2020390"/>
          </a:xfrm>
          <a:prstGeom prst="wedgeRoundRectCallout">
            <a:avLst>
              <a:gd name="adj1" fmla="val -137603"/>
              <a:gd name="adj2" fmla="val 1967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58887" y="1946010"/>
            <a:ext cx="21165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/>
              <a:t>자격조회</a:t>
            </a:r>
            <a:r>
              <a:rPr lang="ko-KR" altLang="en-US" sz="1200" dirty="0" smtClean="0"/>
              <a:t> </a:t>
            </a:r>
            <a:r>
              <a:rPr lang="ko-KR" altLang="en-US" sz="1000" dirty="0" smtClean="0"/>
              <a:t>애플리케이션</a:t>
            </a:r>
            <a:endParaRPr lang="en-US" altLang="ko-KR" sz="1000" dirty="0" smtClean="0"/>
          </a:p>
          <a:p>
            <a:endParaRPr lang="en-US" altLang="ko-KR" sz="1200" dirty="0"/>
          </a:p>
          <a:p>
            <a:r>
              <a:rPr lang="ko-KR" altLang="en-US" sz="1200" b="1" dirty="0" err="1" smtClean="0"/>
              <a:t>자격변경</a:t>
            </a:r>
            <a:r>
              <a:rPr lang="ko-KR" altLang="en-US" sz="1200" b="1" dirty="0" smtClean="0"/>
              <a:t> </a:t>
            </a:r>
            <a:r>
              <a:rPr lang="ko-KR" altLang="en-US" sz="1000" dirty="0" smtClean="0"/>
              <a:t>애플리케이션</a:t>
            </a:r>
            <a:endParaRPr lang="en-US" altLang="ko-KR" sz="1000" dirty="0" smtClean="0"/>
          </a:p>
          <a:p>
            <a:endParaRPr lang="en-US" altLang="ko-KR" sz="1200" dirty="0"/>
          </a:p>
          <a:p>
            <a:r>
              <a:rPr lang="ko-KR" altLang="en-US" sz="1200" b="1" dirty="0" smtClean="0"/>
              <a:t>부과내역조회</a:t>
            </a:r>
            <a:r>
              <a:rPr lang="ko-KR" altLang="en-US" sz="1200" dirty="0" smtClean="0"/>
              <a:t> </a:t>
            </a:r>
            <a:r>
              <a:rPr lang="ko-KR" altLang="en-US" sz="1000" dirty="0" smtClean="0"/>
              <a:t>애플리케이션</a:t>
            </a:r>
            <a:endParaRPr lang="en-US" altLang="ko-KR" sz="1000" dirty="0" smtClean="0"/>
          </a:p>
          <a:p>
            <a:endParaRPr lang="en-US" altLang="ko-KR" sz="1000" dirty="0" smtClean="0"/>
          </a:p>
          <a:p>
            <a:r>
              <a:rPr lang="ko-KR" altLang="en-US" sz="1200" b="1" dirty="0" smtClean="0"/>
              <a:t>자격 관리 </a:t>
            </a:r>
            <a:r>
              <a:rPr lang="ko-KR" altLang="en-US" sz="1000" dirty="0" smtClean="0"/>
              <a:t>애플리케이션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200" b="1" dirty="0" smtClean="0"/>
              <a:t>로그</a:t>
            </a:r>
            <a:r>
              <a:rPr lang="ko-KR" altLang="en-US" sz="1000" dirty="0" smtClean="0"/>
              <a:t> 애플리케이션</a:t>
            </a:r>
            <a:endParaRPr lang="en-US" altLang="ko-KR" sz="1000" dirty="0"/>
          </a:p>
        </p:txBody>
      </p:sp>
      <p:sp>
        <p:nvSpPr>
          <p:cNvPr id="19" name="직사각형 18"/>
          <p:cNvSpPr/>
          <p:nvPr/>
        </p:nvSpPr>
        <p:spPr>
          <a:xfrm>
            <a:off x="7486704" y="3182059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51568" y="3222875"/>
            <a:ext cx="2434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자격관리 </a:t>
            </a:r>
            <a:r>
              <a:rPr lang="en-US" altLang="ko-KR" sz="1200" b="1" dirty="0" smtClean="0"/>
              <a:t>MSA</a:t>
            </a:r>
            <a:r>
              <a:rPr lang="en-US" altLang="ko-KR" sz="1200" dirty="0" smtClean="0"/>
              <a:t>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21" name="직사각형 20"/>
          <p:cNvSpPr/>
          <p:nvPr/>
        </p:nvSpPr>
        <p:spPr>
          <a:xfrm>
            <a:off x="7486704" y="3638781"/>
            <a:ext cx="1108749" cy="3586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smtClean="0">
                <a:solidFill>
                  <a:schemeClr val="tx1"/>
                </a:solidFill>
              </a:rPr>
              <a:t>컨테이너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51568" y="3679597"/>
            <a:ext cx="16506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로그 </a:t>
            </a:r>
            <a:r>
              <a:rPr lang="en-US" altLang="ko-KR" sz="1200" b="1" dirty="0" smtClean="0"/>
              <a:t>MSA</a:t>
            </a:r>
            <a:r>
              <a:rPr lang="en-US" altLang="ko-KR" sz="1200" dirty="0" smtClean="0"/>
              <a:t> 1</a:t>
            </a:r>
            <a:r>
              <a:rPr lang="ko-KR" altLang="en-US" sz="1200" dirty="0" smtClean="0"/>
              <a:t>개 수행</a:t>
            </a:r>
            <a:endParaRPr lang="ko-KR" altLang="en-US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6856712" y="6040466"/>
            <a:ext cx="494033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MSA : Micro Service Architecture</a:t>
            </a:r>
            <a:endParaRPr lang="en-US" altLang="ko-KR" dirty="0" smtClean="0"/>
          </a:p>
          <a:p>
            <a:endParaRPr lang="en-US" altLang="ko-KR" sz="500" dirty="0" smtClean="0"/>
          </a:p>
          <a:p>
            <a:r>
              <a:rPr lang="en-US" altLang="ko-KR" dirty="0" smtClean="0"/>
              <a:t>         1</a:t>
            </a:r>
            <a:r>
              <a:rPr lang="en-US" altLang="ko-KR" dirty="0"/>
              <a:t> </a:t>
            </a:r>
            <a:r>
              <a:rPr lang="ko-KR" altLang="en-US" dirty="0" smtClean="0"/>
              <a:t>프로그램을 작은 서비스들로 나눈 것</a:t>
            </a:r>
            <a:endParaRPr lang="en-US" altLang="ko-KR" dirty="0" smtClean="0"/>
          </a:p>
        </p:txBody>
      </p:sp>
      <p:sp>
        <p:nvSpPr>
          <p:cNvPr id="25" name="직사각형 24"/>
          <p:cNvSpPr/>
          <p:nvPr/>
        </p:nvSpPr>
        <p:spPr>
          <a:xfrm>
            <a:off x="502429" y="3139401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징수통합시스템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17668" y="3714442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통합급여시스템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17668" y="4311769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장기요양시스템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17667" y="1972789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통합로그인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17667" y="4909096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포털시스템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08958" y="2555568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자격부과시스템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43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19" y="224444"/>
            <a:ext cx="3862251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smtClean="0"/>
              <a:t>메타 </a:t>
            </a:r>
            <a:r>
              <a:rPr lang="en-US" altLang="ko-KR" sz="2300" b="1" dirty="0" smtClean="0"/>
              <a:t>(1</a:t>
            </a:r>
            <a:r>
              <a:rPr lang="ko-KR" altLang="en-US" sz="2300" b="1" dirty="0" smtClean="0"/>
              <a:t>테이블은 </a:t>
            </a:r>
            <a:r>
              <a:rPr lang="en-US" altLang="ko-KR" sz="2300" b="1" dirty="0" smtClean="0"/>
              <a:t>1MSA)</a:t>
            </a:r>
            <a:endParaRPr lang="en-US" altLang="ko-KR" sz="2300" b="1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508958" y="1069519"/>
            <a:ext cx="478883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 smtClean="0"/>
              <a:t>1</a:t>
            </a:r>
            <a:r>
              <a:rPr lang="ko-KR" altLang="en-US" sz="2300" dirty="0" smtClean="0"/>
              <a:t>테이블은 </a:t>
            </a:r>
            <a:r>
              <a:rPr lang="en-US" altLang="ko-KR" sz="2300" dirty="0" smtClean="0"/>
              <a:t>1</a:t>
            </a:r>
            <a:r>
              <a:rPr lang="ko-KR" altLang="en-US" sz="2300" dirty="0" smtClean="0"/>
              <a:t>개 </a:t>
            </a:r>
            <a:r>
              <a:rPr lang="en-US" altLang="ko-KR" sz="2300" dirty="0" smtClean="0"/>
              <a:t>MSA</a:t>
            </a:r>
            <a:r>
              <a:rPr lang="ko-KR" altLang="en-US" sz="2300" dirty="0" smtClean="0"/>
              <a:t>만 사용 가능</a:t>
            </a:r>
            <a:endParaRPr lang="ko-KR" altLang="en-US" sz="2300" dirty="0"/>
          </a:p>
        </p:txBody>
      </p:sp>
      <p:sp>
        <p:nvSpPr>
          <p:cNvPr id="4" name="모서리가 둥근 사각형 설명선 3"/>
          <p:cNvSpPr/>
          <p:nvPr/>
        </p:nvSpPr>
        <p:spPr>
          <a:xfrm>
            <a:off x="3048000" y="1802671"/>
            <a:ext cx="1820091" cy="2020390"/>
          </a:xfrm>
          <a:prstGeom prst="wedgeRoundRectCallout">
            <a:avLst>
              <a:gd name="adj1" fmla="val -80778"/>
              <a:gd name="adj2" fmla="val 455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48297" y="1963091"/>
            <a:ext cx="148045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/>
              <a:t>자격조회</a:t>
            </a:r>
            <a:r>
              <a:rPr lang="ko-KR" altLang="en-US" sz="1200" dirty="0" smtClean="0"/>
              <a:t> </a:t>
            </a:r>
            <a:r>
              <a:rPr lang="en-US" altLang="ko-KR" sz="1000" dirty="0" smtClean="0"/>
              <a:t>MSA</a:t>
            </a:r>
          </a:p>
          <a:p>
            <a:endParaRPr lang="en-US" altLang="ko-KR" sz="1200" dirty="0"/>
          </a:p>
          <a:p>
            <a:r>
              <a:rPr lang="ko-KR" altLang="en-US" sz="1200" b="1" dirty="0" err="1" smtClean="0"/>
              <a:t>자격변경</a:t>
            </a:r>
            <a:r>
              <a:rPr lang="ko-KR" altLang="en-US" sz="1200" b="1" dirty="0" smtClean="0"/>
              <a:t> </a:t>
            </a:r>
            <a:r>
              <a:rPr lang="en-US" altLang="ko-KR" sz="1000" dirty="0" smtClean="0"/>
              <a:t>MSA</a:t>
            </a:r>
          </a:p>
          <a:p>
            <a:endParaRPr lang="en-US" altLang="ko-KR" sz="1200" dirty="0"/>
          </a:p>
          <a:p>
            <a:r>
              <a:rPr lang="ko-KR" altLang="en-US" sz="1200" b="1" dirty="0" smtClean="0"/>
              <a:t>부과내역조회</a:t>
            </a:r>
            <a:r>
              <a:rPr lang="ko-KR" altLang="en-US" sz="1200" dirty="0" smtClean="0"/>
              <a:t> </a:t>
            </a:r>
            <a:r>
              <a:rPr lang="en-US" altLang="ko-KR" sz="1000" dirty="0" smtClean="0"/>
              <a:t>MSA</a:t>
            </a:r>
          </a:p>
          <a:p>
            <a:endParaRPr lang="en-US" altLang="ko-KR" sz="1000" dirty="0" smtClean="0"/>
          </a:p>
          <a:p>
            <a:r>
              <a:rPr lang="ko-KR" altLang="en-US" sz="1200" b="1" dirty="0" smtClean="0"/>
              <a:t>자격관리 </a:t>
            </a:r>
            <a:r>
              <a:rPr lang="en-US" altLang="ko-KR" sz="1000" dirty="0" smtClean="0"/>
              <a:t>MSA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200" b="1" dirty="0" smtClean="0"/>
              <a:t>로그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MSA</a:t>
            </a:r>
            <a:endParaRPr lang="en-US" altLang="ko-KR" sz="1000" dirty="0"/>
          </a:p>
        </p:txBody>
      </p:sp>
      <p:sp>
        <p:nvSpPr>
          <p:cNvPr id="11" name="직사각형 10"/>
          <p:cNvSpPr/>
          <p:nvPr/>
        </p:nvSpPr>
        <p:spPr>
          <a:xfrm>
            <a:off x="508958" y="2555568"/>
            <a:ext cx="1909845" cy="50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자격부과시스템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200" y="1145260"/>
            <a:ext cx="3174964" cy="2820615"/>
          </a:xfrm>
          <a:prstGeom prst="rect">
            <a:avLst/>
          </a:prstGeom>
        </p:spPr>
      </p:pic>
      <p:sp>
        <p:nvSpPr>
          <p:cNvPr id="13" name="모서리가 둥근 사각형 설명선 12"/>
          <p:cNvSpPr/>
          <p:nvPr/>
        </p:nvSpPr>
        <p:spPr>
          <a:xfrm>
            <a:off x="9197751" y="2908661"/>
            <a:ext cx="2769328" cy="814251"/>
          </a:xfrm>
          <a:prstGeom prst="wedgeRoundRectCallout">
            <a:avLst>
              <a:gd name="adj1" fmla="val -80778"/>
              <a:gd name="adj2" fmla="val 455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37691" y="2954148"/>
            <a:ext cx="2689448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이 테이블을 </a:t>
            </a:r>
            <a:r>
              <a:rPr lang="en-US" altLang="ko-KR" b="1" dirty="0" smtClean="0"/>
              <a:t>1</a:t>
            </a:r>
            <a:r>
              <a:rPr lang="ko-KR" altLang="en-US" b="1" dirty="0" smtClean="0"/>
              <a:t>개 </a:t>
            </a:r>
            <a:r>
              <a:rPr lang="en-US" altLang="ko-KR" b="1" dirty="0" smtClean="0"/>
              <a:t>MSA</a:t>
            </a:r>
            <a:r>
              <a:rPr lang="ko-KR" altLang="en-US" b="1" dirty="0" smtClean="0"/>
              <a:t>만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endParaRPr lang="en-US" altLang="ko-KR" sz="500" b="1" dirty="0" smtClean="0"/>
          </a:p>
          <a:p>
            <a:r>
              <a:rPr lang="ko-KR" altLang="en-US" b="1" dirty="0" smtClean="0"/>
              <a:t>독점해서 쓰라고</a:t>
            </a:r>
            <a:r>
              <a:rPr lang="en-US" altLang="ko-KR" b="1" dirty="0" smtClean="0"/>
              <a:t>?</a:t>
            </a:r>
            <a:endParaRPr lang="en-US" altLang="ko-KR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7751" y="4032071"/>
            <a:ext cx="2769328" cy="276932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825" y="4032071"/>
            <a:ext cx="2756643" cy="2769328"/>
          </a:xfrm>
          <a:prstGeom prst="rect">
            <a:avLst/>
          </a:prstGeom>
        </p:spPr>
      </p:pic>
      <p:cxnSp>
        <p:nvCxnSpPr>
          <p:cNvPr id="17" name="직선 화살표 연결선 16"/>
          <p:cNvCxnSpPr/>
          <p:nvPr/>
        </p:nvCxnSpPr>
        <p:spPr>
          <a:xfrm flipV="1">
            <a:off x="7550331" y="792480"/>
            <a:ext cx="1647420" cy="1088572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8780315" y="323348"/>
            <a:ext cx="2523410" cy="4294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100" b="1" dirty="0" smtClean="0"/>
              <a:t>1</a:t>
            </a:r>
            <a:r>
              <a:rPr lang="ko-KR" altLang="en-US" sz="2100" b="1" dirty="0" smtClean="0"/>
              <a:t>개 </a:t>
            </a:r>
            <a:r>
              <a:rPr lang="en-US" altLang="ko-KR" sz="2100" b="1" dirty="0" smtClean="0"/>
              <a:t>MSA</a:t>
            </a:r>
            <a:r>
              <a:rPr lang="ko-KR" altLang="en-US" sz="2100" b="1" dirty="0" smtClean="0"/>
              <a:t>의 쿼리</a:t>
            </a:r>
            <a:endParaRPr lang="en-US" altLang="ko-KR" sz="2100" b="1" dirty="0" smtClean="0"/>
          </a:p>
        </p:txBody>
      </p:sp>
    </p:spTree>
    <p:extLst>
      <p:ext uri="{BB962C8B-B14F-4D97-AF65-F5344CB8AC3E}">
        <p14:creationId xmlns:p14="http://schemas.microsoft.com/office/powerpoint/2010/main" val="2867550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20" y="224444"/>
            <a:ext cx="2086496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smtClean="0"/>
              <a:t>연계</a:t>
            </a:r>
            <a:endParaRPr lang="en-US" altLang="ko-KR" sz="23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995" y="224444"/>
            <a:ext cx="6638594" cy="59039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1500266"/>
            <a:ext cx="317427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 smtClean="0"/>
              <a:t>클라우드</a:t>
            </a:r>
            <a:r>
              <a:rPr lang="ko-KR" altLang="en-US" sz="2300" dirty="0" smtClean="0"/>
              <a:t> 내에서 연계</a:t>
            </a:r>
            <a:endParaRPr lang="ko-KR" altLang="en-US" sz="2300" dirty="0"/>
          </a:p>
        </p:txBody>
      </p:sp>
      <p:sp>
        <p:nvSpPr>
          <p:cNvPr id="6" name="TextBox 5"/>
          <p:cNvSpPr txBox="1"/>
          <p:nvPr/>
        </p:nvSpPr>
        <p:spPr>
          <a:xfrm>
            <a:off x="2873829" y="4047850"/>
            <a:ext cx="209753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smtClean="0"/>
              <a:t>대구 </a:t>
            </a:r>
            <a:r>
              <a:rPr lang="ko-KR" altLang="en-US" sz="2300" dirty="0" err="1" smtClean="0"/>
              <a:t>클라우드</a:t>
            </a:r>
            <a:endParaRPr lang="ko-KR" altLang="en-US" sz="2300" dirty="0"/>
          </a:p>
        </p:txBody>
      </p:sp>
      <p:pic>
        <p:nvPicPr>
          <p:cNvPr id="7" name="Picture 2" descr="AWS 클라우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495" y="4542564"/>
            <a:ext cx="1408832" cy="1174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495" y="3355125"/>
            <a:ext cx="1572714" cy="54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34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20" y="224444"/>
            <a:ext cx="2086496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smtClean="0"/>
              <a:t>연계</a:t>
            </a:r>
            <a:endParaRPr lang="en-US" altLang="ko-KR" sz="23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650" y="335688"/>
            <a:ext cx="6991350" cy="623887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31" y="2815193"/>
            <a:ext cx="1572714" cy="5464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3525336"/>
            <a:ext cx="209753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smtClean="0"/>
              <a:t>대구 </a:t>
            </a:r>
            <a:r>
              <a:rPr lang="ko-KR" altLang="en-US" sz="2300" dirty="0" err="1" smtClean="0"/>
              <a:t>클라우드</a:t>
            </a:r>
            <a:endParaRPr lang="ko-KR" altLang="en-US" sz="2300" dirty="0"/>
          </a:p>
        </p:txBody>
      </p:sp>
      <p:sp>
        <p:nvSpPr>
          <p:cNvPr id="7" name="TextBox 6"/>
          <p:cNvSpPr txBox="1"/>
          <p:nvPr/>
        </p:nvSpPr>
        <p:spPr>
          <a:xfrm>
            <a:off x="3207619" y="3525336"/>
            <a:ext cx="209753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smtClean="0"/>
              <a:t>세종 </a:t>
            </a:r>
            <a:r>
              <a:rPr lang="ko-KR" altLang="en-US" sz="2300" dirty="0" err="1" smtClean="0"/>
              <a:t>클라우드</a:t>
            </a:r>
            <a:endParaRPr lang="ko-KR" altLang="en-US" sz="2300" dirty="0"/>
          </a:p>
        </p:txBody>
      </p:sp>
      <p:pic>
        <p:nvPicPr>
          <p:cNvPr id="1026" name="Picture 2" descr="AWS 클라우드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6" y="4020050"/>
            <a:ext cx="1408832" cy="1174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5989" y="4020050"/>
            <a:ext cx="1876291" cy="963261"/>
          </a:xfrm>
          <a:prstGeom prst="rect">
            <a:avLst/>
          </a:prstGeom>
        </p:spPr>
      </p:pic>
      <p:cxnSp>
        <p:nvCxnSpPr>
          <p:cNvPr id="11" name="직선 연결선 10"/>
          <p:cNvCxnSpPr/>
          <p:nvPr/>
        </p:nvCxnSpPr>
        <p:spPr>
          <a:xfrm flipV="1">
            <a:off x="1741714" y="2943497"/>
            <a:ext cx="3400566" cy="1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62755" y="2653610"/>
            <a:ext cx="8064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연계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43821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20" y="224444"/>
            <a:ext cx="2086496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smtClean="0"/>
              <a:t>연계</a:t>
            </a:r>
            <a:endParaRPr lang="en-US" altLang="ko-KR" sz="2300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1" y="2815193"/>
            <a:ext cx="1572714" cy="5464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3525336"/>
            <a:ext cx="209753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smtClean="0"/>
              <a:t>대구 </a:t>
            </a:r>
            <a:r>
              <a:rPr lang="ko-KR" altLang="en-US" sz="2300" dirty="0" err="1" smtClean="0"/>
              <a:t>클라우드</a:t>
            </a:r>
            <a:endParaRPr lang="ko-KR" altLang="en-US" sz="2300" dirty="0"/>
          </a:p>
        </p:txBody>
      </p:sp>
      <p:pic>
        <p:nvPicPr>
          <p:cNvPr id="1026" name="Picture 2" descr="AWS 클라우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6" y="4020050"/>
            <a:ext cx="1408832" cy="1174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직선 연결선 10"/>
          <p:cNvCxnSpPr/>
          <p:nvPr/>
        </p:nvCxnSpPr>
        <p:spPr>
          <a:xfrm>
            <a:off x="1741714" y="2943499"/>
            <a:ext cx="4929052" cy="33276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12584" y="2653610"/>
            <a:ext cx="8064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연계</a:t>
            </a:r>
            <a:endParaRPr lang="ko-KR" altLang="en-US" sz="1500" dirty="0"/>
          </a:p>
        </p:txBody>
      </p:sp>
      <p:sp>
        <p:nvSpPr>
          <p:cNvPr id="12" name="직사각형 11"/>
          <p:cNvSpPr/>
          <p:nvPr/>
        </p:nvSpPr>
        <p:spPr>
          <a:xfrm>
            <a:off x="6670765" y="2727393"/>
            <a:ext cx="2934789" cy="4987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 b="1" err="1" smtClean="0"/>
              <a:t>클라우드</a:t>
            </a:r>
            <a:r>
              <a:rPr lang="ko-KR" altLang="en-US" sz="2100" b="1" dirty="0" smtClean="0"/>
              <a:t> </a:t>
            </a:r>
            <a:r>
              <a:rPr lang="ko-KR" altLang="en-US" sz="2100" b="1" dirty="0" err="1" smtClean="0"/>
              <a:t>미도입</a:t>
            </a:r>
            <a:r>
              <a:rPr lang="ko-KR" altLang="en-US" sz="2100" b="1" dirty="0" smtClean="0"/>
              <a:t> 기관</a:t>
            </a:r>
            <a:endParaRPr lang="en-US" altLang="ko-KR" sz="2100" b="1" dirty="0" smtClean="0"/>
          </a:p>
        </p:txBody>
      </p:sp>
    </p:spTree>
    <p:extLst>
      <p:ext uri="{BB962C8B-B14F-4D97-AF65-F5344CB8AC3E}">
        <p14:creationId xmlns:p14="http://schemas.microsoft.com/office/powerpoint/2010/main" val="145421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>
          <a:xfrm>
            <a:off x="274320" y="224444"/>
            <a:ext cx="2086496" cy="4987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300" b="1" dirty="0" smtClean="0"/>
              <a:t>데이터 센터</a:t>
            </a:r>
            <a:endParaRPr lang="en-US" altLang="ko-KR" sz="23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213" y="0"/>
            <a:ext cx="7414055" cy="6858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886690"/>
            <a:ext cx="4771213" cy="297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93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1601</TotalTime>
  <Words>1106</Words>
  <Application>Microsoft Office PowerPoint</Application>
  <PresentationFormat>와이드스크린</PresentationFormat>
  <Paragraphs>475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82</cp:revision>
  <dcterms:created xsi:type="dcterms:W3CDTF">2026-05-27T12:37:02Z</dcterms:created>
  <dcterms:modified xsi:type="dcterms:W3CDTF">2026-08-02T15:03:56Z</dcterms:modified>
</cp:coreProperties>
</file>